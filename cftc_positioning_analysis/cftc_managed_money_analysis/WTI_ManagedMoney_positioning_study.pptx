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yush Jhawar" userId="63043c1f-65cf-4dc0-add7-e2f496264507" providerId="ADAL" clId="{AFD85A7A-4199-4CC0-BD34-457A87DFFE3B}"/>
    <pc:docChg chg="modSld">
      <pc:chgData name="Aayush Jhawar" userId="63043c1f-65cf-4dc0-add7-e2f496264507" providerId="ADAL" clId="{AFD85A7A-4199-4CC0-BD34-457A87DFFE3B}" dt="2026-06-30T01:51:51.529" v="0" actId="20577"/>
      <pc:docMkLst>
        <pc:docMk/>
      </pc:docMkLst>
      <pc:sldChg chg="modSp mod">
        <pc:chgData name="Aayush Jhawar" userId="63043c1f-65cf-4dc0-add7-e2f496264507" providerId="ADAL" clId="{AFD85A7A-4199-4CC0-BD34-457A87DFFE3B}" dt="2026-06-30T01:51:51.529" v="0" actId="20577"/>
        <pc:sldMkLst>
          <pc:docMk/>
          <pc:sldMk cId="0" sldId="256"/>
        </pc:sldMkLst>
        <pc:spChg chg="mod">
          <ac:chgData name="Aayush Jhawar" userId="63043c1f-65cf-4dc0-add7-e2f496264507" providerId="ADAL" clId="{AFD85A7A-4199-4CC0-BD34-457A87DFFE3B}" dt="2026-06-30T01:51:51.529" v="0" actId="20577"/>
          <ac:spMkLst>
            <pc:docMk/>
            <pc:sldMk cId="0" sldId="256"/>
            <ac:spMk id="1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4400">
          <a:solidFill>
            <a:schemeClr val="tx1"/>
          </a:solidFill>
          <a:latin typeface="+mj-lt"/>
        </a:defRPr>
      </a:lvl1pPr>
    </p:titleStyle>
    <p:bodyStyle>
      <a:lvl1pPr>
        <a:defRPr sz="1800">
          <a:solidFill>
            <a:schemeClr val="tx1"/>
          </a:solidFill>
          <a:latin typeface="+mn-lt"/>
        </a:defRPr>
      </a:lvl1pPr>
    </p:bodyStyle>
    <p:otherStyle>
      <a:lvl1pPr>
        <a:defRPr sz="1800">
          <a:solidFill>
            <a:schemeClr val="tx1"/>
          </a:solidFill>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x"/>
          <p:cNvSpPr txBox="1"/>
          <p:nvPr/>
        </p:nvSpPr>
        <p:spPr>
          <a:xfrm>
            <a:off x="0" y="0"/>
            <a:ext cx="12192000" cy="1417320"/>
          </a:xfrm>
          <a:prstGeom prst="rect">
            <a:avLst/>
          </a:prstGeom>
          <a:solidFill>
            <a:srgbClr val="1F3B57"/>
          </a:solidFill>
        </p:spPr>
        <p:txBody>
          <a:bodyPr wrap="square" lIns="91440" tIns="45720" rIns="91440" bIns="45720" anchor="ctr">
            <a:normAutofit/>
          </a:bodyPr>
          <a:lstStyle/>
          <a:p>
            <a:pPr algn="l">
              <a:spcAft>
                <a:spcPts val="500"/>
              </a:spcAft>
              <a:buNone/>
            </a:pPr>
            <a:r>
              <a:rPr lang="en-US" sz="2300" b="1" dirty="0">
                <a:solidFill>
                  <a:srgbClr val="FFFFFF"/>
                </a:solidFill>
                <a:latin typeface="Calibri"/>
              </a:rPr>
              <a:t>Does Managed Money positioning predict WTI returns?</a:t>
            </a:r>
          </a:p>
        </p:txBody>
      </p:sp>
      <p:sp>
        <p:nvSpPr>
          <p:cNvPr id="12" name="tx"/>
          <p:cNvSpPr txBox="1"/>
          <p:nvPr/>
        </p:nvSpPr>
        <p:spPr>
          <a:xfrm>
            <a:off x="548640" y="1645920"/>
            <a:ext cx="11064240" cy="960120"/>
          </a:xfrm>
          <a:prstGeom prst="rect">
            <a:avLst/>
          </a:prstGeom>
          <a:noFill/>
        </p:spPr>
        <p:txBody>
          <a:bodyPr wrap="square" lIns="91440" tIns="45720" rIns="91440" bIns="45720" anchor="t">
            <a:normAutofit/>
          </a:bodyPr>
          <a:lstStyle/>
          <a:p>
            <a:pPr algn="l">
              <a:spcAft>
                <a:spcPts val="500"/>
              </a:spcAft>
              <a:buNone/>
            </a:pPr>
            <a:r>
              <a:rPr lang="en-US" sz="1950" b="1" dirty="0">
                <a:solidFill>
                  <a:srgbClr val="1A1A1A"/>
                </a:solidFill>
                <a:latin typeface="Calibri"/>
              </a:rPr>
              <a:t>The </a:t>
            </a:r>
            <a:r>
              <a:rPr lang="en-US" sz="1950" b="1">
                <a:solidFill>
                  <a:srgbClr val="1A1A1A"/>
                </a:solidFill>
                <a:latin typeface="Calibri"/>
              </a:rPr>
              <a:t>level does </a:t>
            </a:r>
            <a:r>
              <a:rPr lang="en-US" sz="1950" b="1" dirty="0">
                <a:solidFill>
                  <a:srgbClr val="1A1A1A"/>
                </a:solidFill>
                <a:latin typeface="Calibri"/>
              </a:rPr>
              <a:t>not time direction. But crowded longs and fast unwinds both precede WTI </a:t>
            </a:r>
            <a:r>
              <a:rPr lang="en-US" sz="1950" b="1" dirty="0">
                <a:solidFill>
                  <a:srgbClr val="C0392B"/>
                </a:solidFill>
                <a:latin typeface="Calibri"/>
              </a:rPr>
              <a:t>weakness</a:t>
            </a:r>
            <a:r>
              <a:rPr lang="en-US" sz="1950" b="1" dirty="0">
                <a:solidFill>
                  <a:srgbClr val="1A1A1A"/>
                </a:solidFill>
                <a:latin typeface="Calibri"/>
              </a:rPr>
              <a:t>.</a:t>
            </a:r>
          </a:p>
        </p:txBody>
      </p:sp>
      <p:sp>
        <p:nvSpPr>
          <p:cNvPr id="13" name="tx"/>
          <p:cNvSpPr txBox="1"/>
          <p:nvPr/>
        </p:nvSpPr>
        <p:spPr>
          <a:xfrm>
            <a:off x="548640" y="2697480"/>
            <a:ext cx="11064240" cy="3383280"/>
          </a:xfrm>
          <a:prstGeom prst="rect">
            <a:avLst/>
          </a:prstGeom>
          <a:noFill/>
        </p:spPr>
        <p:txBody>
          <a:bodyPr wrap="square" lIns="91440" tIns="45720" rIns="91440" bIns="45720" anchor="t">
            <a:normAutofit/>
          </a:bodyPr>
          <a:lstStyle/>
          <a:p>
            <a:pPr marL="274320" indent="-228600" algn="l">
              <a:spcAft>
                <a:spcPts val="500"/>
              </a:spcAft>
              <a:buFont typeface="Arial"/>
              <a:buChar char="•"/>
            </a:pPr>
            <a:r>
              <a:rPr lang="en-US" sz="1450" b="0" dirty="0">
                <a:solidFill>
                  <a:srgbClr val="1A1A1A"/>
                </a:solidFill>
                <a:latin typeface="Calibri"/>
              </a:rPr>
              <a:t>Knowing Managed Money is heavily long or short does not tell you next week’s direction (correlation with the next week is 0.00).</a:t>
            </a:r>
          </a:p>
          <a:p>
            <a:pPr marL="274320" indent="-228600" algn="l">
              <a:spcAft>
                <a:spcPts val="500"/>
              </a:spcAft>
              <a:buFont typeface="Arial"/>
              <a:buChar char="•"/>
            </a:pPr>
            <a:r>
              <a:rPr lang="en-US" sz="1450" b="0" dirty="0">
                <a:solidFill>
                  <a:srgbClr val="1A1A1A"/>
                </a:solidFill>
                <a:latin typeface="Calibri"/>
              </a:rPr>
              <a:t>When Managed Money sits at an extreme long, WTI falls about 3.6% over the next 4 weeks, with every one of the 6 such weeks down (p below 0.001). The classic fade-the-crowd works here, but it rests on only 2 episodes in this window.</a:t>
            </a:r>
          </a:p>
          <a:p>
            <a:pPr marL="274320" indent="-228600" algn="l">
              <a:spcAft>
                <a:spcPts val="500"/>
              </a:spcAft>
              <a:buFont typeface="Arial"/>
              <a:buChar char="•"/>
            </a:pPr>
            <a:r>
              <a:rPr lang="en-US" sz="1450" b="0" dirty="0">
                <a:solidFill>
                  <a:srgbClr val="1A1A1A"/>
                </a:solidFill>
                <a:latin typeface="Calibri"/>
              </a:rPr>
              <a:t>When Managed Money unwinds fastest, WTI keeps falling (about -2.3% over 4 weeks). This is momentum, the opposite of Other Reportables, where the same test gave a rebound.</a:t>
            </a:r>
          </a:p>
          <a:p>
            <a:pPr marL="274320" indent="-228600" algn="l">
              <a:spcAft>
                <a:spcPts val="500"/>
              </a:spcAft>
              <a:buFont typeface="Arial"/>
              <a:buChar char="•"/>
            </a:pPr>
            <a:r>
              <a:rPr lang="en-US" sz="1450" b="1" dirty="0">
                <a:solidFill>
                  <a:srgbClr val="C0392B"/>
                </a:solidFill>
                <a:latin typeface="Calibri"/>
              </a:rPr>
              <a:t>This uses the real CFTC Managed Money series, pulled from the official archive, not the supplied file (which is Other Reportables).</a:t>
            </a:r>
          </a:p>
        </p:txBody>
      </p:sp>
      <p:sp>
        <p:nvSpPr>
          <p:cNvPr id="14" name="tx"/>
          <p:cNvSpPr txBox="1"/>
          <p:nvPr/>
        </p:nvSpPr>
        <p:spPr>
          <a:xfrm>
            <a:off x="548640" y="6172200"/>
            <a:ext cx="11064240" cy="457200"/>
          </a:xfrm>
          <a:prstGeom prst="rect">
            <a:avLst/>
          </a:prstGeom>
          <a:noFill/>
        </p:spPr>
        <p:txBody>
          <a:bodyPr wrap="square" lIns="91440" tIns="45720" rIns="91440" bIns="45720" anchor="t">
            <a:normAutofit/>
          </a:bodyPr>
          <a:lstStyle/>
          <a:p>
            <a:pPr algn="l">
              <a:spcAft>
                <a:spcPts val="500"/>
              </a:spcAft>
              <a:buNone/>
            </a:pPr>
            <a:r>
              <a:rPr lang="en-US" sz="1050" b="0" dirty="0">
                <a:solidFill>
                  <a:srgbClr val="5D6D7E"/>
                </a:solidFill>
                <a:latin typeface="Calibri"/>
              </a:rPr>
              <a:t>Real CFTC Managed Money. Roll-adjusted front-month NYMEX CL. 2021 to 2026, 282 weekly observations.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tx"/>
          <p:cNvSpPr txBox="1"/>
          <p:nvPr/>
        </p:nvSpPr>
        <p:spPr>
          <a:xfrm>
            <a:off x="0" y="0"/>
            <a:ext cx="12192000" cy="868680"/>
          </a:xfrm>
          <a:prstGeom prst="rect">
            <a:avLst/>
          </a:prstGeom>
          <a:solidFill>
            <a:srgbClr val="1F3B57"/>
          </a:solidFill>
        </p:spPr>
        <p:txBody>
          <a:bodyPr wrap="square" lIns="91440" tIns="45720" rIns="91440" bIns="45720" anchor="ctr">
            <a:normAutofit/>
          </a:bodyPr>
          <a:lstStyle/>
          <a:p>
            <a:pPr algn="l">
              <a:spcAft>
                <a:spcPts val="500"/>
              </a:spcAft>
              <a:buNone/>
            </a:pPr>
            <a:r>
              <a:rPr lang="en-US" sz="2400" b="1" dirty="0">
                <a:solidFill>
                  <a:srgbClr val="FFFFFF"/>
                </a:solidFill>
                <a:latin typeface="Calibri"/>
              </a:rPr>
              <a:t>How we tested it</a:t>
            </a:r>
          </a:p>
        </p:txBody>
      </p:sp>
      <p:sp>
        <p:nvSpPr>
          <p:cNvPr id="16" name="tx"/>
          <p:cNvSpPr txBox="1"/>
          <p:nvPr/>
        </p:nvSpPr>
        <p:spPr>
          <a:xfrm>
            <a:off x="548640" y="1051560"/>
            <a:ext cx="11064240" cy="5440680"/>
          </a:xfrm>
          <a:prstGeom prst="rect">
            <a:avLst/>
          </a:prstGeom>
          <a:noFill/>
        </p:spPr>
        <p:txBody>
          <a:bodyPr wrap="square" lIns="91440" tIns="45720" rIns="91440" bIns="45720" anchor="t">
            <a:normAutofit/>
          </a:bodyPr>
          <a:lstStyle/>
          <a:p>
            <a:pPr marL="274320" indent="-228600" algn="l">
              <a:spcAft>
                <a:spcPts val="500"/>
              </a:spcAft>
              <a:buFont typeface="Arial"/>
              <a:buChar char="•"/>
            </a:pPr>
            <a:r>
              <a:rPr lang="en-US" sz="1450" b="1" dirty="0">
                <a:solidFill>
                  <a:srgbClr val="1F3B57"/>
                </a:solidFill>
                <a:latin typeface="Calibri"/>
              </a:rPr>
              <a:t>Signal. </a:t>
            </a:r>
            <a:r>
              <a:rPr lang="en-US" sz="1450" b="0" dirty="0">
                <a:solidFill>
                  <a:srgbClr val="1A1A1A"/>
                </a:solidFill>
                <a:latin typeface="Calibri"/>
              </a:rPr>
              <a:t>Real CFTC Managed Money net for WTI, pulled from the official CFTC archive. We first confirmed the supplied file was Other Reportables, so we sourced the genuine Managed Money series to do the study the brief intended.</a:t>
            </a:r>
          </a:p>
          <a:p>
            <a:pPr marL="274320" indent="-228600" algn="l">
              <a:spcAft>
                <a:spcPts val="500"/>
              </a:spcAft>
              <a:buFont typeface="Arial"/>
              <a:buChar char="•"/>
            </a:pPr>
            <a:r>
              <a:rPr lang="en-US" sz="1450" b="1" dirty="0">
                <a:solidFill>
                  <a:srgbClr val="1F3B57"/>
                </a:solidFill>
                <a:latin typeface="Calibri"/>
              </a:rPr>
              <a:t>Price and timing. </a:t>
            </a:r>
            <a:r>
              <a:rPr lang="en-US" sz="1450" b="0" dirty="0">
                <a:solidFill>
                  <a:srgbClr val="1A1A1A"/>
                </a:solidFill>
                <a:latin typeface="Calibri"/>
              </a:rPr>
              <a:t>Roll-adjusted continuous front-month WTI from local one-minute data. Every forward return starts from the first close on or after the Friday release, never the Tuesday as-of date.</a:t>
            </a:r>
          </a:p>
          <a:p>
            <a:pPr marL="274320" indent="-228600" algn="l">
              <a:spcAft>
                <a:spcPts val="500"/>
              </a:spcAft>
              <a:buFont typeface="Arial"/>
              <a:buChar char="•"/>
            </a:pPr>
            <a:r>
              <a:rPr lang="en-US" sz="1450" b="1" dirty="0">
                <a:solidFill>
                  <a:srgbClr val="1F3B57"/>
                </a:solidFill>
                <a:latin typeface="Calibri"/>
              </a:rPr>
              <a:t>Signals and tests. </a:t>
            </a:r>
            <a:r>
              <a:rPr lang="en-US" sz="1450" b="0" dirty="0">
                <a:solidFill>
                  <a:srgbClr val="1A1A1A"/>
                </a:solidFill>
                <a:latin typeface="Calibri"/>
              </a:rPr>
              <a:t>52-week rolling z-score for extremes (absolute z of 2 or more), the 4-week change for the flow, conditional returns versus the base rate, with Newey-West standard errors and block-bootstrap p-values.</a:t>
            </a:r>
          </a:p>
          <a:p>
            <a:pPr marL="274320" indent="-228600" algn="l">
              <a:spcAft>
                <a:spcPts val="500"/>
              </a:spcAft>
              <a:buFont typeface="Arial"/>
              <a:buChar char="•"/>
            </a:pPr>
            <a:r>
              <a:rPr lang="en-US" sz="1450" b="1" dirty="0">
                <a:solidFill>
                  <a:srgbClr val="1F3B57"/>
                </a:solidFill>
                <a:latin typeface="Calibri"/>
              </a:rPr>
              <a:t>Window. </a:t>
            </a:r>
            <a:r>
              <a:rPr lang="en-US" sz="1450" b="0" dirty="0">
                <a:solidFill>
                  <a:srgbClr val="1A1A1A"/>
                </a:solidFill>
                <a:latin typeface="Calibri"/>
              </a:rPr>
              <a:t>2021 to 2026, because that is where the local WTI prices begin (your earlier choice).</a:t>
            </a:r>
          </a:p>
          <a:p>
            <a:pPr marL="274320" indent="-228600" algn="l">
              <a:spcAft>
                <a:spcPts val="500"/>
              </a:spcAft>
              <a:buFont typeface="Arial"/>
              <a:buChar char="•"/>
            </a:pPr>
            <a:r>
              <a:rPr lang="en-US" sz="1450" b="1" dirty="0">
                <a:solidFill>
                  <a:srgbClr val="C0392B"/>
                </a:solidFill>
                <a:latin typeface="Calibri"/>
              </a:rPr>
              <a:t>Read this caveat first. </a:t>
            </a:r>
            <a:r>
              <a:rPr lang="en-US" sz="1450" b="0" dirty="0">
                <a:solidFill>
                  <a:srgbClr val="1A1A1A"/>
                </a:solidFill>
                <a:latin typeface="Calibri"/>
              </a:rPr>
              <a:t>In this window Managed Money rarely reached an extreme long: just 6 weeks across 2 episodes. The long-side result is striking but underpowered. The full 2016 to 2026 sample, which includes the 2018 build and the 2020 crash, is what would properly test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x"/>
          <p:cNvSpPr txBox="1"/>
          <p:nvPr/>
        </p:nvSpPr>
        <p:spPr>
          <a:xfrm>
            <a:off x="0" y="0"/>
            <a:ext cx="12192000" cy="868680"/>
          </a:xfrm>
          <a:prstGeom prst="rect">
            <a:avLst/>
          </a:prstGeom>
          <a:solidFill>
            <a:srgbClr val="1F3B57"/>
          </a:solidFill>
        </p:spPr>
        <p:txBody>
          <a:bodyPr wrap="square" lIns="91440" tIns="45720" rIns="91440" bIns="45720" anchor="ctr">
            <a:normAutofit/>
          </a:bodyPr>
          <a:lstStyle/>
          <a:p>
            <a:pPr algn="l">
              <a:spcAft>
                <a:spcPts val="500"/>
              </a:spcAft>
              <a:buNone/>
            </a:pPr>
            <a:r>
              <a:rPr lang="en-US" sz="2400" b="1" dirty="0">
                <a:solidFill>
                  <a:srgbClr val="FFFFFF"/>
                </a:solidFill>
                <a:latin typeface="Calibri"/>
              </a:rPr>
              <a:t>Crowded longs lead to weakness; the level alone still does not time it</a:t>
            </a:r>
          </a:p>
        </p:txBody>
      </p:sp>
      <p:pic>
        <p:nvPicPr>
          <p:cNvPr id="18" name="c1"/>
          <p:cNvPicPr>
            <a:picLocks noChangeAspect="1"/>
          </p:cNvPicPr>
          <p:nvPr/>
        </p:nvPicPr>
        <p:blipFill>
          <a:blip r:embed="rId2"/>
          <a:stretch>
            <a:fillRect/>
          </a:stretch>
        </p:blipFill>
        <p:spPr>
          <a:xfrm>
            <a:off x="228600" y="1618100"/>
            <a:ext cx="5897880" cy="2753119"/>
          </a:xfrm>
          <a:prstGeom prst="rect">
            <a:avLst/>
          </a:prstGeom>
        </p:spPr>
      </p:pic>
      <p:pic>
        <p:nvPicPr>
          <p:cNvPr id="19" name="c2"/>
          <p:cNvPicPr>
            <a:picLocks noChangeAspect="1"/>
          </p:cNvPicPr>
          <p:nvPr/>
        </p:nvPicPr>
        <p:blipFill>
          <a:blip r:embed="rId3"/>
          <a:stretch>
            <a:fillRect/>
          </a:stretch>
        </p:blipFill>
        <p:spPr>
          <a:xfrm>
            <a:off x="6263640" y="1488121"/>
            <a:ext cx="5715000" cy="3013077"/>
          </a:xfrm>
          <a:prstGeom prst="rect">
            <a:avLst/>
          </a:prstGeom>
        </p:spPr>
      </p:pic>
      <p:sp>
        <p:nvSpPr>
          <p:cNvPr id="20" name="tx"/>
          <p:cNvSpPr txBox="1"/>
          <p:nvPr/>
        </p:nvSpPr>
        <p:spPr>
          <a:xfrm>
            <a:off x="457200" y="5166360"/>
            <a:ext cx="11338560" cy="1371600"/>
          </a:xfrm>
          <a:prstGeom prst="rect">
            <a:avLst/>
          </a:prstGeom>
          <a:noFill/>
        </p:spPr>
        <p:txBody>
          <a:bodyPr wrap="square" lIns="91440" tIns="45720" rIns="91440" bIns="45720" anchor="t">
            <a:normAutofit/>
          </a:bodyPr>
          <a:lstStyle/>
          <a:p>
            <a:pPr marL="274320" indent="-228600" algn="l">
              <a:spcAft>
                <a:spcPts val="500"/>
              </a:spcAft>
              <a:buFont typeface="Arial"/>
              <a:buChar char="•"/>
            </a:pPr>
            <a:r>
              <a:rPr lang="en-US" sz="1300" b="1" dirty="0">
                <a:solidFill>
                  <a:srgbClr val="1A1A1A"/>
                </a:solidFill>
                <a:latin typeface="Calibri"/>
              </a:rPr>
              <a:t>The contemporaneous correlation with price is weak (+0.15), and the level does not forecast the next week (correlation 0.00).</a:t>
            </a:r>
          </a:p>
          <a:p>
            <a:pPr marL="274320" indent="-228600" algn="l">
              <a:spcAft>
                <a:spcPts val="500"/>
              </a:spcAft>
              <a:buFont typeface="Arial"/>
              <a:buChar char="•"/>
            </a:pPr>
            <a:r>
              <a:rPr lang="en-US" sz="1250" b="0" dirty="0">
                <a:solidFill>
                  <a:srgbClr val="5D6D7E"/>
                </a:solidFill>
                <a:latin typeface="Calibri"/>
              </a:rPr>
              <a:t>Extreme long (6 weeks, 2 episodes): WTI fell -3.6% over 4 weeks, with all 6 weeks down. Striking, but fragile on 2 episodes. Extreme short (27 weeks, 11 episodes): mildly positive and not significant.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tx"/>
          <p:cNvSpPr txBox="1"/>
          <p:nvPr/>
        </p:nvSpPr>
        <p:spPr>
          <a:xfrm>
            <a:off x="0" y="0"/>
            <a:ext cx="12192000" cy="868680"/>
          </a:xfrm>
          <a:prstGeom prst="rect">
            <a:avLst/>
          </a:prstGeom>
          <a:solidFill>
            <a:srgbClr val="1F3B57"/>
          </a:solidFill>
        </p:spPr>
        <p:txBody>
          <a:bodyPr wrap="square" lIns="91440" tIns="45720" rIns="91440" bIns="45720" anchor="ctr">
            <a:normAutofit/>
          </a:bodyPr>
          <a:lstStyle/>
          <a:p>
            <a:pPr algn="l">
              <a:spcAft>
                <a:spcPts val="500"/>
              </a:spcAft>
              <a:buNone/>
            </a:pPr>
            <a:r>
              <a:rPr lang="en-US" sz="2400" b="1" dirty="0">
                <a:solidFill>
                  <a:srgbClr val="FFFFFF"/>
                </a:solidFill>
                <a:latin typeface="Calibri"/>
              </a:rPr>
              <a:t>A fast Managed Money unwind precedes further weakness</a:t>
            </a:r>
          </a:p>
        </p:txBody>
      </p:sp>
      <p:pic>
        <p:nvPicPr>
          <p:cNvPr id="22" name="c3"/>
          <p:cNvPicPr>
            <a:picLocks noChangeAspect="1"/>
          </p:cNvPicPr>
          <p:nvPr/>
        </p:nvPicPr>
        <p:blipFill>
          <a:blip r:embed="rId2"/>
          <a:stretch>
            <a:fillRect/>
          </a:stretch>
        </p:blipFill>
        <p:spPr>
          <a:xfrm>
            <a:off x="274320" y="1742726"/>
            <a:ext cx="6720840" cy="3738308"/>
          </a:xfrm>
          <a:prstGeom prst="rect">
            <a:avLst/>
          </a:prstGeom>
        </p:spPr>
      </p:pic>
      <p:sp>
        <p:nvSpPr>
          <p:cNvPr id="23" name="tx"/>
          <p:cNvSpPr txBox="1"/>
          <p:nvPr/>
        </p:nvSpPr>
        <p:spPr>
          <a:xfrm>
            <a:off x="7132320" y="1188720"/>
            <a:ext cx="4846320" cy="5029200"/>
          </a:xfrm>
          <a:prstGeom prst="rect">
            <a:avLst/>
          </a:prstGeom>
          <a:noFill/>
        </p:spPr>
        <p:txBody>
          <a:bodyPr wrap="square" lIns="91440" tIns="45720" rIns="91440" bIns="45720" anchor="t">
            <a:normAutofit/>
          </a:bodyPr>
          <a:lstStyle/>
          <a:p>
            <a:pPr algn="l">
              <a:spcAft>
                <a:spcPts val="500"/>
              </a:spcAft>
              <a:buNone/>
            </a:pPr>
            <a:r>
              <a:rPr lang="en-US" sz="1550" b="1" dirty="0">
                <a:solidFill>
                  <a:srgbClr val="C0392B"/>
                </a:solidFill>
                <a:latin typeface="Calibri"/>
              </a:rPr>
              <a:t>Momentum, not mean reversion.</a:t>
            </a:r>
          </a:p>
          <a:p>
            <a:pPr marL="274320" indent="-228600" algn="l">
              <a:spcAft>
                <a:spcPts val="500"/>
              </a:spcAft>
              <a:buFont typeface="Arial"/>
              <a:buChar char="•"/>
            </a:pPr>
            <a:r>
              <a:rPr lang="en-US" sz="1400" b="0" dirty="0">
                <a:solidFill>
                  <a:srgbClr val="1A1A1A"/>
                </a:solidFill>
                <a:latin typeface="Calibri"/>
              </a:rPr>
              <a:t>After the fastest 4-week unwind, WTI keeps sliding: about -1.1%, -2.1% and -2.3% at 1, 2 and 4 weeks (bootstrap p around 0.03 to 0.05).</a:t>
            </a:r>
          </a:p>
          <a:p>
            <a:pPr marL="274320" indent="-228600" algn="l">
              <a:spcAft>
                <a:spcPts val="500"/>
              </a:spcAft>
              <a:buFont typeface="Arial"/>
              <a:buChar char="•"/>
            </a:pPr>
            <a:r>
              <a:rPr lang="en-US" sz="1400" b="0" dirty="0">
                <a:solidFill>
                  <a:srgbClr val="1A1A1A"/>
                </a:solidFill>
                <a:latin typeface="Calibri"/>
              </a:rPr>
              <a:t>This is the opposite sign to Other Reportables, where the very same test gave a +5.6% rebound.</a:t>
            </a:r>
          </a:p>
          <a:p>
            <a:pPr marL="274320" indent="-228600" algn="l">
              <a:spcAft>
                <a:spcPts val="500"/>
              </a:spcAft>
              <a:buFont typeface="Arial"/>
              <a:buChar char="•"/>
            </a:pPr>
            <a:r>
              <a:rPr lang="en-US" sz="1400" b="1" dirty="0">
                <a:solidFill>
                  <a:srgbClr val="1F3B57"/>
                </a:solidFill>
                <a:latin typeface="Calibri"/>
              </a:rPr>
              <a:t>Same statistic, different trader group, opposite conclusion. That is exactly why getting the category right matters.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tx"/>
          <p:cNvSpPr txBox="1"/>
          <p:nvPr/>
        </p:nvSpPr>
        <p:spPr>
          <a:xfrm>
            <a:off x="0" y="0"/>
            <a:ext cx="12192000" cy="868680"/>
          </a:xfrm>
          <a:prstGeom prst="rect">
            <a:avLst/>
          </a:prstGeom>
          <a:solidFill>
            <a:srgbClr val="1F3B57"/>
          </a:solidFill>
        </p:spPr>
        <p:txBody>
          <a:bodyPr wrap="square" lIns="91440" tIns="45720" rIns="91440" bIns="45720" anchor="ctr">
            <a:normAutofit/>
          </a:bodyPr>
          <a:lstStyle/>
          <a:p>
            <a:pPr algn="l">
              <a:spcAft>
                <a:spcPts val="500"/>
              </a:spcAft>
              <a:buNone/>
            </a:pPr>
            <a:r>
              <a:rPr lang="en-US" sz="2400" b="1" dirty="0">
                <a:solidFill>
                  <a:srgbClr val="FFFFFF"/>
                </a:solidFill>
                <a:latin typeface="Calibri"/>
              </a:rPr>
              <a:t>Conclusion: Managed Money versus Other Reportables</a:t>
            </a:r>
          </a:p>
        </p:txBody>
      </p:sp>
      <p:sp>
        <p:nvSpPr>
          <p:cNvPr id="25" name="tx"/>
          <p:cNvSpPr txBox="1"/>
          <p:nvPr/>
        </p:nvSpPr>
        <p:spPr>
          <a:xfrm>
            <a:off x="457200" y="1051560"/>
            <a:ext cx="11247120" cy="5394960"/>
          </a:xfrm>
          <a:prstGeom prst="rect">
            <a:avLst/>
          </a:prstGeom>
          <a:noFill/>
        </p:spPr>
        <p:txBody>
          <a:bodyPr wrap="square" lIns="91440" tIns="45720" rIns="91440" bIns="45720" anchor="t">
            <a:normAutofit/>
          </a:bodyPr>
          <a:lstStyle/>
          <a:p>
            <a:pPr marL="274320" indent="-228600" algn="l">
              <a:spcAft>
                <a:spcPts val="500"/>
              </a:spcAft>
              <a:buFont typeface="Arial"/>
              <a:buChar char="•"/>
            </a:pPr>
            <a:r>
              <a:rPr lang="en-US" sz="1500" b="1" dirty="0">
                <a:solidFill>
                  <a:srgbClr val="1F3B57"/>
                </a:solidFill>
                <a:latin typeface="Calibri"/>
              </a:rPr>
              <a:t>Extreme long. </a:t>
            </a:r>
            <a:r>
              <a:rPr lang="en-US" sz="1500" b="0" dirty="0">
                <a:solidFill>
                  <a:srgbClr val="1A1A1A"/>
                </a:solidFill>
                <a:latin typeface="Calibri"/>
              </a:rPr>
              <a:t>Managed Money: WTI tends to weaken (fade the crowd works, on 2 episodes). Other Reportables: no edge.</a:t>
            </a:r>
          </a:p>
          <a:p>
            <a:pPr marL="274320" indent="-228600" algn="l">
              <a:spcAft>
                <a:spcPts val="500"/>
              </a:spcAft>
              <a:buFont typeface="Arial"/>
              <a:buChar char="•"/>
            </a:pPr>
            <a:r>
              <a:rPr lang="en-US" sz="1500" b="1" dirty="0">
                <a:solidFill>
                  <a:srgbClr val="1F3B57"/>
                </a:solidFill>
                <a:latin typeface="Calibri"/>
              </a:rPr>
              <a:t>Fast unwind. </a:t>
            </a:r>
            <a:r>
              <a:rPr lang="en-US" sz="1500" b="0" dirty="0">
                <a:solidFill>
                  <a:srgbClr val="1A1A1A"/>
                </a:solidFill>
                <a:latin typeface="Calibri"/>
              </a:rPr>
              <a:t>Managed Money: the decline continues (momentum). Other Reportables: a rebound (mean reversion). Opposite signals from the same test.</a:t>
            </a:r>
          </a:p>
          <a:p>
            <a:pPr marL="274320" indent="-228600" algn="l">
              <a:spcAft>
                <a:spcPts val="500"/>
              </a:spcAft>
              <a:buFont typeface="Arial"/>
              <a:buChar char="•"/>
            </a:pPr>
            <a:r>
              <a:rPr lang="en-US" sz="1500" b="1" dirty="0">
                <a:solidFill>
                  <a:srgbClr val="1F3B57"/>
                </a:solidFill>
                <a:latin typeface="Calibri"/>
              </a:rPr>
              <a:t>Both groups. </a:t>
            </a:r>
            <a:r>
              <a:rPr lang="en-US" sz="1500" b="0" dirty="0">
                <a:solidFill>
                  <a:srgbClr val="1A1A1A"/>
                </a:solidFill>
                <a:latin typeface="Calibri"/>
              </a:rPr>
              <a:t>The level on its own does not predict the next week. Positioning is about inflections and risk, not a simple direction call.</a:t>
            </a:r>
          </a:p>
          <a:p>
            <a:pPr marL="274320" indent="-228600" algn="l">
              <a:spcAft>
                <a:spcPts val="500"/>
              </a:spcAft>
              <a:buFont typeface="Arial"/>
              <a:buChar char="•"/>
            </a:pPr>
            <a:r>
              <a:rPr lang="en-US" sz="1500" b="1" dirty="0">
                <a:solidFill>
                  <a:srgbClr val="1F3B57"/>
                </a:solidFill>
                <a:latin typeface="Calibri"/>
              </a:rPr>
              <a:t>Desk use. </a:t>
            </a:r>
            <a:r>
              <a:rPr lang="en-US" sz="1500" b="0" dirty="0">
                <a:solidFill>
                  <a:srgbClr val="1A1A1A"/>
                </a:solidFill>
                <a:latin typeface="Calibri"/>
              </a:rPr>
              <a:t>For Managed Money, treat an extreme long or a fast unwind as a caution or short-bias flag, alongside fundamentals, not as a buy signal. The move mostly happens after the Friday release, so it is at least actionable. Costs are not modelled.</a:t>
            </a:r>
          </a:p>
          <a:p>
            <a:pPr marL="274320" indent="-228600" algn="l">
              <a:spcAft>
                <a:spcPts val="500"/>
              </a:spcAft>
              <a:buFont typeface="Arial"/>
              <a:buChar char="•"/>
            </a:pPr>
            <a:r>
              <a:rPr lang="en-US" sz="1500" b="1" dirty="0">
                <a:solidFill>
                  <a:srgbClr val="C0392B"/>
                </a:solidFill>
                <a:latin typeface="Calibri"/>
              </a:rPr>
              <a:t>Caveats. </a:t>
            </a:r>
            <a:r>
              <a:rPr lang="en-US" sz="1500" b="0" dirty="0">
                <a:solidFill>
                  <a:srgbClr val="1A1A1A"/>
                </a:solidFill>
                <a:latin typeface="Calibri"/>
              </a:rPr>
              <a:t>2021 to 2026 only, with just 2 extreme-long episodes; the crowding-versus-volatility result is unreliable in so short a window. Rebuild on 2016 to 2026 to confirm the long-side and crowding findings.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B57"/>
      </a:dk2>
      <a:lt2>
        <a:srgbClr val="EEECE1"/>
      </a:lt2>
      <a:accent1>
        <a:srgbClr val="1F3B57"/>
      </a:accent1>
      <a:accent2>
        <a:srgbClr val="C0392B"/>
      </a:accent2>
      <a:accent3>
        <a:srgbClr val="1E8449"/>
      </a:accent3>
      <a:accent4>
        <a:srgbClr val="B9770E"/>
      </a:accent4>
      <a:accent5>
        <a:srgbClr val="5D6D7E"/>
      </a:accent5>
      <a:accent6>
        <a:srgbClr val="8E44AD"/>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728</Words>
  <Application>Microsoft Office PowerPoint</Application>
  <PresentationFormat>Widescreen</PresentationFormat>
  <Paragraphs>27</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Aayush Jhawar</cp:lastModifiedBy>
  <cp:revision>1</cp:revision>
  <dcterms:modified xsi:type="dcterms:W3CDTF">2026-06-30T01:52:00Z</dcterms:modified>
</cp:coreProperties>
</file>