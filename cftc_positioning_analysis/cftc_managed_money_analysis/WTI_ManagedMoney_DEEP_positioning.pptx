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Jhawar" userId="63043c1f-65cf-4dc0-add7-e2f496264507" providerId="ADAL" clId="{AFD85A7A-4199-4CC0-BD34-457A87DFFE3B}"/>
    <pc:docChg chg="modSld">
      <pc:chgData name="Aayush Jhawar" userId="63043c1f-65cf-4dc0-add7-e2f496264507" providerId="ADAL" clId="{AFD85A7A-4199-4CC0-BD34-457A87DFFE3B}" dt="2026-06-30T07:25:16.480" v="8" actId="20577"/>
      <pc:docMkLst>
        <pc:docMk/>
      </pc:docMkLst>
      <pc:sldChg chg="modSp mod">
        <pc:chgData name="Aayush Jhawar" userId="63043c1f-65cf-4dc0-add7-e2f496264507" providerId="ADAL" clId="{AFD85A7A-4199-4CC0-BD34-457A87DFFE3B}" dt="2026-06-30T07:25:16.480" v="8" actId="20577"/>
        <pc:sldMkLst>
          <pc:docMk/>
          <pc:sldMk cId="0" sldId="260"/>
        </pc:sldMkLst>
        <pc:spChg chg="mod">
          <ac:chgData name="Aayush Jhawar" userId="63043c1f-65cf-4dc0-add7-e2f496264507" providerId="ADAL" clId="{AFD85A7A-4199-4CC0-BD34-457A87DFFE3B}" dt="2026-06-30T07:25:16.480" v="8" actId="20577"/>
          <ac:spMkLst>
            <pc:docMk/>
            <pc:sldMk cId="0" sldId="260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"/>
          <p:cNvSpPr txBox="1"/>
          <p:nvPr/>
        </p:nvSpPr>
        <p:spPr>
          <a:xfrm>
            <a:off x="0" y="0"/>
            <a:ext cx="12192000" cy="1554480"/>
          </a:xfrm>
          <a:prstGeom prst="rect">
            <a:avLst/>
          </a:prstGeom>
          <a:solidFill>
            <a:srgbClr val="16324F"/>
          </a:solidFill>
        </p:spPr>
        <p:txBody>
          <a:bodyPr wrap="square" lIns="100000" tIns="55000" rIns="100000" bIns="55000" anchor="ctr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Calibri"/>
              </a:rPr>
              <a:t>Do oil speculators’ bets predict WTI prices?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300" b="0" dirty="0">
                <a:solidFill>
                  <a:srgbClr val="D9E2EA"/>
                </a:solidFill>
                <a:latin typeface="Calibri"/>
              </a:rPr>
              <a:t>Managed Money positioning in WTI crude   |   2021 to 2026</a:t>
            </a:r>
          </a:p>
        </p:txBody>
      </p:sp>
      <p:sp>
        <p:nvSpPr>
          <p:cNvPr id="12" name="tx"/>
          <p:cNvSpPr txBox="1"/>
          <p:nvPr/>
        </p:nvSpPr>
        <p:spPr>
          <a:xfrm>
            <a:off x="548640" y="1828800"/>
            <a:ext cx="11064240" cy="1143000"/>
          </a:xfrm>
          <a:prstGeom prst="rect">
            <a:avLst/>
          </a:prstGeom>
          <a:noFill/>
        </p:spPr>
        <p:txBody>
          <a:bodyPr wrap="square" lIns="100000" tIns="55000" rIns="100000" bIns="55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Calibri"/>
              </a:rPr>
              <a:t>On its own, no. But once you know how </a:t>
            </a:r>
            <a:r>
              <a:rPr lang="en-US" sz="1900" b="1" dirty="0">
                <a:solidFill>
                  <a:srgbClr val="B07A1E"/>
                </a:solidFill>
                <a:latin typeface="Calibri"/>
              </a:rPr>
              <a:t>STALE</a:t>
            </a:r>
            <a:r>
              <a:rPr lang="en-US" sz="1900" b="0" dirty="0">
                <a:solidFill>
                  <a:srgbClr val="1A1A1A"/>
                </a:solidFill>
                <a:latin typeface="Calibri"/>
              </a:rPr>
              <a:t> the positioning is and how </a:t>
            </a:r>
            <a:r>
              <a:rPr lang="en-US" sz="1900" b="1" dirty="0">
                <a:solidFill>
                  <a:srgbClr val="1D6F66"/>
                </a:solidFill>
                <a:latin typeface="Calibri"/>
              </a:rPr>
              <a:t>CALM</a:t>
            </a:r>
            <a:r>
              <a:rPr lang="en-US" sz="1900" b="0" dirty="0">
                <a:solidFill>
                  <a:srgbClr val="1A1A1A"/>
                </a:solidFill>
                <a:latin typeface="Calibri"/>
              </a:rPr>
              <a:t> the market is, clear and usable patterns appear.</a:t>
            </a:r>
          </a:p>
        </p:txBody>
      </p:sp>
      <p:sp>
        <p:nvSpPr>
          <p:cNvPr id="13" name="tx"/>
          <p:cNvSpPr txBox="1"/>
          <p:nvPr/>
        </p:nvSpPr>
        <p:spPr>
          <a:xfrm>
            <a:off x="548640" y="3063240"/>
            <a:ext cx="11064240" cy="2286000"/>
          </a:xfrm>
          <a:prstGeom prst="rect">
            <a:avLst/>
          </a:prstGeom>
          <a:noFill/>
        </p:spPr>
        <p:txBody>
          <a:bodyPr wrap="square" lIns="100000" tIns="55000" rIns="100000" bIns="55000" anchor="t">
            <a:normAutofit/>
          </a:bodyPr>
          <a:lstStyle/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500" b="0" dirty="0">
                <a:solidFill>
                  <a:srgbClr val="1A1A1A"/>
                </a:solidFill>
                <a:latin typeface="Calibri"/>
              </a:rPr>
              <a:t>Fresh crowding keeps rising; once it has been crowded for a month it stalls.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500" b="0" dirty="0">
                <a:solidFill>
                  <a:srgbClr val="1A1A1A"/>
                </a:solidFill>
                <a:latin typeface="Calibri"/>
              </a:rPr>
              <a:t>A book that stays light for a month tends to set up a rebound.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500" b="0" dirty="0">
                <a:solidFill>
                  <a:srgbClr val="1A1A1A"/>
                </a:solidFill>
                <a:latin typeface="Calibri"/>
              </a:rPr>
              <a:t>A calm market with light positioning is the steadiest setup for gains (+2.9% over 4 weeks).</a:t>
            </a:r>
          </a:p>
        </p:txBody>
      </p:sp>
      <p:sp>
        <p:nvSpPr>
          <p:cNvPr id="14" name="tx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F2F5F7"/>
          </a:solidFill>
        </p:spPr>
        <p:txBody>
          <a:bodyPr wrap="square" lIns="100000" tIns="55000" rIns="100000" bIns="55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6324F"/>
                </a:solidFill>
                <a:latin typeface="Calibri"/>
              </a:rPr>
              <a:t>In plain terms:  </a:t>
            </a:r>
            <a:r>
              <a:rPr lang="en-US" sz="1250" b="0" dirty="0">
                <a:solidFill>
                  <a:srgbClr val="5D6D7E"/>
                </a:solidFill>
                <a:latin typeface="Calibri"/>
              </a:rPr>
              <a:t>"Managed Money" = the large speculative funds.  "Net position" = how much they are betting prices rise, minus betting they fall.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x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100000" tIns="55000" rIns="100000" bIns="55000" anchor="ctr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</a:rPr>
              <a:t>What we measured, in plain terms</a:t>
            </a:r>
          </a:p>
        </p:txBody>
      </p:sp>
      <p:sp>
        <p:nvSpPr>
          <p:cNvPr id="16" name="tx"/>
          <p:cNvSpPr txBox="1"/>
          <p:nvPr/>
        </p:nvSpPr>
        <p:spPr>
          <a:xfrm>
            <a:off x="548640" y="1005840"/>
            <a:ext cx="11064240" cy="5440680"/>
          </a:xfrm>
          <a:prstGeom prst="rect">
            <a:avLst/>
          </a:prstGeom>
          <a:noFill/>
        </p:spPr>
        <p:txBody>
          <a:bodyPr wrap="square" lIns="100000" tIns="55000" rIns="100000" bIns="55000" anchor="t">
            <a:normAutofit/>
          </a:bodyPr>
          <a:lstStyle/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The data.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Each week the US regulator (CFTC) reports how heavily the big funds are betting on WTI. We pulled the real Managed Money series straight from the CFTC archive.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The price.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WTI front-month crude, 2021 to 2026.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"Extreme" positioning.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The most-long and least-long weeks (top and bottom 10%), and a z-score that says how unusual this week is versus the past year.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A fair test.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The data is measured on a Tuesday but only published on the Friday, so we only ever act from the Friday close. No hindsight.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The deeper cuts.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How long positioning stays extreme (its staleness), and whether the market is calm or choppy (volatility).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Is it real?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We measure WTI 1, 2 and 4 weeks later versus an average week, and check it with t-tests and bootstrap resampling.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x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100000" tIns="55000" rIns="100000" bIns="55000" anchor="ctr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</a:rPr>
              <a:t>First look: stretched bets lean gently against price</a:t>
            </a:r>
          </a:p>
        </p:txBody>
      </p:sp>
      <p:pic>
        <p:nvPicPr>
          <p:cNvPr id="18" name="r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30289"/>
            <a:ext cx="5943600" cy="2774461"/>
          </a:xfrm>
          <a:prstGeom prst="rect">
            <a:avLst/>
          </a:prstGeom>
        </p:spPr>
      </p:pic>
      <p:pic>
        <p:nvPicPr>
          <p:cNvPr id="19" name="ex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95843"/>
            <a:ext cx="5715000" cy="3043353"/>
          </a:xfrm>
          <a:prstGeom prst="rect">
            <a:avLst/>
          </a:prstGeom>
        </p:spPr>
      </p:pic>
      <p:sp>
        <p:nvSpPr>
          <p:cNvPr id="20" name="tx"/>
          <p:cNvSpPr txBox="1"/>
          <p:nvPr/>
        </p:nvSpPr>
        <p:spPr>
          <a:xfrm>
            <a:off x="457200" y="5212080"/>
            <a:ext cx="11338560" cy="1280160"/>
          </a:xfrm>
          <a:prstGeom prst="rect">
            <a:avLst/>
          </a:prstGeom>
          <a:noFill/>
        </p:spPr>
        <p:txBody>
          <a:bodyPr wrap="square" lIns="100000" tIns="55000" rIns="100000" bIns="55000" anchor="t">
            <a:normAutofit/>
          </a:bodyPr>
          <a:lstStyle/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When the funds are most long, WTI tends to slip over the next month (about -2.1%). When they are least long, it tends to rise (about +3.4%).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00" b="0" dirty="0">
                <a:solidFill>
                  <a:srgbClr val="5D6D7E"/>
                </a:solidFill>
                <a:latin typeface="Calibri"/>
              </a:rPr>
              <a:t>Useful, but gentle. The size of the bet on its own is a weak timer. The stronger signal is on the next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x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100000" tIns="55000" rIns="100000" bIns="55000" anchor="ctr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</a:rPr>
              <a:t>The key: it is the staleness, not the size</a:t>
            </a:r>
          </a:p>
        </p:txBody>
      </p:sp>
      <p:pic>
        <p:nvPicPr>
          <p:cNvPr id="22" name="p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24876"/>
            <a:ext cx="7040880" cy="3728288"/>
          </a:xfrm>
          <a:prstGeom prst="rect">
            <a:avLst/>
          </a:prstGeom>
        </p:spPr>
      </p:pic>
      <p:sp>
        <p:nvSpPr>
          <p:cNvPr id="23" name="tx"/>
          <p:cNvSpPr txBox="1"/>
          <p:nvPr/>
        </p:nvSpPr>
        <p:spPr>
          <a:xfrm>
            <a:off x="7360920" y="1051560"/>
            <a:ext cx="4617720" cy="5212080"/>
          </a:xfrm>
          <a:prstGeom prst="rect">
            <a:avLst/>
          </a:prstGeom>
          <a:noFill/>
        </p:spPr>
        <p:txBody>
          <a:bodyPr wrap="square" lIns="100000" tIns="55000" rIns="100000" bIns="5500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6324F"/>
                </a:solidFill>
                <a:latin typeface="Calibri"/>
              </a:rPr>
              <a:t>Same bet, opposite meaning.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80" b="1" dirty="0">
                <a:solidFill>
                  <a:srgbClr val="B07A1E"/>
                </a:solidFill>
                <a:latin typeface="Calibri"/>
              </a:rPr>
              <a:t>A FRESH crowded long keeps rising: +9.0% over the next 4 weeks (80% hit). Ride it.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80" b="1" dirty="0">
                <a:solidFill>
                  <a:srgbClr val="B07A1E"/>
                </a:solidFill>
                <a:latin typeface="Calibri"/>
              </a:rPr>
              <a:t>Once it has been crowded for a month it is exhausted: -0.8% (33% hit). Step aside.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80" b="1" dirty="0">
                <a:solidFill>
                  <a:srgbClr val="1D6F66"/>
                </a:solidFill>
                <a:latin typeface="Calibri"/>
              </a:rPr>
              <a:t>A book that has stayed LIGHT for a month tends to rebound: +3.8% (63% hit). Accumulate.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80" b="0" dirty="0">
                <a:solidFill>
                  <a:srgbClr val="1A1A1A"/>
                </a:solidFill>
                <a:latin typeface="Calibri"/>
              </a:rPr>
              <a:t>So how long the positioning has lasted flips the conclusion. This staleness effect is the real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x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100000" tIns="55000" rIns="100000" bIns="55000" anchor="ctr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</a:rPr>
              <a:t>The playbook: simple equations</a:t>
            </a:r>
          </a:p>
        </p:txBody>
      </p:sp>
      <p:pic>
        <p:nvPicPr>
          <p:cNvPr id="25" name="gr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8215"/>
            <a:ext cx="5669280" cy="3678610"/>
          </a:xfrm>
          <a:prstGeom prst="rect">
            <a:avLst/>
          </a:prstGeom>
        </p:spPr>
      </p:pic>
      <p:sp>
        <p:nvSpPr>
          <p:cNvPr id="26" name="tx"/>
          <p:cNvSpPr txBox="1"/>
          <p:nvPr/>
        </p:nvSpPr>
        <p:spPr>
          <a:xfrm>
            <a:off x="6126480" y="914400"/>
            <a:ext cx="5852160" cy="4297680"/>
          </a:xfrm>
          <a:prstGeom prst="rect">
            <a:avLst/>
          </a:prstGeom>
          <a:noFill/>
        </p:spPr>
        <p:txBody>
          <a:bodyPr wrap="square" lIns="100000" tIns="55000" rIns="100000" bIns="5500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Conditioning rules (next 4 weeks)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Calm market + Light position</a:t>
            </a:r>
            <a:r>
              <a:rPr lang="en-US" sz="1350" b="1" dirty="0">
                <a:solidFill>
                  <a:srgbClr val="1E8B54"/>
                </a:solidFill>
                <a:latin typeface="Calibri"/>
              </a:rPr>
              <a:t>  =  CL +2.9%  (56% hit)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Calm market + Crowded long</a:t>
            </a:r>
            <a:r>
              <a:rPr lang="en-US" sz="1350" b="1" dirty="0">
                <a:solidFill>
                  <a:srgbClr val="1E8B54"/>
                </a:solidFill>
                <a:latin typeface="Calibri"/>
              </a:rPr>
              <a:t>  =  CL +1.9%  (51% hit)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Choppy market + Light position  =  CL +1.6%  (52% hit)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Choppy market + Crowded long</a:t>
            </a:r>
            <a:r>
              <a:rPr lang="en-US" sz="1350" b="1" dirty="0">
                <a:solidFill>
                  <a:srgbClr val="C0392B"/>
                </a:solidFill>
                <a:latin typeface="Calibri"/>
              </a:rPr>
              <a:t>  =  CL +2.5% but only 47% hit (coin-flip)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Fresh crowded long</a:t>
            </a:r>
            <a:r>
              <a:rPr lang="en-US" sz="1350" b="1" dirty="0">
                <a:solidFill>
                  <a:srgbClr val="1E8B54"/>
                </a:solidFill>
                <a:latin typeface="Calibri"/>
              </a:rPr>
              <a:t>  =  CL +9.0%  (80% hit, ride momentum)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Crowded long, gone STALE</a:t>
            </a:r>
            <a:r>
              <a:rPr lang="en-US" sz="1350" b="1" dirty="0">
                <a:solidFill>
                  <a:srgbClr val="C0392B"/>
                </a:solidFill>
                <a:latin typeface="Calibri"/>
              </a:rPr>
              <a:t>  =  CL ~0%  (33% hit, step aside)</a:t>
            </a:r>
          </a:p>
          <a:p>
            <a:pPr marL="274320" indent="-228600" algn="l">
              <a:spcAft>
                <a:spcPts val="50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/>
              </a:rPr>
              <a:t>Light book, gone STALE</a:t>
            </a:r>
            <a:r>
              <a:rPr lang="en-US" sz="1350" b="1" dirty="0">
                <a:solidFill>
                  <a:srgbClr val="1E8B54"/>
                </a:solidFill>
                <a:latin typeface="Calibri"/>
              </a:rPr>
              <a:t>  =  CL +3.8%  (63% hit, accumulate)</a:t>
            </a:r>
          </a:p>
        </p:txBody>
      </p:sp>
      <p:sp>
        <p:nvSpPr>
          <p:cNvPr id="27" name="tx"/>
          <p:cNvSpPr txBox="1"/>
          <p:nvPr/>
        </p:nvSpPr>
        <p:spPr>
          <a:xfrm>
            <a:off x="274320" y="5257800"/>
            <a:ext cx="11704320" cy="1143000"/>
          </a:xfrm>
          <a:prstGeom prst="rect">
            <a:avLst/>
          </a:prstGeom>
          <a:solidFill>
            <a:srgbClr val="F2F5F7"/>
          </a:solidFill>
        </p:spPr>
        <p:txBody>
          <a:bodyPr wrap="square" lIns="100000" tIns="55000" rIns="100000" bIns="55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/>
              </a:rPr>
              <a:t>Size</a:t>
            </a:r>
            <a:r>
              <a:rPr lang="en-US" sz="1200" b="1" dirty="0">
                <a:solidFill>
                  <a:srgbClr val="16324F"/>
                </a:solidFill>
                <a:latin typeface="Calibri"/>
              </a:rPr>
              <a:t> </a:t>
            </a:r>
            <a:r>
              <a:rPr lang="en-US" sz="1200" b="0" dirty="0">
                <a:solidFill>
                  <a:srgbClr val="1A1A1A"/>
                </a:solidFill>
                <a:latin typeface="Calibri"/>
              </a:rPr>
              <a:t>with volatility, ride fresh extremes, fade stale ones.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Caveats: </a:t>
            </a:r>
            <a:r>
              <a:rPr lang="en-US" sz="1200" b="0" dirty="0">
                <a:solidFill>
                  <a:srgbClr val="5D6D7E"/>
                </a:solidFill>
                <a:latin typeface="Calibri"/>
              </a:rPr>
              <a:t>2021 to 2026 only, extreme-long has few episodes, returns are gross of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6324F"/>
      </a:dk2>
      <a:lt2>
        <a:srgbClr val="EEECE1"/>
      </a:lt2>
      <a:accent1>
        <a:srgbClr val="16324F"/>
      </a:accent1>
      <a:accent2>
        <a:srgbClr val="C0392B"/>
      </a:accent2>
      <a:accent3>
        <a:srgbClr val="1E8B54"/>
      </a:accent3>
      <a:accent4>
        <a:srgbClr val="B07A1E"/>
      </a:accent4>
      <a:accent5>
        <a:srgbClr val="1D6F66"/>
      </a:accent5>
      <a:accent6>
        <a:srgbClr val="8E44AD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Aayush Jhawar</cp:lastModifiedBy>
  <cp:revision>1</cp:revision>
  <dcterms:modified xsi:type="dcterms:W3CDTF">2026-06-30T07:25:24Z</dcterms:modified>
</cp:coreProperties>
</file>