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>
          <a:solidFill>
            <a:schemeClr val="tx1"/>
          </a:solidFill>
          <a:latin typeface="+mj-lt"/>
        </a:defRPr>
      </a:lvl1pPr>
    </p:titleStyle>
    <p:bodyStyle>
      <a:lvl1pPr>
        <a:defRPr sz="1800">
          <a:solidFill>
            <a:schemeClr val="tx1"/>
          </a:solidFill>
          <a:latin typeface="+mn-lt"/>
        </a:defRPr>
      </a:lvl1pPr>
    </p:bodyStyle>
    <p:otherStyle>
      <a:lvl1pPr>
        <a:defRPr sz="1800">
          <a:solidFill>
            <a:schemeClr val="tx1"/>
          </a:solidFill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x"/>
          <p:cNvSpPr txBox="1"/>
          <p:nvPr/>
        </p:nvSpPr>
        <p:spPr>
          <a:xfrm>
            <a:off x="0" y="0"/>
            <a:ext cx="12192000" cy="1554480"/>
          </a:xfrm>
          <a:prstGeom prst="rect">
            <a:avLst/>
          </a:prstGeom>
          <a:solidFill>
            <a:srgbClr val="1F3B57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 lv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Do extreme Other-Reportables positioning extremes predict WTI returns?</a:t>
            </a:r>
          </a:p>
        </p:txBody>
      </p:sp>
      <p:sp>
        <p:nvSpPr>
          <p:cNvPr id="12" name="tx"/>
          <p:cNvSpPr txBox="1"/>
          <p:nvPr/>
        </p:nvSpPr>
        <p:spPr>
          <a:xfrm>
            <a:off x="548640" y="1828800"/>
            <a:ext cx="11064240" cy="10515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 lv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Calibri"/>
              </a:rPr>
              <a:t>Verdict:  WEAK &amp; ASYMMETRIC </a:t>
            </a:r>
            <a:r>
              <a:rPr lang="en-US" sz="2400" b="1" dirty="0">
                <a:solidFill>
                  <a:srgbClr val="C0392B"/>
                </a:solidFill>
                <a:latin typeface="Calibri"/>
              </a:rPr>
              <a:t>— only deep SHORT extremes show an edge.</a:t>
            </a:r>
          </a:p>
        </p:txBody>
      </p:sp>
      <p:sp>
        <p:nvSpPr>
          <p:cNvPr id="13" name="tx"/>
          <p:cNvSpPr txBox="1"/>
          <p:nvPr/>
        </p:nvSpPr>
        <p:spPr>
          <a:xfrm>
            <a:off x="548640" y="2880360"/>
            <a:ext cx="11064240" cy="32918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 lvl="0" indent="-182880" marL="228600">
              <a:spcAft>
                <a:spcPts val="400"/>
              </a:spcAft>
              <a:buFont typeface="Arial"/>
              <a:buChar char="•"/>
            </a:pPr>
            <a:r>
              <a:rPr lang="en-US" sz="1500" b="0" dirty="0">
                <a:solidFill>
                  <a:srgbClr val="1A1A1A"/>
                </a:solidFill>
                <a:latin typeface="Calibri"/>
              </a:rPr>
              <a:t>After extreme SHORT positioning (|Z|≥2): WTI bounces ~+4% over 2 weeks vs +1.1% base rate (78% hit) — but only marginally significant (bootstrap p=0.04) and gone by week 4.</a:t>
            </a:r>
          </a:p>
          <a:p>
            <a:pPr algn="l" lvl="0" indent="-182880" marL="228600">
              <a:spcAft>
                <a:spcPts val="400"/>
              </a:spcAft>
              <a:buFont typeface="Arial"/>
              <a:buChar char="•"/>
            </a:pPr>
            <a:r>
              <a:rPr lang="en-US" sz="1500" b="0" dirty="0">
                <a:solidFill>
                  <a:srgbClr val="1A1A1A"/>
                </a:solidFill>
                <a:latin typeface="Calibri"/>
              </a:rPr>
              <a:t>After extreme LONG positioning: no reliable edge — median returns are negative and nothing is significant.</a:t>
            </a:r>
          </a:p>
          <a:p>
            <a:pPr algn="l" lvl="0" indent="-182880" marL="228600">
              <a:spcAft>
                <a:spcPts val="400"/>
              </a:spcAft>
              <a:buFont typeface="Arial"/>
              <a:buChar char="•"/>
            </a:pPr>
            <a:r>
              <a:rPr lang="en-US" sz="1500" b="0" dirty="0">
                <a:solidFill>
                  <a:srgbClr val="1A1A1A"/>
                </a:solidFill>
                <a:latin typeface="Calibri"/>
              </a:rPr>
              <a:t>Confidence: LOW. Only 10 short / 4 long distinct episodes in the 2021–2026 window.</a:t>
            </a:r>
          </a:p>
          <a:p>
            <a:pPr algn="l" lvl="0" indent="-182880" marL="228600">
              <a:spcAft>
                <a:spcPts val="400"/>
              </a:spcAft>
              <a:buFont typeface="Arial"/>
              <a:buChar char="•"/>
            </a:pPr>
            <a:r>
              <a:rPr lang="en-US" sz="1500" b="1" dirty="0">
                <a:solidFill>
                  <a:srgbClr val="C0392B"/>
                </a:solidFill>
                <a:latin typeface="Calibri"/>
              </a:rPr>
              <a:t>Data flag: the supplied series is CFTC OTHER REPORTABLES, not Managed Money (verified vs CFTC). The whole deck is labelled accordingly.</a:t>
            </a:r>
          </a:p>
        </p:txBody>
      </p:sp>
      <p:sp>
        <p:nvSpPr>
          <p:cNvPr id="14" name="tx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 lvl="0">
              <a:spcAft>
                <a:spcPts val="400"/>
              </a:spcAft>
              <a:buNone/>
            </a:pPr>
            <a:r>
              <a:rPr lang="en-US" sz="1050" b="0" dirty="0">
                <a:solidFill>
                  <a:srgbClr val="5D6D7E"/>
                </a:solidFill>
                <a:latin typeface="Calibri"/>
              </a:rPr>
              <a:t>CFTC Disaggregated futures-only WTI · roll-adjusted front-month NYMEX CL · 2021–2026 · n=282 weeks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/>
          <p:cNvSpPr txBox="1"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F3B57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 lv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Data &amp; method</a:t>
            </a:r>
          </a:p>
        </p:txBody>
      </p:sp>
      <p:sp>
        <p:nvSpPr>
          <p:cNvPr id="16" name="tx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 lvl="0" indent="-182880" marL="228600">
              <a:spcAft>
                <a:spcPts val="400"/>
              </a:spcAft>
              <a:buFont typeface="Arial"/>
              <a:buChar char="•"/>
            </a:pPr>
            <a:r>
              <a:rPr lang="en-US" sz="1500" b="1" dirty="0">
                <a:solidFill>
                  <a:srgbClr val="1F3B57"/>
                </a:solidFill>
                <a:latin typeface="Calibri"/>
              </a:rPr>
              <a:t>Signal: </a:t>
            </a:r>
            <a:r>
              <a:rPr lang="en-US" sz="1500" b="0" dirty="0">
                <a:solidFill>
                  <a:srgbClr val="1A1A1A"/>
                </a:solidFill>
                <a:latin typeface="Calibri"/>
              </a:rPr>
              <a:t>CFTC Disaggregated, futures-only, WTI — "Other Reportables" NET. Identity confirmed by exact match to CFTC-published values on 5 test dates (it is NOT Managed Money, despite the brief’s framing).</a:t>
            </a:r>
          </a:p>
          <a:p>
            <a:pPr algn="l" lvl="0" indent="-182880" marL="228600">
              <a:spcAft>
                <a:spcPts val="400"/>
              </a:spcAft>
              <a:buFont typeface="Arial"/>
              <a:buChar char="•"/>
            </a:pPr>
            <a:r>
              <a:rPr lang="en-US" sz="1500" b="1" dirty="0">
                <a:solidFill>
                  <a:srgbClr val="1F3B57"/>
                </a:solidFill>
                <a:latin typeface="Calibri"/>
              </a:rPr>
              <a:t>Price: </a:t>
            </a:r>
            <a:r>
              <a:rPr lang="en-US" sz="1500" b="0" dirty="0">
                <a:solidFill>
                  <a:srgbClr val="1A1A1A"/>
                </a:solidFill>
                <a:latin typeface="Calibri"/>
              </a:rPr>
              <a:t>roll-adjusted continuous front-month WTI (NYMEX CL), built from local 1-minute data (65 clean monthly rolls). Window 2021–2026 — local WTI starts 2021; chosen over a Brent proxy.</a:t>
            </a:r>
          </a:p>
          <a:p>
            <a:pPr algn="l" lvl="0" indent="-182880" marL="228600">
              <a:spcAft>
                <a:spcPts val="400"/>
              </a:spcAft>
              <a:buFont typeface="Arial"/>
              <a:buChar char="•"/>
            </a:pPr>
            <a:r>
              <a:rPr lang="en-US" sz="1500" b="1" dirty="0">
                <a:solidFill>
                  <a:srgbClr val="1F3B57"/>
                </a:solidFill>
                <a:latin typeface="Calibri"/>
              </a:rPr>
              <a:t>Look-ahead fix: </a:t>
            </a:r>
            <a:r>
              <a:rPr lang="en-US" sz="1500" b="0" dirty="0">
                <a:solidFill>
                  <a:srgbClr val="1A1A1A"/>
                </a:solidFill>
                <a:latin typeface="Calibri"/>
              </a:rPr>
              <a:t>every forward return starts from the first WTI close ON/AFTER the Friday release date — never the Tuesday "as-of" date (~3-day reporting lag).</a:t>
            </a:r>
          </a:p>
          <a:p>
            <a:pPr algn="l" lvl="0" indent="-182880" marL="228600">
              <a:spcAft>
                <a:spcPts val="400"/>
              </a:spcAft>
              <a:buFont typeface="Arial"/>
              <a:buChar char="•"/>
            </a:pPr>
            <a:r>
              <a:rPr lang="en-US" sz="1500" b="1" dirty="0">
                <a:solidFill>
                  <a:srgbClr val="1F3B57"/>
                </a:solidFill>
                <a:latin typeface="Calibri"/>
              </a:rPr>
              <a:t>Extremes: </a:t>
            </a:r>
            <a:r>
              <a:rPr lang="en-US" sz="1500" b="0" dirty="0">
                <a:solidFill>
                  <a:srgbClr val="1A1A1A"/>
                </a:solidFill>
                <a:latin typeface="Calibri"/>
              </a:rPr>
              <a:t>52-week ROLLING z-score (no full-sample look-ahead); threshold |Z|≥2. Long and short extremes analysed separately (they behave differently).</a:t>
            </a:r>
          </a:p>
          <a:p>
            <a:pPr algn="l" lvl="0" indent="-182880" marL="228600">
              <a:spcAft>
                <a:spcPts val="400"/>
              </a:spcAft>
              <a:buFont typeface="Arial"/>
              <a:buChar char="•"/>
            </a:pPr>
            <a:r>
              <a:rPr lang="en-US" sz="1500" b="1" dirty="0">
                <a:solidFill>
                  <a:srgbClr val="1F3B57"/>
                </a:solidFill>
                <a:latin typeface="Calibri"/>
              </a:rPr>
              <a:t>Significance: </a:t>
            </a:r>
            <a:r>
              <a:rPr lang="en-US" sz="1500" b="0" dirty="0">
                <a:solidFill>
                  <a:srgbClr val="1A1A1A"/>
                </a:solidFill>
                <a:latin typeface="Calibri"/>
              </a:rPr>
              <a:t>conditional returns vs the UNCONDITIONAL base-rate (not zero); Newey-West (HAC) standard errors for overlapping windows; block-bootstrap p-values for clustering.</a:t>
            </a:r>
          </a:p>
          <a:p>
            <a:pPr algn="l" lvl="0" indent="-182880" marL="228600">
              <a:spcAft>
                <a:spcPts val="400"/>
              </a:spcAft>
              <a:buFont typeface="Arial"/>
              <a:buChar char="•"/>
            </a:pPr>
            <a:r>
              <a:rPr lang="en-US" sz="1500" b="1" dirty="0">
                <a:solidFill>
                  <a:srgbClr val="1F3B57"/>
                </a:solidFill>
                <a:latin typeface="Calibri"/>
              </a:rPr>
              <a:t>Limitation: </a:t>
            </a:r>
            <a:r>
              <a:rPr lang="en-US" sz="1500" b="0" dirty="0">
                <a:solidFill>
                  <a:srgbClr val="1A1A1A"/>
                </a:solidFill>
                <a:latin typeface="Calibri"/>
              </a:rPr>
              <a:t>open interest is not in the local file, so signals use net-level rolling Z (no %-of-OI normalisation).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"/>
          <p:cNvSpPr txBox="1"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F3B57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 lv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Extreme positioning is rare and clustered</a:t>
            </a:r>
          </a:p>
        </p:txBody>
      </p:sp>
      <p:pic>
        <p:nvPicPr>
          <p:cNvPr id="18" name="chart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316" y="960120"/>
            <a:ext cx="8912888" cy="4160519"/>
          </a:xfrm>
          <a:prstGeom prst="rect">
            <a:avLst/>
          </a:prstGeom>
        </p:spPr>
      </p:pic>
      <p:sp>
        <p:nvSpPr>
          <p:cNvPr id="19" name="tx"/>
          <p:cNvSpPr txBox="1"/>
          <p:nvPr/>
        </p:nvSpPr>
        <p:spPr>
          <a:xfrm>
            <a:off x="457200" y="5257800"/>
            <a:ext cx="11247120" cy="12801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 lvl="0" indent="-182880" marL="228600">
              <a:spcAft>
                <a:spcPts val="400"/>
              </a:spcAft>
              <a:buFont typeface="Arial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Calibri"/>
              </a:rPr>
              <a:t>Extreme LONG (Z≥+2): 8 weeks → 4 distinct episodes (late-2023, early-2026).   Extreme SHORT (Z≤−2): 18 weeks → 10 distinct episodes (2021–2026).</a:t>
            </a:r>
          </a:p>
          <a:p>
            <a:pPr algn="l" lvl="0" indent="-182880" marL="228600">
              <a:spcAft>
                <a:spcPts val="400"/>
              </a:spcAft>
              <a:buFont typeface="Arial"/>
              <a:buChar char="•"/>
            </a:pPr>
            <a:r>
              <a:rPr lang="en-US" sz="1300" b="0" dirty="0">
                <a:solidFill>
                  <a:srgbClr val="5D6D7E"/>
                </a:solidFill>
                <a:latin typeface="Calibri"/>
              </a:rPr>
              <a:t>The largest historical extremes — the 2018 long build and the 2020 crash (all-time OR-net max) — pre-date 2021 and are excluded by the local-WTI window.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/>
          <p:cNvSpPr txBox="1"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F3B57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 lv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Forward returns: shorts bounce, longs don’t</a:t>
            </a:r>
          </a:p>
        </p:txBody>
      </p:sp>
      <p:pic>
        <p:nvPicPr>
          <p:cNvPr id="21" name="chart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138"/>
            <a:ext cx="6766560" cy="3567483"/>
          </a:xfrm>
          <a:prstGeom prst="rect">
            <a:avLst/>
          </a:prstGeom>
        </p:spPr>
      </p:pic>
      <p:pic>
        <p:nvPicPr>
          <p:cNvPr id="22" name="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433317"/>
            <a:ext cx="4937760" cy="1705366"/>
          </a:xfrm>
          <a:prstGeom prst="rect">
            <a:avLst/>
          </a:prstGeom>
        </p:spPr>
      </p:pic>
      <p:sp>
        <p:nvSpPr>
          <p:cNvPr id="23" name="tx"/>
          <p:cNvSpPr txBox="1"/>
          <p:nvPr/>
        </p:nvSpPr>
        <p:spPr>
          <a:xfrm>
            <a:off x="7086600" y="3749039"/>
            <a:ext cx="4937760" cy="27432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 lvl="0" indent="-182880" marL="228600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1E8449"/>
                </a:solidFill>
                <a:latin typeface="Calibri"/>
              </a:rPr>
              <a:t>SHORT extremes → </a:t>
            </a:r>
            <a:r>
              <a:rPr lang="en-US" sz="1300" b="0" dirty="0">
                <a:solidFill>
                  <a:srgbClr val="1A1A1A"/>
                </a:solidFill>
                <a:latin typeface="Calibri"/>
              </a:rPr>
              <a:t>+2.1% / +4.0% / +4.1% at 1/2/4wk. Best at 2wk: +2.9% above base rate, HAC t=2.3, bootstrap p=0.04, 78% hit.</a:t>
            </a:r>
          </a:p>
          <a:p>
            <a:pPr algn="l" lvl="0" indent="-182880" marL="228600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C0392B"/>
                </a:solidFill>
                <a:latin typeface="Calibri"/>
              </a:rPr>
              <a:t>LONG extremes → </a:t>
            </a:r>
            <a:r>
              <a:rPr lang="en-US" sz="1300" b="0" dirty="0">
                <a:solidFill>
                  <a:srgbClr val="1A1A1A"/>
                </a:solidFill>
                <a:latin typeface="Calibri"/>
              </a:rPr>
              <a:t>means positive but outlier-driven; medians negative (−0.6/−4.8/−6.1%), hit ≤38%, none significant.</a:t>
            </a:r>
          </a:p>
          <a:p>
            <a:pPr algn="l" lvl="0" indent="-182880" marL="228600">
              <a:spcAft>
                <a:spcPts val="400"/>
              </a:spcAft>
              <a:buFont typeface="Arial"/>
              <a:buChar char="•"/>
            </a:pPr>
            <a:r>
              <a:rPr lang="en-US" sz="1250" b="1" dirty="0">
                <a:solidFill>
                  <a:srgbClr val="5D6D7E"/>
                </a:solidFill>
                <a:latin typeface="Calibri"/>
              </a:rPr>
              <a:t>Only the 2-week short cell is nominally significant — and it does NOT survive a 6-test multiple-comparison correction.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"/>
          <p:cNvSpPr txBox="1"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F3B57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 lv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Conclusion &amp; caveats</a:t>
            </a:r>
          </a:p>
        </p:txBody>
      </p:sp>
      <p:pic>
        <p:nvPicPr>
          <p:cNvPr id="25" name="chart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48253"/>
            <a:ext cx="5394960" cy="2904294"/>
          </a:xfrm>
          <a:prstGeom prst="rect">
            <a:avLst/>
          </a:prstGeom>
        </p:spPr>
      </p:pic>
      <p:sp>
        <p:nvSpPr>
          <p:cNvPr id="26" name="tx"/>
          <p:cNvSpPr txBox="1"/>
          <p:nvPr/>
        </p:nvSpPr>
        <p:spPr>
          <a:xfrm>
            <a:off x="457200" y="1005840"/>
            <a:ext cx="6035040" cy="53949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 lvl="0" indent="-182880" marL="228600">
              <a:spcAft>
                <a:spcPts val="400"/>
              </a:spcAft>
              <a:buFont typeface="Arial"/>
              <a:buChar char="•"/>
            </a:pPr>
            <a:r>
              <a:rPr lang="en-US" sz="1450" b="1" dirty="0">
                <a:solidFill>
                  <a:srgbClr val="1F3B57"/>
                </a:solidFill>
                <a:latin typeface="Calibri"/>
              </a:rPr>
              <a:t>Verdict: </a:t>
            </a:r>
            <a:r>
              <a:rPr lang="en-US" sz="1450" b="0" dirty="0">
                <a:solidFill>
                  <a:srgbClr val="1A1A1A"/>
                </a:solidFill>
                <a:latin typeface="Calibri"/>
              </a:rPr>
              <a:t>a weak, asymmetric contrarian tilt — deep SHORT extremes precede a short-lived WTI bounce; LONG extremes carry no edge.</a:t>
            </a:r>
          </a:p>
          <a:p>
            <a:pPr algn="l" lvl="0" indent="-182880" marL="228600">
              <a:spcAft>
                <a:spcPts val="400"/>
              </a:spcAft>
              <a:buFont typeface="Arial"/>
              <a:buChar char="•"/>
            </a:pPr>
            <a:r>
              <a:rPr lang="en-US" sz="1450" b="1" dirty="0">
                <a:solidFill>
                  <a:srgbClr val="1F3B57"/>
                </a:solidFill>
                <a:latin typeface="Calibri"/>
              </a:rPr>
              <a:t>Tradeable? </a:t>
            </a:r>
            <a:r>
              <a:rPr lang="en-US" sz="1450" b="0" dirty="0">
                <a:solidFill>
                  <a:srgbClr val="1A1A1A"/>
                </a:solidFill>
                <a:latin typeface="Calibri"/>
              </a:rPr>
              <a:t>the short-signal move is ~70% POST-release (plausibly tradeable, see chart); the long "move" is ~60% PRE-release (untradeable anyway). Costs not modelled.</a:t>
            </a:r>
          </a:p>
          <a:p>
            <a:pPr algn="l" lvl="0" indent="-182880" marL="228600">
              <a:spcAft>
                <a:spcPts val="400"/>
              </a:spcAft>
              <a:buFont typeface="Arial"/>
              <a:buChar char="•"/>
            </a:pPr>
            <a:r>
              <a:rPr lang="en-US" sz="1450" b="1" dirty="0">
                <a:solidFill>
                  <a:srgbClr val="1F3B57"/>
                </a:solidFill>
                <a:latin typeface="Calibri"/>
              </a:rPr>
              <a:t>Fragile: </a:t>
            </a:r>
            <a:r>
              <a:rPr lang="en-US" sz="1450" b="0" dirty="0">
                <a:solidFill>
                  <a:srgbClr val="1A1A1A"/>
                </a:solidFill>
                <a:latin typeface="Calibri"/>
              </a:rPr>
              <a:t>tiny episode counts; the edge fades by week 4, weakens under a looser decile threshold, and fails multiple-testing. Suggestive, not bankable.</a:t>
            </a:r>
          </a:p>
          <a:p>
            <a:pPr algn="l" lvl="0" indent="-182880" marL="228600">
              <a:spcAft>
                <a:spcPts val="400"/>
              </a:spcAft>
              <a:buFont typeface="Arial"/>
              <a:buChar char="•"/>
            </a:pPr>
            <a:r>
              <a:rPr lang="en-US" sz="1450" b="1" dirty="0">
                <a:solidFill>
                  <a:srgbClr val="1F3B57"/>
                </a:solidFill>
                <a:latin typeface="Calibri"/>
              </a:rPr>
              <a:t>Category: </a:t>
            </a:r>
            <a:r>
              <a:rPr lang="en-US" sz="1450" b="0" dirty="0">
                <a:solidFill>
                  <a:srgbClr val="1A1A1A"/>
                </a:solidFill>
                <a:latin typeface="Calibri"/>
              </a:rPr>
              <a:t>Other Reportables (smaller funds / locals / wealthy individuals) — a weaker behavioural rationale than Managed Money.</a:t>
            </a:r>
          </a:p>
          <a:p>
            <a:pPr algn="l" lvl="0" indent="-182880" marL="228600">
              <a:spcAft>
                <a:spcPts val="400"/>
              </a:spcAft>
              <a:buFont typeface="Arial"/>
              <a:buChar char="•"/>
            </a:pPr>
            <a:r>
              <a:rPr lang="en-US" sz="1450" b="1" dirty="0">
                <a:solidFill>
                  <a:srgbClr val="1F3B57"/>
                </a:solidFill>
                <a:latin typeface="Calibri"/>
              </a:rPr>
              <a:t>To strengthen: </a:t>
            </a:r>
            <a:r>
              <a:rPr lang="en-US" sz="1450" b="0" dirty="0">
                <a:solidFill>
                  <a:srgbClr val="1A1A1A"/>
                </a:solidFill>
                <a:latin typeface="Calibri"/>
              </a:rPr>
              <a:t>extend to 2016–2026 with true WTI history (not in local Data) to recover the 2018/2020 episodes; add OI normalisation.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B57"/>
      </a:dk2>
      <a:lt2>
        <a:srgbClr val="EEECE1"/>
      </a:lt2>
      <a:accent1>
        <a:srgbClr val="1F3B57"/>
      </a:accent1>
      <a:accent2>
        <a:srgbClr val="C0392B"/>
      </a:accent2>
      <a:accent3>
        <a:srgbClr val="1E8449"/>
      </a:accent3>
      <a:accent4>
        <a:srgbClr val="B9770E"/>
      </a:accent4>
      <a:accent5>
        <a:srgbClr val="5D6D7E"/>
      </a:accent5>
      <a:accent6>
        <a:srgbClr val="8E44AD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