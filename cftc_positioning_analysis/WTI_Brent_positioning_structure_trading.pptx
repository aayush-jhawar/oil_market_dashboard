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>
          <a:solidFill>
            <a:schemeClr val="tx1"/>
          </a:solidFill>
          <a:latin typeface="+mj-lt"/>
        </a:defRPr>
      </a:lvl1pPr>
    </p:titleStyle>
    <p:bodyStyle>
      <a:lvl1pPr>
        <a:defRPr sz="1800">
          <a:solidFill>
            <a:schemeClr val="tx1"/>
          </a:solidFill>
          <a:latin typeface="+mn-lt"/>
        </a:defRPr>
      </a:lvl1pPr>
    </p:bodyStyle>
    <p:otherStyle>
      <a:lvl1pPr>
        <a:defRPr sz="1800">
          <a:solidFill>
            <a:schemeClr val="tx1"/>
          </a:solidFill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"/>
          <p:cNvSpPr txBox="1"/>
          <p:nvPr/>
        </p:nvSpPr>
        <p:spPr>
          <a:xfrm>
            <a:off x="0" y="0"/>
            <a:ext cx="12192000" cy="1554480"/>
          </a:xfrm>
          <a:prstGeom prst="rect">
            <a:avLst/>
          </a:prstGeom>
          <a:solidFill>
            <a:srgbClr val="16324F"/>
          </a:solidFill>
        </p:spPr>
        <p:txBody>
          <a:bodyPr wrap="square" lIns="91440" tIns="50000" rIns="91440" bIns="50000" anchor="ctr">
            <a:normAutofit/>
          </a:bodyPr>
          <a:lstStyle/>
          <a:p>
            <a:pPr algn="l">
              <a:spcAft>
                <a:spcPts val="44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Calibri"/>
              </a:rPr>
              <a:t>Crude positioning, structure, and what actually trades</a:t>
            </a:r>
          </a:p>
          <a:p>
            <a:pPr algn="l">
              <a:spcAft>
                <a:spcPts val="440"/>
              </a:spcAft>
              <a:buNone/>
            </a:pPr>
            <a:r>
              <a:rPr lang="en-US" sz="1250" b="0" dirty="0">
                <a:solidFill>
                  <a:srgbClr val="D9E2EA"/>
                </a:solidFill>
                <a:latin typeface="Calibri"/>
              </a:rPr>
              <a:t>WTI and Brent  |  CFTC Managed Money + term structure</a:t>
            </a:r>
          </a:p>
        </p:txBody>
      </p:sp>
      <p:sp>
        <p:nvSpPr>
          <p:cNvPr id="12" name="t"/>
          <p:cNvSpPr txBox="1"/>
          <p:nvPr/>
        </p:nvSpPr>
        <p:spPr>
          <a:xfrm>
            <a:off x="502920" y="1783080"/>
            <a:ext cx="11247120" cy="960120"/>
          </a:xfrm>
          <a:prstGeom prst="rect">
            <a:avLst/>
          </a:prstGeom>
          <a:noFill/>
        </p:spPr>
        <p:txBody>
          <a:bodyPr wrap="square" lIns="91440" tIns="50000" rIns="91440" bIns="5000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440"/>
              </a:spcAft>
              <a:buNone/>
            </a:pPr>
            <a:r>
              <a:rPr lang="en-US" sz="1700" b="0" dirty="0">
                <a:solidFill>
                  <a:srgbClr val="1A1A1A"/>
                </a:solidFill>
                <a:latin typeface="Calibri"/>
              </a:rPr>
              <a:t>Positioning is a </a:t>
            </a:r>
            <a:r>
              <a:rPr lang="en-US" sz="1700" b="1" dirty="0">
                <a:solidFill>
                  <a:srgbClr val="B07A1E"/>
                </a:solidFill>
                <a:latin typeface="Calibri"/>
              </a:rPr>
              <a:t>momentum / context</a:t>
            </a:r>
            <a:r>
              <a:rPr lang="en-US" sz="1700" b="0" dirty="0">
                <a:solidFill>
                  <a:srgbClr val="1A1A1A"/>
                </a:solidFill>
                <a:latin typeface="Calibri"/>
              </a:rPr>
              <a:t> gauge, not a contrarian timing signal. The durable, tradeable edge is in the </a:t>
            </a:r>
            <a:r>
              <a:rPr lang="en-US" sz="1700" b="1" dirty="0">
                <a:solidFill>
                  <a:srgbClr val="1E8B54"/>
                </a:solidFill>
                <a:latin typeface="Calibri"/>
              </a:rPr>
              <a:t>term structure</a:t>
            </a:r>
            <a:r>
              <a:rPr lang="en-US" sz="1700" b="0" dirty="0">
                <a:solidFill>
                  <a:srgbClr val="1A1A1A"/>
                </a:solidFill>
                <a:latin typeface="Calibri"/>
              </a:rPr>
              <a:t> and structural COT columns.</a:t>
            </a:r>
          </a:p>
        </p:txBody>
      </p:sp>
      <p:sp>
        <p:nvSpPr>
          <p:cNvPr id="13" name="t"/>
          <p:cNvSpPr txBox="1"/>
          <p:nvPr/>
        </p:nvSpPr>
        <p:spPr>
          <a:xfrm>
            <a:off x="502920" y="2880360"/>
            <a:ext cx="11247120" cy="3017520"/>
          </a:xfrm>
          <a:prstGeom prst="rect">
            <a:avLst/>
          </a:prstGeom>
          <a:noFill/>
        </p:spPr>
        <p:txBody>
          <a:bodyPr wrap="square" lIns="91440" tIns="50000" rIns="91440" bIns="50000" anchor="t">
            <a:normAutofit/>
          </a:bodyPr>
          <a:lstStyle/>
          <a:p>
            <a:pPr algn="l" indent="-210000" marL="255000">
              <a:spcAft>
                <a:spcPts val="440"/>
              </a:spcAft>
              <a:buFont typeface="Arial"/>
              <a:buChar char="•"/>
            </a:pPr>
            <a:r>
              <a:rPr lang="en-US" sz="1350" b="0" dirty="0">
                <a:solidFill>
                  <a:srgbClr val="1A1A1A"/>
                </a:solidFill>
                <a:latin typeface="Calibri"/>
              </a:rPr>
              <a:t>Managed Money is coincident and trend-following (it adds as price rises). Its net extremes give no robust forward edge, and the apparent edges do not survive on Brent.</a:t>
            </a:r>
          </a:p>
          <a:p>
            <a:pPr algn="l" indent="-210000" marL="255000">
              <a:spcAft>
                <a:spcPts val="440"/>
              </a:spcAft>
              <a:buFont typeface="Arial"/>
              <a:buChar char="•"/>
            </a:pPr>
            <a:r>
              <a:rPr lang="en-US" sz="1350" b="1" dirty="0">
                <a:solidFill>
                  <a:srgbClr val="1E8B54"/>
                </a:solidFill>
                <a:latin typeface="Calibri"/>
              </a:rPr>
              <a:t>The one robust, cross-validated price signal is the curve: deep backwardation is a forward-return headwind (contango is too rare to trade).</a:t>
            </a:r>
          </a:p>
          <a:p>
            <a:pPr algn="l" indent="-210000" marL="255000">
              <a:spcAft>
                <a:spcPts val="440"/>
              </a:spcAft>
              <a:buFont typeface="Arial"/>
              <a:buChar char="•"/>
            </a:pPr>
            <a:r>
              <a:rPr lang="en-US" sz="1350" b="0" dirty="0">
                <a:solidFill>
                  <a:srgbClr val="1A1A1A"/>
                </a:solidFill>
                <a:latin typeface="Calibri"/>
              </a:rPr>
              <a:t>Structural columns add real risk information: the short side is now the most crowded in the sample (squeeze-prone), and rising price on rising open interest is the best trend-continuation tell.</a:t>
            </a:r>
          </a:p>
          <a:p>
            <a:pPr algn="l" indent="-210000" marL="255000">
              <a:spcAft>
                <a:spcPts val="440"/>
              </a:spcAft>
              <a:buFont typeface="Arial"/>
              <a:buChar char="•"/>
            </a:pPr>
            <a:r>
              <a:rPr lang="en-US" sz="1350" b="0" dirty="0">
                <a:solidFill>
                  <a:srgbClr val="1A1A1A"/>
                </a:solidFill>
                <a:latin typeface="Calibri"/>
              </a:rPr>
              <a:t>Use all of this as an overlay and risk filter on your main factors, never as a standalone trigger.</a:t>
            </a:r>
          </a:p>
        </p:txBody>
      </p:sp>
      <p:sp>
        <p:nvSpPr>
          <p:cNvPr id="14" name="t"/>
          <p:cNvSpPr txBox="1"/>
          <p:nvPr/>
        </p:nvSpPr>
        <p:spPr>
          <a:xfrm>
            <a:off x="502920" y="5989320"/>
            <a:ext cx="11247120" cy="548640"/>
          </a:xfrm>
          <a:prstGeom prst="rect">
            <a:avLst/>
          </a:prstGeom>
          <a:solidFill>
            <a:srgbClr val="F2F5F7"/>
          </a:solidFill>
        </p:spPr>
        <p:txBody>
          <a:bodyPr wrap="square" lIns="91440" tIns="50000" rIns="91440" bIns="50000" anchor="t">
            <a:normAutofit/>
          </a:bodyPr>
          <a:lstStyle/>
          <a:p>
            <a:pPr algn="l">
              <a:spcAft>
                <a:spcPts val="440"/>
              </a:spcAft>
              <a:buNone/>
            </a:pPr>
            <a:r>
              <a:rPr lang="en-US" sz="1000" b="0" dirty="0">
                <a:solidFill>
                  <a:srgbClr val="5D6D7E"/>
                </a:solidFill>
                <a:latin typeface="Calibri"/>
              </a:rPr>
              <a:t>WTI 2021-2026, Brent 2016-2026. De-rolled returns; no look-ahead; validated by bootstrap and cross-instrument replication.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"/>
          <p:cNvSpPr txBox="1"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6324F"/>
          </a:solidFill>
        </p:spPr>
        <p:txBody>
          <a:bodyPr wrap="square" lIns="91440" tIns="50000" rIns="91440" bIns="50000" anchor="ctr">
            <a:normAutofit/>
          </a:bodyPr>
          <a:lstStyle/>
          <a:p>
            <a:pPr algn="l">
              <a:spcAft>
                <a:spcPts val="44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Calibri"/>
              </a:rPr>
              <a:t>How we tested it, and how we made it credible</a:t>
            </a:r>
          </a:p>
        </p:txBody>
      </p:sp>
      <p:sp>
        <p:nvSpPr>
          <p:cNvPr id="16" name="t"/>
          <p:cNvSpPr txBox="1"/>
          <p:nvPr/>
        </p:nvSpPr>
        <p:spPr>
          <a:xfrm>
            <a:off x="502920" y="1005840"/>
            <a:ext cx="11247120" cy="5440680"/>
          </a:xfrm>
          <a:prstGeom prst="rect">
            <a:avLst/>
          </a:prstGeom>
          <a:noFill/>
        </p:spPr>
        <p:txBody>
          <a:bodyPr wrap="square" lIns="91440" tIns="50000" rIns="91440" bIns="50000" anchor="t">
            <a:normAutofit/>
          </a:bodyPr>
          <a:lstStyle/>
          <a:p>
            <a:pPr algn="l" indent="-210000" marL="255000">
              <a:spcAft>
                <a:spcPts val="440"/>
              </a:spcAft>
              <a:buFont typeface="Arial"/>
              <a:buChar char="•"/>
            </a:pPr>
            <a:r>
              <a:rPr lang="en-US" sz="1350" b="1" dirty="0">
                <a:solidFill>
                  <a:srgbClr val="16324F"/>
                </a:solidFill>
                <a:latin typeface="Calibri"/>
              </a:rPr>
              <a:t>Instruments. </a:t>
            </a:r>
            <a:r>
              <a:rPr lang="en-US" sz="1350" b="0" dirty="0">
                <a:solidFill>
                  <a:srgbClr val="1A1A1A"/>
                </a:solidFill>
                <a:latin typeface="Calibri"/>
              </a:rPr>
              <a:t>WTI (2021-2026) and Brent (2016-2026), local price curves, de-rolled so contract rolls do not create fake jumps.</a:t>
            </a:r>
          </a:p>
          <a:p>
            <a:pPr algn="l" indent="-210000" marL="255000">
              <a:spcAft>
                <a:spcPts val="440"/>
              </a:spcAft>
              <a:buFont typeface="Arial"/>
              <a:buChar char="•"/>
            </a:pPr>
            <a:r>
              <a:rPr lang="en-US" sz="1350" b="1" dirty="0">
                <a:solidFill>
                  <a:srgbClr val="16324F"/>
                </a:solidFill>
                <a:latin typeface="Calibri"/>
              </a:rPr>
              <a:t>Positioning. </a:t>
            </a:r>
            <a:r>
              <a:rPr lang="en-US" sz="1350" b="0" dirty="0">
                <a:solidFill>
                  <a:srgbClr val="1A1A1A"/>
                </a:solidFill>
                <a:latin typeface="Calibri"/>
              </a:rPr>
              <a:t>CFTC Managed Money net, plus the structural columns: gross positions, trader counts, open interest, weekly flows. Brent positioning uses the CFTC NYMEX Brent Last Day proxy (ICE's own COT is gated).</a:t>
            </a:r>
          </a:p>
          <a:p>
            <a:pPr algn="l" indent="-210000" marL="255000">
              <a:spcAft>
                <a:spcPts val="440"/>
              </a:spcAft>
              <a:buFont typeface="Arial"/>
              <a:buChar char="•"/>
            </a:pPr>
            <a:r>
              <a:rPr lang="en-US" sz="1350" b="1" dirty="0">
                <a:solidFill>
                  <a:srgbClr val="16324F"/>
                </a:solidFill>
                <a:latin typeface="Calibri"/>
              </a:rPr>
              <a:t>Factors and returns. </a:t>
            </a:r>
            <a:r>
              <a:rPr lang="en-US" sz="1350" b="0" dirty="0">
                <a:solidFill>
                  <a:srgbClr val="1A1A1A"/>
                </a:solidFill>
                <a:latin typeface="Calibri"/>
              </a:rPr>
              <a:t>all known at the Friday close; forward returns at 1, 2 and 4 weeks versus the base rate.</a:t>
            </a:r>
          </a:p>
          <a:p>
            <a:pPr algn="l" indent="-210000" marL="255000">
              <a:spcAft>
                <a:spcPts val="440"/>
              </a:spcAft>
              <a:buFont typeface="Arial"/>
              <a:buChar char="•"/>
            </a:pPr>
            <a:r>
              <a:rPr lang="en-US" sz="1350" b="1" dirty="0">
                <a:solidFill>
                  <a:srgbClr val="16324F"/>
                </a:solidFill>
                <a:latin typeface="Calibri"/>
              </a:rPr>
              <a:t>Validation. </a:t>
            </a:r>
            <a:r>
              <a:rPr lang="en-US" sz="1350" b="0" dirty="0">
                <a:solidFill>
                  <a:srgbClr val="1A1A1A"/>
                </a:solidFill>
                <a:latin typeface="Calibri"/>
              </a:rPr>
              <a:t>block-bootstrap p-values, and replication across two independent crude markets. Single-market results are treated as fragile.</a:t>
            </a:r>
          </a:p>
          <a:p>
            <a:pPr algn="l" indent="-210000" marL="255000">
              <a:spcAft>
                <a:spcPts val="440"/>
              </a:spcAft>
              <a:buFont typeface="Arial"/>
              <a:buChar char="•"/>
            </a:pPr>
            <a:r>
              <a:rPr lang="en-US" sz="1350" b="1" dirty="0">
                <a:solidFill>
                  <a:srgbClr val="16324F"/>
                </a:solidFill>
                <a:latin typeface="Calibri"/>
              </a:rPr>
              <a:t>Cross-check. </a:t>
            </a:r>
            <a:r>
              <a:rPr lang="en-US" sz="1350" b="0" dirty="0">
                <a:solidFill>
                  <a:srgbClr val="1A1A1A"/>
                </a:solidFill>
                <a:latin typeface="Calibri"/>
              </a:rPr>
              <a:t>an independent study on 2019-2021 CME data reached similar structural conclusions; where our newer, longer sample disagrees (e.g. the Other-Reportables contrarian tilt), we flag it as regime-specific rather than durable.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"/>
          <p:cNvSpPr txBox="1"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6324F"/>
          </a:solidFill>
        </p:spPr>
        <p:txBody>
          <a:bodyPr wrap="square" lIns="91440" tIns="50000" rIns="91440" bIns="50000" anchor="ctr">
            <a:normAutofit/>
          </a:bodyPr>
          <a:lstStyle/>
          <a:p>
            <a:pPr algn="l">
              <a:spcAft>
                <a:spcPts val="44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Calibri"/>
              </a:rPr>
              <a:t>Positioning is coincident, and its edges do not generalize</a:t>
            </a:r>
          </a:p>
        </p:txBody>
      </p:sp>
      <p:pic>
        <p:nvPicPr>
          <p:cNvPr id="18" name="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56526"/>
            <a:ext cx="7040879" cy="3664987"/>
          </a:xfrm>
          <a:prstGeom prst="rect">
            <a:avLst/>
          </a:prstGeom>
        </p:spPr>
      </p:pic>
      <p:sp>
        <p:nvSpPr>
          <p:cNvPr id="19" name="t"/>
          <p:cNvSpPr txBox="1"/>
          <p:nvPr/>
        </p:nvSpPr>
        <p:spPr>
          <a:xfrm>
            <a:off x="7452360" y="1097280"/>
            <a:ext cx="4526280" cy="5120640"/>
          </a:xfrm>
          <a:prstGeom prst="rect">
            <a:avLst/>
          </a:prstGeom>
          <a:noFill/>
        </p:spPr>
        <p:txBody>
          <a:bodyPr wrap="square" lIns="91440" tIns="50000" rIns="91440" bIns="50000" anchor="t">
            <a:normAutofit/>
          </a:bodyPr>
          <a:lstStyle/>
          <a:p>
            <a:pPr algn="l">
              <a:spcAft>
                <a:spcPts val="440"/>
              </a:spcAft>
              <a:buNone/>
            </a:pPr>
            <a:r>
              <a:rPr lang="en-US" sz="1450" b="1" dirty="0">
                <a:solidFill>
                  <a:srgbClr val="16324F"/>
                </a:solidFill>
                <a:latin typeface="Calibri"/>
              </a:rPr>
              <a:t>Momentum, not contrarian.</a:t>
            </a:r>
          </a:p>
          <a:p>
            <a:pPr algn="l" indent="-210000" marL="255000">
              <a:spcAft>
                <a:spcPts val="440"/>
              </a:spcAft>
              <a:buFont typeface="Arial"/>
              <a:buChar char="•"/>
            </a:pPr>
            <a:r>
              <a:rPr lang="en-US" sz="1320" b="0" dirty="0">
                <a:solidFill>
                  <a:srgbClr val="1A1A1A"/>
                </a:solidFill>
                <a:latin typeface="Calibri"/>
              </a:rPr>
              <a:t>Managed Money adds length as price rises (change in net vs same-week return +0.19, p=0.002). It confirms moves, it does not predict them.</a:t>
            </a:r>
          </a:p>
          <a:p>
            <a:pPr algn="l" indent="-210000" marL="255000">
              <a:spcAft>
                <a:spcPts val="440"/>
              </a:spcAft>
              <a:buFont typeface="Arial"/>
              <a:buChar char="•"/>
            </a:pPr>
            <a:r>
              <a:rPr lang="en-US" sz="1320" b="0" dirty="0">
                <a:solidFill>
                  <a:srgbClr val="1A1A1A"/>
                </a:solidFill>
                <a:latin typeface="Calibri"/>
              </a:rPr>
              <a:t>Its extremes, staleness and flow looked tradeable on WTI 2021-2026 but collapse to the base rate on Brent.</a:t>
            </a:r>
          </a:p>
          <a:p>
            <a:pPr algn="l" indent="-210000" marL="255000">
              <a:spcAft>
                <a:spcPts val="440"/>
              </a:spcAft>
              <a:buFont typeface="Arial"/>
              <a:buChar char="•"/>
            </a:pPr>
            <a:r>
              <a:rPr lang="en-US" sz="1320" b="1" dirty="0">
                <a:solidFill>
                  <a:srgbClr val="C0392B"/>
                </a:solidFill>
                <a:latin typeface="Calibri"/>
              </a:rPr>
              <a:t>The Other-Reportables "contrarian" tilt seen in 2019-2021 does not hold out of sample (it turns positive on WTI 2021-2026). Category signals are regime-specific.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"/>
          <p:cNvSpPr txBox="1"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6324F"/>
          </a:solidFill>
        </p:spPr>
        <p:txBody>
          <a:bodyPr wrap="square" lIns="91440" tIns="50000" rIns="91440" bIns="50000" anchor="ctr">
            <a:normAutofit/>
          </a:bodyPr>
          <a:lstStyle/>
          <a:p>
            <a:pPr algn="l">
              <a:spcAft>
                <a:spcPts val="44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Calibri"/>
              </a:rPr>
              <a:t>The one durable price signal: deep backwardation is a headwind</a:t>
            </a:r>
          </a:p>
        </p:txBody>
      </p:sp>
      <p:pic>
        <p:nvPicPr>
          <p:cNvPr id="21" name="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9143"/>
            <a:ext cx="7040880" cy="3699753"/>
          </a:xfrm>
          <a:prstGeom prst="rect">
            <a:avLst/>
          </a:prstGeom>
        </p:spPr>
      </p:pic>
      <p:sp>
        <p:nvSpPr>
          <p:cNvPr id="22" name="t"/>
          <p:cNvSpPr txBox="1"/>
          <p:nvPr/>
        </p:nvSpPr>
        <p:spPr>
          <a:xfrm>
            <a:off x="7452360" y="1097280"/>
            <a:ext cx="4526280" cy="5120640"/>
          </a:xfrm>
          <a:prstGeom prst="rect">
            <a:avLst/>
          </a:prstGeom>
          <a:noFill/>
        </p:spPr>
        <p:txBody>
          <a:bodyPr wrap="square" lIns="91440" tIns="50000" rIns="91440" bIns="50000" anchor="t">
            <a:normAutofit/>
          </a:bodyPr>
          <a:lstStyle/>
          <a:p>
            <a:pPr algn="l">
              <a:spcAft>
                <a:spcPts val="440"/>
              </a:spcAft>
              <a:buNone/>
            </a:pPr>
            <a:r>
              <a:rPr lang="en-US" sz="1450" b="1" dirty="0">
                <a:solidFill>
                  <a:srgbClr val="16324F"/>
                </a:solidFill>
                <a:latin typeface="Calibri"/>
              </a:rPr>
              <a:t>Fade deep backwardation, do not chase it.</a:t>
            </a:r>
          </a:p>
          <a:p>
            <a:pPr algn="l" indent="-210000" marL="255000">
              <a:spcAft>
                <a:spcPts val="440"/>
              </a:spcAft>
              <a:buFont typeface="Arial"/>
              <a:buChar char="•"/>
            </a:pPr>
            <a:r>
              <a:rPr lang="en-US" sz="1320" b="1" dirty="0">
                <a:solidFill>
                  <a:srgbClr val="1E8B54"/>
                </a:solidFill>
                <a:latin typeface="Calibri"/>
              </a:rPr>
              <a:t>The most backwardated third of weeks precedes weak returns: WTI -2.6%, Brent -0.9% over 4 weeks (bootstrap p&lt;0.01), on both crudes.</a:t>
            </a:r>
          </a:p>
          <a:p>
            <a:pPr algn="l" indent="-210000" marL="255000">
              <a:spcAft>
                <a:spcPts val="440"/>
              </a:spcAft>
              <a:buFont typeface="Arial"/>
              <a:buChar char="•"/>
            </a:pPr>
            <a:r>
              <a:rPr lang="en-US" sz="1320" b="0" dirty="0">
                <a:solidFill>
                  <a:srgbClr val="1A1A1A"/>
                </a:solidFill>
                <a:latin typeface="Calibri"/>
              </a:rPr>
              <a:t>Contango precedes strong gains, but it is rare and episodic (18% of WTI weeks, mostly the 2020 and 2016 crises), so it is not a standing rule.</a:t>
            </a:r>
          </a:p>
          <a:p>
            <a:pPr algn="l" indent="-210000" marL="255000">
              <a:spcAft>
                <a:spcPts val="440"/>
              </a:spcAft>
              <a:buFont typeface="Arial"/>
              <a:buChar char="•"/>
            </a:pPr>
            <a:r>
              <a:rPr lang="en-US" sz="1320" b="0" dirty="0">
                <a:solidFill>
                  <a:srgbClr val="1A1A1A"/>
                </a:solidFill>
                <a:latin typeface="Calibri"/>
              </a:rPr>
              <a:t>Usable version: treat deep backwardation as a reason to reduce or fade, not a green light.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"/>
          <p:cNvSpPr txBox="1"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6324F"/>
          </a:solidFill>
        </p:spPr>
        <p:txBody>
          <a:bodyPr wrap="square" lIns="91440" tIns="50000" rIns="91440" bIns="50000" anchor="ctr">
            <a:normAutofit/>
          </a:bodyPr>
          <a:lstStyle/>
          <a:p>
            <a:pPr algn="l">
              <a:spcAft>
                <a:spcPts val="44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Calibri"/>
              </a:rPr>
              <a:t>Crowding: a risk gauge that net positioning hides</a:t>
            </a:r>
          </a:p>
        </p:txBody>
      </p:sp>
      <p:pic>
        <p:nvPicPr>
          <p:cNvPr id="24" name="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87257"/>
            <a:ext cx="7040880" cy="3403525"/>
          </a:xfrm>
          <a:prstGeom prst="rect">
            <a:avLst/>
          </a:prstGeom>
        </p:spPr>
      </p:pic>
      <p:sp>
        <p:nvSpPr>
          <p:cNvPr id="25" name="t"/>
          <p:cNvSpPr txBox="1"/>
          <p:nvPr/>
        </p:nvSpPr>
        <p:spPr>
          <a:xfrm>
            <a:off x="7452360" y="1097280"/>
            <a:ext cx="4526280" cy="5120640"/>
          </a:xfrm>
          <a:prstGeom prst="rect">
            <a:avLst/>
          </a:prstGeom>
          <a:noFill/>
        </p:spPr>
        <p:txBody>
          <a:bodyPr wrap="square" lIns="91440" tIns="50000" rIns="91440" bIns="50000" anchor="t">
            <a:normAutofit/>
          </a:bodyPr>
          <a:lstStyle/>
          <a:p>
            <a:pPr algn="l">
              <a:spcAft>
                <a:spcPts val="440"/>
              </a:spcAft>
              <a:buNone/>
            </a:pPr>
            <a:r>
              <a:rPr lang="en-US" sz="1450" b="1" dirty="0">
                <a:solidFill>
                  <a:srgbClr val="16324F"/>
                </a:solidFill>
                <a:latin typeface="Calibri"/>
              </a:rPr>
              <a:t>Book size per firm = fragility.</a:t>
            </a:r>
          </a:p>
          <a:p>
            <a:pPr algn="l" indent="-210000" marL="255000">
              <a:spcAft>
                <a:spcPts val="440"/>
              </a:spcAft>
              <a:buFont typeface="Arial"/>
              <a:buChar char="•"/>
            </a:pPr>
            <a:r>
              <a:rPr lang="en-US" sz="1320" b="0" dirty="0">
                <a:solidFill>
                  <a:srgbClr val="1A1A1A"/>
                </a:solidFill>
                <a:latin typeface="Calibri"/>
              </a:rPr>
              <a:t>Dividing gross positions by the number of firms shows how concentrated each side is.</a:t>
            </a:r>
          </a:p>
          <a:p>
            <a:pPr algn="l" indent="-210000" marL="255000">
              <a:spcAft>
                <a:spcPts val="440"/>
              </a:spcAft>
              <a:buFont typeface="Arial"/>
              <a:buChar char="•"/>
            </a:pPr>
            <a:r>
              <a:rPr lang="en-US" sz="1320" b="1" dirty="0">
                <a:solidFill>
                  <a:srgbClr val="C0392B"/>
                </a:solidFill>
                <a:latin typeface="Calibri"/>
              </a:rPr>
              <a:t>Longs were most crowded in summer 2020 (a recovery bet in very few hands). The short side is the most crowded in the whole sample now (2026): a small, squeeze-prone group.</a:t>
            </a:r>
          </a:p>
          <a:p>
            <a:pPr algn="l" indent="-210000" marL="255000">
              <a:spcAft>
                <a:spcPts val="440"/>
              </a:spcAft>
              <a:buFont typeface="Arial"/>
              <a:buChar char="•"/>
            </a:pPr>
            <a:r>
              <a:rPr lang="en-US" sz="1320" b="0" dirty="0">
                <a:solidFill>
                  <a:srgbClr val="1A1A1A"/>
                </a:solidFill>
                <a:latin typeface="Calibri"/>
              </a:rPr>
              <a:t>Use: when one side is this concentrated, respect short-covering / squeeze risk in sizing and stops.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"/>
          <p:cNvSpPr txBox="1"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6324F"/>
          </a:solidFill>
        </p:spPr>
        <p:txBody>
          <a:bodyPr wrap="square" lIns="91440" tIns="50000" rIns="91440" bIns="50000" anchor="ctr">
            <a:normAutofit/>
          </a:bodyPr>
          <a:lstStyle/>
          <a:p>
            <a:pPr algn="l">
              <a:spcAft>
                <a:spcPts val="44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Calibri"/>
              </a:rPr>
              <a:t>Open interest confirms trend quality</a:t>
            </a:r>
          </a:p>
        </p:txBody>
      </p:sp>
      <p:pic>
        <p:nvPicPr>
          <p:cNvPr id="27" name="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01510"/>
            <a:ext cx="7040880" cy="3575020"/>
          </a:xfrm>
          <a:prstGeom prst="rect">
            <a:avLst/>
          </a:prstGeom>
        </p:spPr>
      </p:pic>
      <p:sp>
        <p:nvSpPr>
          <p:cNvPr id="28" name="t"/>
          <p:cNvSpPr txBox="1"/>
          <p:nvPr/>
        </p:nvSpPr>
        <p:spPr>
          <a:xfrm>
            <a:off x="7452360" y="1097280"/>
            <a:ext cx="4526280" cy="5120640"/>
          </a:xfrm>
          <a:prstGeom prst="rect">
            <a:avLst/>
          </a:prstGeom>
          <a:noFill/>
        </p:spPr>
        <p:txBody>
          <a:bodyPr wrap="square" lIns="91440" tIns="50000" rIns="91440" bIns="50000" anchor="t">
            <a:normAutofit/>
          </a:bodyPr>
          <a:lstStyle/>
          <a:p>
            <a:pPr algn="l">
              <a:spcAft>
                <a:spcPts val="440"/>
              </a:spcAft>
              <a:buNone/>
            </a:pPr>
            <a:r>
              <a:rPr lang="en-US" sz="1450" b="1" dirty="0">
                <a:solidFill>
                  <a:srgbClr val="16324F"/>
                </a:solidFill>
                <a:latin typeface="Calibri"/>
              </a:rPr>
              <a:t>Is new money behind the move?</a:t>
            </a:r>
          </a:p>
          <a:p>
            <a:pPr algn="l" indent="-210000" marL="255000">
              <a:spcAft>
                <a:spcPts val="440"/>
              </a:spcAft>
              <a:buFont typeface="Arial"/>
              <a:buChar char="•"/>
            </a:pPr>
            <a:r>
              <a:rPr lang="en-US" sz="1320" b="0" dirty="0">
                <a:solidFill>
                  <a:srgbClr val="1A1A1A"/>
                </a:solidFill>
                <a:latin typeface="Calibri"/>
              </a:rPr>
              <a:t>Crossing the weekly change in open interest with the price change sorts trends by quality.</a:t>
            </a:r>
          </a:p>
          <a:p>
            <a:pPr algn="l" indent="-210000" marL="255000">
              <a:spcAft>
                <a:spcPts val="440"/>
              </a:spcAft>
              <a:buFont typeface="Arial"/>
              <a:buChar char="•"/>
            </a:pPr>
            <a:r>
              <a:rPr lang="en-US" sz="1320" b="1" dirty="0">
                <a:solidFill>
                  <a:srgbClr val="1E8B54"/>
                </a:solidFill>
                <a:latin typeface="Calibri"/>
              </a:rPr>
              <a:t>On WTI, price up on RISING open interest (new money in the trend) is the best 4-week continuation (+3.0%). Price up on FALLING open interest (short covering) is the weakest: a lower-quality bounce to fade.</a:t>
            </a:r>
          </a:p>
          <a:p>
            <a:pPr algn="l" indent="-210000" marL="255000">
              <a:spcAft>
                <a:spcPts val="440"/>
              </a:spcAft>
              <a:buFont typeface="Arial"/>
              <a:buChar char="•"/>
            </a:pPr>
            <a:r>
              <a:rPr lang="en-US" sz="1320" b="0" dirty="0">
                <a:solidFill>
                  <a:srgbClr val="1A1A1A"/>
                </a:solidFill>
                <a:latin typeface="Calibri"/>
              </a:rPr>
              <a:t>Weaker and mixed on Brent, so use it as WTI colour rather than a universal rule.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"/>
          <p:cNvSpPr txBox="1"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6324F"/>
          </a:solidFill>
        </p:spPr>
        <p:txBody>
          <a:bodyPr wrap="square" lIns="91440" tIns="50000" rIns="91440" bIns="50000" anchor="ctr">
            <a:normAutofit/>
          </a:bodyPr>
          <a:lstStyle/>
          <a:p>
            <a:pPr algn="l">
              <a:spcAft>
                <a:spcPts val="44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Calibri"/>
              </a:rPr>
              <a:t>The roll is invisible to COT; watch the curve instead</a:t>
            </a:r>
          </a:p>
        </p:txBody>
      </p:sp>
      <p:sp>
        <p:nvSpPr>
          <p:cNvPr id="30" name="t"/>
          <p:cNvSpPr txBox="1"/>
          <p:nvPr/>
        </p:nvSpPr>
        <p:spPr>
          <a:xfrm>
            <a:off x="548640" y="1097280"/>
            <a:ext cx="11064240" cy="4937760"/>
          </a:xfrm>
          <a:prstGeom prst="rect">
            <a:avLst/>
          </a:prstGeom>
          <a:noFill/>
        </p:spPr>
        <p:txBody>
          <a:bodyPr wrap="square" lIns="91440" tIns="50000" rIns="91440" bIns="50000" anchor="t">
            <a:normAutofit/>
          </a:bodyPr>
          <a:lstStyle/>
          <a:p>
            <a:pPr algn="l" indent="-210000" marL="255000">
              <a:spcAft>
                <a:spcPts val="440"/>
              </a:spcAft>
              <a:buFont typeface="Arial"/>
              <a:buChar char="•"/>
            </a:pPr>
            <a:r>
              <a:rPr lang="en-US" sz="1450" b="0" dirty="0">
                <a:solidFill>
                  <a:srgbClr val="1A1A1A"/>
                </a:solidFill>
                <a:latin typeface="Calibri"/>
              </a:rPr>
              <a:t>A front-month roll closes CL1 and reopens CL2. It is net-neutral, and it is not a CFTC "spread" (which needs simultaneous long and short legs), so weekly positioning literally cannot see it. Positioning in the pre-expiry week looks like any other week (our test: Managed Money net and %-spreading are statistically unchanged into the roll).</a:t>
            </a:r>
          </a:p>
          <a:p>
            <a:pPr algn="l" indent="-210000" marL="255000">
              <a:spcAft>
                <a:spcPts val="440"/>
              </a:spcAft>
              <a:buFont typeface="Arial"/>
              <a:buChar char="•"/>
            </a:pPr>
            <a:r>
              <a:rPr lang="en-US" sz="1450" b="0" dirty="0">
                <a:solidFill>
                  <a:srgbClr val="1A1A1A"/>
                </a:solidFill>
                <a:latin typeface="Calibri"/>
              </a:rPr>
              <a:t>The roll's risk lives in the CL1 minus CL2 spread, not in the COT. It is orderly in normal cycles but carries severe tail risk at stressed expiries (the April-2020 negative-price roll printed roughly -58 $/bbl the day before expiry).</a:t>
            </a:r>
          </a:p>
          <a:p>
            <a:pPr algn="l" indent="-210000" marL="255000">
              <a:spcAft>
                <a:spcPts val="440"/>
              </a:spcAft>
              <a:buFont typeface="Arial"/>
              <a:buChar char="•"/>
            </a:pPr>
            <a:r>
              <a:rPr lang="en-US" sz="1450" b="1" dirty="0">
                <a:solidFill>
                  <a:srgbClr val="16324F"/>
                </a:solidFill>
                <a:latin typeface="Calibri"/>
              </a:rPr>
              <a:t>Practical use: </a:t>
            </a:r>
            <a:r>
              <a:rPr lang="en-US" sz="1450" b="0" dirty="0">
                <a:solidFill>
                  <a:srgbClr val="1A1A1A"/>
                </a:solidFill>
                <a:latin typeface="Calibri"/>
              </a:rPr>
              <a:t>do not look for a roll signal in positioning. Read the spread, and roll a few sessions early to cut delivery and squeeze exposure. Our WTI data shows a mild pre-expiry softening that is worse when funds are crowded long, but it is small and not significant.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"/>
          <p:cNvSpPr txBox="1"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6324F"/>
          </a:solidFill>
        </p:spPr>
        <p:txBody>
          <a:bodyPr wrap="square" lIns="91440" tIns="50000" rIns="91440" bIns="50000" anchor="ctr">
            <a:normAutofit/>
          </a:bodyPr>
          <a:lstStyle/>
          <a:p>
            <a:pPr algn="l">
              <a:spcAft>
                <a:spcPts val="44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Calibri"/>
              </a:rPr>
              <a:t>WTI conditioning rules, written as equations</a:t>
            </a:r>
          </a:p>
        </p:txBody>
      </p:sp>
      <p:pic>
        <p:nvPicPr>
          <p:cNvPr id="32" name="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45574"/>
            <a:ext cx="5532120" cy="3589611"/>
          </a:xfrm>
          <a:prstGeom prst="rect">
            <a:avLst/>
          </a:prstGeom>
        </p:spPr>
      </p:pic>
      <p:sp>
        <p:nvSpPr>
          <p:cNvPr id="33" name="t"/>
          <p:cNvSpPr txBox="1"/>
          <p:nvPr/>
        </p:nvSpPr>
        <p:spPr>
          <a:xfrm>
            <a:off x="5943600" y="914400"/>
            <a:ext cx="6035040" cy="4297680"/>
          </a:xfrm>
          <a:prstGeom prst="rect">
            <a:avLst/>
          </a:prstGeom>
          <a:noFill/>
        </p:spPr>
        <p:txBody>
          <a:bodyPr wrap="square" lIns="91440" tIns="50000" rIns="91440" bIns="50000" anchor="t">
            <a:normAutofit/>
          </a:bodyPr>
          <a:lstStyle/>
          <a:p>
            <a:pPr algn="l">
              <a:spcAft>
                <a:spcPts val="260"/>
              </a:spcAft>
              <a:buNone/>
            </a:pPr>
            <a:r>
              <a:rPr lang="en-US" sz="1150" b="0" dirty="0">
                <a:solidFill>
                  <a:srgbClr val="5D6D7E"/>
                </a:solidFill>
                <a:latin typeface="Calibri"/>
              </a:rPr>
              <a:t>Next 4 weeks on WTI 2021-2026. Base rate +2.2% (52% hit).</a:t>
            </a:r>
          </a:p>
          <a:p>
            <a:pPr algn="l">
              <a:spcAft>
                <a:spcPts val="240"/>
              </a:spcAft>
              <a:buNone/>
            </a:pPr>
            <a:r>
              <a:rPr lang="en-US" sz="1300" b="1" dirty="0">
                <a:solidFill>
                  <a:srgbClr val="16324F"/>
                </a:solidFill>
                <a:latin typeface="Calibri"/>
              </a:rPr>
              <a:t>MARKET x POSITION</a:t>
            </a:r>
          </a:p>
          <a:p>
            <a:pPr algn="l" indent="-210000" marL="255000">
              <a:spcAft>
                <a:spcPts val="200"/>
              </a:spcAft>
              <a:buFont typeface="Arial"/>
              <a:buChar char="•"/>
            </a:pPr>
            <a:r>
              <a:rPr lang="en-US" sz="1250" b="1" dirty="0">
                <a:solidFill>
                  <a:srgbClr val="1A1A1A"/>
                </a:solidFill>
                <a:latin typeface="Calibri"/>
              </a:rPr>
              <a:t>Calm market + Light position</a:t>
            </a:r>
            <a:r>
              <a:rPr lang="en-US" sz="1250" b="1" dirty="0">
                <a:solidFill>
                  <a:srgbClr val="1E8B54"/>
                </a:solidFill>
                <a:latin typeface="Calibri"/>
              </a:rPr>
              <a:t>  =  CL +2.9%  (56% hit)</a:t>
            </a:r>
          </a:p>
          <a:p>
            <a:pPr algn="l" indent="-210000" marL="255000">
              <a:spcAft>
                <a:spcPts val="200"/>
              </a:spcAft>
              <a:buFont typeface="Arial"/>
              <a:buChar char="•"/>
            </a:pPr>
            <a:r>
              <a:rPr lang="en-US" sz="1250" b="1" dirty="0">
                <a:solidFill>
                  <a:srgbClr val="1A1A1A"/>
                </a:solidFill>
                <a:latin typeface="Calibri"/>
              </a:rPr>
              <a:t>Calm market + Crowded long</a:t>
            </a:r>
            <a:r>
              <a:rPr lang="en-US" sz="1250" b="1" dirty="0">
                <a:solidFill>
                  <a:srgbClr val="1E8B54"/>
                </a:solidFill>
                <a:latin typeface="Calibri"/>
              </a:rPr>
              <a:t>  =  CL +1.9%  (51% hit)</a:t>
            </a:r>
          </a:p>
          <a:p>
            <a:pPr algn="l" indent="-210000" marL="255000">
              <a:spcAft>
                <a:spcPts val="200"/>
              </a:spcAft>
              <a:buFont typeface="Arial"/>
              <a:buChar char="•"/>
            </a:pPr>
            <a:r>
              <a:rPr lang="en-US" sz="1250" b="1" dirty="0">
                <a:solidFill>
                  <a:srgbClr val="1A1A1A"/>
                </a:solidFill>
                <a:latin typeface="Calibri"/>
              </a:rPr>
              <a:t>Choppy market + Light position</a:t>
            </a:r>
            <a:r>
              <a:rPr lang="en-US" sz="1250" b="1" dirty="0">
                <a:solidFill>
                  <a:srgbClr val="1A1A1A"/>
                </a:solidFill>
                <a:latin typeface="Calibri"/>
              </a:rPr>
              <a:t>  =  CL +1.6%  (52% hit)</a:t>
            </a:r>
          </a:p>
          <a:p>
            <a:pPr algn="l" indent="-210000" marL="255000">
              <a:spcAft>
                <a:spcPts val="240"/>
              </a:spcAft>
              <a:buFont typeface="Arial"/>
              <a:buChar char="•"/>
            </a:pPr>
            <a:r>
              <a:rPr lang="en-US" sz="1250" b="1" dirty="0">
                <a:solidFill>
                  <a:srgbClr val="1A1A1A"/>
                </a:solidFill>
                <a:latin typeface="Calibri"/>
              </a:rPr>
              <a:t>Choppy market + Crowded long</a:t>
            </a:r>
            <a:r>
              <a:rPr lang="en-US" sz="1250" b="1" dirty="0">
                <a:solidFill>
                  <a:srgbClr val="C0392B"/>
                </a:solidFill>
                <a:latin typeface="Calibri"/>
              </a:rPr>
              <a:t>  =  CL +2.5% but 47% hit (coin-flip)</a:t>
            </a:r>
          </a:p>
          <a:p>
            <a:pPr algn="l">
              <a:spcAft>
                <a:spcPts val="240"/>
              </a:spcAft>
              <a:buNone/>
            </a:pPr>
            <a:r>
              <a:rPr lang="en-US" sz="1300" b="1" dirty="0">
                <a:solidFill>
                  <a:srgbClr val="16324F"/>
                </a:solidFill>
                <a:latin typeface="Calibri"/>
              </a:rPr>
              <a:t>STALENESS (how long the bet has lasted)</a:t>
            </a:r>
          </a:p>
          <a:p>
            <a:pPr algn="l" indent="-210000" marL="255000">
              <a:spcAft>
                <a:spcPts val="200"/>
              </a:spcAft>
              <a:buFont typeface="Arial"/>
              <a:buChar char="•"/>
            </a:pPr>
            <a:r>
              <a:rPr lang="en-US" sz="1250" b="1" dirty="0">
                <a:solidFill>
                  <a:srgbClr val="1A1A1A"/>
                </a:solidFill>
                <a:latin typeface="Calibri"/>
              </a:rPr>
              <a:t>Fresh crowded long</a:t>
            </a:r>
            <a:r>
              <a:rPr lang="en-US" sz="1250" b="1" dirty="0">
                <a:solidFill>
                  <a:srgbClr val="1E8B54"/>
                </a:solidFill>
                <a:latin typeface="Calibri"/>
              </a:rPr>
              <a:t>  =  CL +9.0%  (80% hit, ride it)</a:t>
            </a:r>
          </a:p>
          <a:p>
            <a:pPr algn="l" indent="-210000" marL="255000">
              <a:spcAft>
                <a:spcPts val="200"/>
              </a:spcAft>
              <a:buFont typeface="Arial"/>
              <a:buChar char="•"/>
            </a:pPr>
            <a:r>
              <a:rPr lang="en-US" sz="1250" b="1" dirty="0">
                <a:solidFill>
                  <a:srgbClr val="1A1A1A"/>
                </a:solidFill>
                <a:latin typeface="Calibri"/>
              </a:rPr>
              <a:t>Crowded long, gone STALE</a:t>
            </a:r>
            <a:r>
              <a:rPr lang="en-US" sz="1250" b="1" dirty="0">
                <a:solidFill>
                  <a:srgbClr val="C0392B"/>
                </a:solidFill>
                <a:latin typeface="Calibri"/>
              </a:rPr>
              <a:t>  =  CL ~0%  (33% hit, step aside)</a:t>
            </a:r>
          </a:p>
          <a:p>
            <a:pPr algn="l" indent="-210000" marL="255000">
              <a:spcAft>
                <a:spcPts val="200"/>
              </a:spcAft>
              <a:buFont typeface="Arial"/>
              <a:buChar char="•"/>
            </a:pPr>
            <a:r>
              <a:rPr lang="en-US" sz="1250" b="1" dirty="0">
                <a:solidFill>
                  <a:srgbClr val="1A1A1A"/>
                </a:solidFill>
                <a:latin typeface="Calibri"/>
              </a:rPr>
              <a:t>Light book, gone STALE</a:t>
            </a:r>
            <a:r>
              <a:rPr lang="en-US" sz="1250" b="1" dirty="0">
                <a:solidFill>
                  <a:srgbClr val="1E8B54"/>
                </a:solidFill>
                <a:latin typeface="Calibri"/>
              </a:rPr>
              <a:t>  =  CL +3.8%  (63% hit, accumulate)</a:t>
            </a:r>
          </a:p>
        </p:txBody>
      </p:sp>
      <p:sp>
        <p:nvSpPr>
          <p:cNvPr id="34" name="t"/>
          <p:cNvSpPr txBox="1"/>
          <p:nvPr/>
        </p:nvSpPr>
        <p:spPr>
          <a:xfrm>
            <a:off x="274320" y="5285232"/>
            <a:ext cx="11704320" cy="960120"/>
          </a:xfrm>
          <a:prstGeom prst="rect">
            <a:avLst/>
          </a:prstGeom>
          <a:solidFill>
            <a:srgbClr val="F2F5F7"/>
          </a:solidFill>
        </p:spPr>
        <p:txBody>
          <a:bodyPr wrap="square" lIns="91440" tIns="50000" rIns="91440" bIns="5000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440"/>
              </a:spcAft>
              <a:buNone/>
            </a:pPr>
            <a:r>
              <a:rPr lang="en-US" sz="1050" b="1" dirty="0">
                <a:solidFill>
                  <a:srgbClr val="16324F"/>
                </a:solidFill>
                <a:latin typeface="Calibri"/>
              </a:rPr>
              <a:t>Read as WTI desk colour, not universal law: </a:t>
            </a:r>
            <a:r>
              <a:rPr lang="en-US" sz="1050" b="0" dirty="0">
                <a:solidFill>
                  <a:srgbClr val="5D6D7E"/>
                </a:solidFill>
                <a:latin typeface="Calibri"/>
              </a:rPr>
              <a:t>these conditioning and staleness effects are strong on WTI 2021-2026 but do not replicate on Brent. Use them to size and time WTI risk on top of your main factors, never as standalone triggers.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"/>
          <p:cNvSpPr txBox="1"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6324F"/>
          </a:solidFill>
        </p:spPr>
        <p:txBody>
          <a:bodyPr wrap="square" lIns="91440" tIns="50000" rIns="91440" bIns="50000" anchor="ctr">
            <a:normAutofit/>
          </a:bodyPr>
          <a:lstStyle/>
          <a:p>
            <a:pPr algn="l">
              <a:spcAft>
                <a:spcPts val="44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Calibri"/>
              </a:rPr>
              <a:t>Curve (CL1-CL2) and expiry, written as equations</a:t>
            </a:r>
          </a:p>
        </p:txBody>
      </p:sp>
      <p:pic>
        <p:nvPicPr>
          <p:cNvPr id="36" name="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13410"/>
            <a:ext cx="5257800" cy="2408220"/>
          </a:xfrm>
          <a:prstGeom prst="rect">
            <a:avLst/>
          </a:prstGeom>
        </p:spPr>
      </p:pic>
      <p:sp>
        <p:nvSpPr>
          <p:cNvPr id="37" name="t"/>
          <p:cNvSpPr txBox="1"/>
          <p:nvPr/>
        </p:nvSpPr>
        <p:spPr>
          <a:xfrm>
            <a:off x="5623560" y="914400"/>
            <a:ext cx="6355080" cy="4343400"/>
          </a:xfrm>
          <a:prstGeom prst="rect">
            <a:avLst/>
          </a:prstGeom>
          <a:noFill/>
        </p:spPr>
        <p:txBody>
          <a:bodyPr wrap="square" lIns="91440" tIns="50000" rIns="91440" bIns="50000" anchor="t">
            <a:normAutofit/>
          </a:bodyPr>
          <a:lstStyle/>
          <a:p>
            <a:pPr algn="l">
              <a:spcAft>
                <a:spcPts val="220"/>
              </a:spcAft>
              <a:buNone/>
            </a:pPr>
            <a:r>
              <a:rPr lang="en-US" sz="1250" b="1" dirty="0">
                <a:solidFill>
                  <a:srgbClr val="16324F"/>
                </a:solidFill>
                <a:latin typeface="Calibri"/>
              </a:rPr>
              <a:t>CALENDAR SPREAD  (CL1 minus CL2), next 4 weeks</a:t>
            </a:r>
          </a:p>
          <a:p>
            <a:pPr algn="l" indent="-210000" marL="255000">
              <a:spcAft>
                <a:spcPts val="170"/>
              </a:spcAft>
              <a:buFont typeface="Arial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Calibri"/>
              </a:rPr>
              <a:t>Near / in contango (least backwardated third)</a:t>
            </a:r>
            <a:r>
              <a:rPr lang="en-US" sz="1200" b="1" dirty="0">
                <a:solidFill>
                  <a:srgbClr val="1E8B54"/>
                </a:solidFill>
                <a:latin typeface="Calibri"/>
              </a:rPr>
              <a:t>  =  +4.6% (67% hit) | Brent +3.1%</a:t>
            </a:r>
          </a:p>
          <a:p>
            <a:pPr algn="l" indent="-210000" marL="255000">
              <a:spcAft>
                <a:spcPts val="170"/>
              </a:spcAft>
              <a:buFont typeface="Arial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Calibri"/>
              </a:rPr>
              <a:t>Deep backwardation (tightest third)</a:t>
            </a:r>
            <a:r>
              <a:rPr lang="en-US" sz="1200" b="1" dirty="0">
                <a:solidFill>
                  <a:srgbClr val="C0392B"/>
                </a:solidFill>
                <a:latin typeface="Calibri"/>
              </a:rPr>
              <a:t>  =  -2.6% (29% hit) | Brent -0.9%</a:t>
            </a:r>
          </a:p>
          <a:p>
            <a:pPr algn="l" indent="-210000" marL="255000">
              <a:spcAft>
                <a:spcPts val="170"/>
              </a:spcAft>
              <a:buFont typeface="Arial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Calibri"/>
              </a:rPr>
              <a:t>Contango + High volatility</a:t>
            </a:r>
            <a:r>
              <a:rPr lang="en-US" sz="1200" b="1" dirty="0">
                <a:solidFill>
                  <a:srgbClr val="1E8B54"/>
                </a:solidFill>
                <a:latin typeface="Calibri"/>
              </a:rPr>
              <a:t>  =  +3.7% | Brent +4.8%  (best long, both crudes)</a:t>
            </a:r>
          </a:p>
          <a:p>
            <a:pPr algn="l" indent="-210000" marL="255000">
              <a:spcAft>
                <a:spcPts val="280"/>
              </a:spcAft>
              <a:buFont typeface="Arial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Calibri"/>
              </a:rPr>
              <a:t>Deep backwardation + High volatility</a:t>
            </a:r>
            <a:r>
              <a:rPr lang="en-US" sz="1200" b="1" dirty="0">
                <a:solidFill>
                  <a:srgbClr val="C0392B"/>
                </a:solidFill>
                <a:latin typeface="Calibri"/>
              </a:rPr>
              <a:t>  =  +0.1% | Brent +0.3%  (~flat, stand aside)</a:t>
            </a:r>
          </a:p>
          <a:p>
            <a:pPr algn="l">
              <a:spcAft>
                <a:spcPts val="220"/>
              </a:spcAft>
              <a:buNone/>
            </a:pPr>
            <a:r>
              <a:rPr lang="en-US" sz="1250" b="1" dirty="0">
                <a:solidFill>
                  <a:srgbClr val="16324F"/>
                </a:solidFill>
                <a:latin typeface="Calibri"/>
              </a:rPr>
              <a:t>EXPIRY WINDOW  (last ~7 days, WTI/NYMEX rule)</a:t>
            </a:r>
          </a:p>
          <a:p>
            <a:pPr algn="l" indent="-210000" marL="255000">
              <a:spcAft>
                <a:spcPts val="170"/>
              </a:spcAft>
              <a:buFont typeface="Arial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Calibri"/>
              </a:rPr>
              <a:t>Crowded long into expiry</a:t>
            </a:r>
            <a:r>
              <a:rPr lang="en-US" sz="1200" b="1" dirty="0">
                <a:solidFill>
                  <a:srgbClr val="B07A1E"/>
                </a:solidFill>
                <a:latin typeface="Calibri"/>
              </a:rPr>
              <a:t>  =  CL -1.4%, then +0.9% after (roll / de-risk)</a:t>
            </a:r>
          </a:p>
          <a:p>
            <a:pPr algn="l" indent="-210000" marL="255000">
              <a:spcAft>
                <a:spcPts val="170"/>
              </a:spcAft>
              <a:buFont typeface="Arial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Calibri"/>
              </a:rPr>
              <a:t>Light book into expiry</a:t>
            </a:r>
            <a:r>
              <a:rPr lang="en-US" sz="1200" b="1" dirty="0">
                <a:solidFill>
                  <a:srgbClr val="1E8B54"/>
                </a:solidFill>
                <a:latin typeface="Calibri"/>
              </a:rPr>
              <a:t>  =  CL +0.7%</a:t>
            </a:r>
          </a:p>
          <a:p>
            <a:pPr algn="l" indent="-210000" marL="255000">
              <a:spcAft>
                <a:spcPts val="170"/>
              </a:spcAft>
              <a:buFont typeface="Arial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Calibri"/>
              </a:rPr>
              <a:t>All expiries pooled</a:t>
            </a:r>
            <a:r>
              <a:rPr lang="en-US" sz="1200" b="1" dirty="0">
                <a:solidFill>
                  <a:srgbClr val="5D6D7E"/>
                </a:solidFill>
                <a:latin typeface="Calibri"/>
              </a:rPr>
              <a:t>  =  CL -0.3% (mild, NOT significant; base +0.3%)</a:t>
            </a:r>
          </a:p>
        </p:txBody>
      </p:sp>
      <p:sp>
        <p:nvSpPr>
          <p:cNvPr id="38" name="t"/>
          <p:cNvSpPr txBox="1"/>
          <p:nvPr/>
        </p:nvSpPr>
        <p:spPr>
          <a:xfrm>
            <a:off x="274320" y="5230368"/>
            <a:ext cx="11704320" cy="1051560"/>
          </a:xfrm>
          <a:prstGeom prst="rect">
            <a:avLst/>
          </a:prstGeom>
          <a:solidFill>
            <a:srgbClr val="F2F5F7"/>
          </a:solidFill>
        </p:spPr>
        <p:txBody>
          <a:bodyPr wrap="square" lIns="91440" tIns="50000" rIns="91440" bIns="5000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440"/>
              </a:spcAft>
              <a:buNone/>
            </a:pPr>
            <a:r>
              <a:rPr lang="en-US" sz="1050" b="1" dirty="0">
                <a:solidFill>
                  <a:srgbClr val="16324F"/>
                </a:solidFill>
                <a:latin typeface="Calibri"/>
              </a:rPr>
              <a:t>Squeeze logic: </a:t>
            </a:r>
            <a:r>
              <a:rPr lang="en-US" sz="1050" b="0" dirty="0">
                <a:solidFill>
                  <a:srgbClr val="5D6D7E"/>
                </a:solidFill>
                <a:latin typeface="Calibri"/>
              </a:rPr>
              <a:t>the crowded side is the one forced to unwind into expiry. Measured here it is crowded LONGS de-risking (mild selling, rebounds after); the mirror image is a crowded SHORT book (where WTI sits now) that risks a squeeze HIGHER. The effect is small and not significant (t=-0.69), Brent uses the WTI expiry rule so it is only a proxy, and true contango is just ~18% of WTI weeks (the label is a tercile).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"/>
          <p:cNvSpPr txBox="1"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6324F"/>
          </a:solidFill>
        </p:spPr>
        <p:txBody>
          <a:bodyPr wrap="square" lIns="91440" tIns="50000" rIns="91440" bIns="50000" anchor="ctr">
            <a:normAutofit/>
          </a:bodyPr>
          <a:lstStyle/>
          <a:p>
            <a:pPr algn="l">
              <a:spcAft>
                <a:spcPts val="44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Calibri"/>
              </a:rPr>
              <a:t>Playbook: overlays for your main factors</a:t>
            </a:r>
          </a:p>
        </p:txBody>
      </p:sp>
      <p:sp>
        <p:nvSpPr>
          <p:cNvPr id="40" name="t"/>
          <p:cNvSpPr txBox="1"/>
          <p:nvPr/>
        </p:nvSpPr>
        <p:spPr>
          <a:xfrm>
            <a:off x="411480" y="960120"/>
            <a:ext cx="5760720" cy="4846320"/>
          </a:xfrm>
          <a:prstGeom prst="rect">
            <a:avLst/>
          </a:prstGeom>
          <a:noFill/>
        </p:spPr>
        <p:txBody>
          <a:bodyPr wrap="square" lIns="91440" tIns="50000" rIns="91440" bIns="50000" anchor="t">
            <a:normAutofit/>
          </a:bodyPr>
          <a:lstStyle/>
          <a:p>
            <a:pPr algn="l">
              <a:spcAft>
                <a:spcPts val="440"/>
              </a:spcAft>
              <a:buNone/>
            </a:pPr>
            <a:r>
              <a:rPr lang="en-US" sz="1350" b="1" dirty="0">
                <a:solidFill>
                  <a:srgbClr val="16324F"/>
                </a:solidFill>
                <a:latin typeface="Calibri"/>
              </a:rPr>
              <a:t>USE AS OVERLAYS</a:t>
            </a:r>
          </a:p>
          <a:p>
            <a:pPr algn="l" indent="-210000" marL="255000">
              <a:spcAft>
                <a:spcPts val="440"/>
              </a:spcAft>
              <a:buFont typeface="Arial"/>
              <a:buChar char="•"/>
            </a:pPr>
            <a:r>
              <a:rPr lang="en-US" sz="1250" b="1" dirty="0">
                <a:solidFill>
                  <a:srgbClr val="1A1A1A"/>
                </a:solidFill>
                <a:latin typeface="Calibri"/>
              </a:rPr>
              <a:t>Deep backwardation</a:t>
            </a:r>
            <a:r>
              <a:rPr lang="en-US" sz="1250" b="1" dirty="0">
                <a:solidFill>
                  <a:srgbClr val="C0392B"/>
                </a:solidFill>
                <a:latin typeface="Calibri"/>
              </a:rPr>
              <a:t>  =  headwind, fade or reduce longs</a:t>
            </a:r>
          </a:p>
          <a:p>
            <a:pPr algn="l" indent="-210000" marL="255000">
              <a:spcAft>
                <a:spcPts val="440"/>
              </a:spcAft>
              <a:buFont typeface="Arial"/>
              <a:buChar char="•"/>
            </a:pPr>
            <a:r>
              <a:rPr lang="en-US" sz="1250" b="1" dirty="0">
                <a:solidFill>
                  <a:srgbClr val="1A1A1A"/>
                </a:solidFill>
                <a:latin typeface="Calibri"/>
              </a:rPr>
              <a:t>Contango (rare)</a:t>
            </a:r>
            <a:r>
              <a:rPr lang="en-US" sz="1250" b="1" dirty="0">
                <a:solidFill>
                  <a:srgbClr val="1E8B54"/>
                </a:solidFill>
                <a:latin typeface="Calibri"/>
              </a:rPr>
              <a:t>  =  tailwind, opportunistic only</a:t>
            </a:r>
          </a:p>
          <a:p>
            <a:pPr algn="l" indent="-210000" marL="255000">
              <a:spcAft>
                <a:spcPts val="440"/>
              </a:spcAft>
              <a:buFont typeface="Arial"/>
              <a:buChar char="•"/>
            </a:pPr>
            <a:r>
              <a:rPr lang="en-US" sz="1250" b="1" dirty="0">
                <a:solidFill>
                  <a:srgbClr val="1A1A1A"/>
                </a:solidFill>
                <a:latin typeface="Calibri"/>
              </a:rPr>
              <a:t>One side extremely crowded (shorts now)</a:t>
            </a:r>
            <a:r>
              <a:rPr lang="en-US" sz="1250" b="1" dirty="0">
                <a:solidFill>
                  <a:srgbClr val="C0392B"/>
                </a:solidFill>
                <a:latin typeface="Calibri"/>
              </a:rPr>
              <a:t>  =  squeeze risk, tighten risk, expect sharp counter-moves</a:t>
            </a:r>
          </a:p>
          <a:p>
            <a:pPr algn="l" indent="-210000" marL="255000">
              <a:spcAft>
                <a:spcPts val="440"/>
              </a:spcAft>
              <a:buFont typeface="Arial"/>
              <a:buChar char="•"/>
            </a:pPr>
            <a:r>
              <a:rPr lang="en-US" sz="1250" b="1" dirty="0">
                <a:solidFill>
                  <a:srgbClr val="1A1A1A"/>
                </a:solidFill>
                <a:latin typeface="Calibri"/>
              </a:rPr>
              <a:t>Price up + OI up (WTI)</a:t>
            </a:r>
            <a:r>
              <a:rPr lang="en-US" sz="1250" b="1" dirty="0">
                <a:solidFill>
                  <a:srgbClr val="1E8B54"/>
                </a:solidFill>
                <a:latin typeface="Calibri"/>
              </a:rPr>
              <a:t>  =  quality uptrend, stay / add</a:t>
            </a:r>
          </a:p>
          <a:p>
            <a:pPr algn="l" indent="-210000" marL="255000">
              <a:spcAft>
                <a:spcPts val="440"/>
              </a:spcAft>
              <a:buFont typeface="Arial"/>
              <a:buChar char="•"/>
            </a:pPr>
            <a:r>
              <a:rPr lang="en-US" sz="1250" b="1" dirty="0">
                <a:solidFill>
                  <a:srgbClr val="1A1A1A"/>
                </a:solidFill>
                <a:latin typeface="Calibri"/>
              </a:rPr>
              <a:t>Price up + OI down</a:t>
            </a:r>
            <a:r>
              <a:rPr lang="en-US" sz="1250" b="1" dirty="0">
                <a:solidFill>
                  <a:srgbClr val="C0392B"/>
                </a:solidFill>
                <a:latin typeface="Calibri"/>
              </a:rPr>
              <a:t>  =  covering bounce, fade</a:t>
            </a:r>
          </a:p>
          <a:p>
            <a:pPr algn="l" indent="-210000" marL="255000">
              <a:spcAft>
                <a:spcPts val="440"/>
              </a:spcAft>
              <a:buFont typeface="Arial"/>
              <a:buChar char="•"/>
            </a:pPr>
            <a:r>
              <a:rPr lang="en-US" sz="1250" b="1" dirty="0">
                <a:solidFill>
                  <a:srgbClr val="1A1A1A"/>
                </a:solidFill>
                <a:latin typeface="Calibri"/>
              </a:rPr>
              <a:t>Crowded into the expiry week</a:t>
            </a:r>
            <a:r>
              <a:rPr lang="en-US" sz="1250" b="1" dirty="0">
                <a:solidFill>
                  <a:srgbClr val="B07A1E"/>
                </a:solidFill>
                <a:latin typeface="Calibri"/>
              </a:rPr>
              <a:t>  =  roll early, expect de-risk softness then rebound</a:t>
            </a:r>
          </a:p>
        </p:txBody>
      </p:sp>
      <p:sp>
        <p:nvSpPr>
          <p:cNvPr id="41" name="t"/>
          <p:cNvSpPr txBox="1"/>
          <p:nvPr/>
        </p:nvSpPr>
        <p:spPr>
          <a:xfrm>
            <a:off x="6355080" y="960120"/>
            <a:ext cx="5623560" cy="4846320"/>
          </a:xfrm>
          <a:prstGeom prst="rect">
            <a:avLst/>
          </a:prstGeom>
          <a:noFill/>
        </p:spPr>
        <p:txBody>
          <a:bodyPr wrap="square" lIns="91440" tIns="50000" rIns="91440" bIns="50000" anchor="t">
            <a:normAutofit/>
          </a:bodyPr>
          <a:lstStyle/>
          <a:p>
            <a:pPr algn="l">
              <a:spcAft>
                <a:spcPts val="440"/>
              </a:spcAft>
              <a:buNone/>
            </a:pPr>
            <a:r>
              <a:rPr lang="en-US" sz="1350" b="1" dirty="0">
                <a:solidFill>
                  <a:srgbClr val="16324F"/>
                </a:solidFill>
                <a:latin typeface="Calibri"/>
              </a:rPr>
              <a:t>DO NOT</a:t>
            </a:r>
          </a:p>
          <a:p>
            <a:pPr algn="l" indent="-210000" marL="255000">
              <a:spcAft>
                <a:spcPts val="440"/>
              </a:spcAft>
              <a:buFont typeface="Arial"/>
              <a:buChar char="•"/>
            </a:pPr>
            <a:r>
              <a:rPr lang="en-US" sz="1250" b="0" dirty="0">
                <a:solidFill>
                  <a:srgbClr val="1A1A1A"/>
                </a:solidFill>
                <a:latin typeface="Calibri"/>
              </a:rPr>
              <a:t>Trade Managed Money net extremes as a contrarian signal (it is momentum).</a:t>
            </a:r>
          </a:p>
          <a:p>
            <a:pPr algn="l" indent="-210000" marL="255000">
              <a:spcAft>
                <a:spcPts val="440"/>
              </a:spcAft>
              <a:buFont typeface="Arial"/>
              <a:buChar char="•"/>
            </a:pPr>
            <a:r>
              <a:rPr lang="en-US" sz="1250" b="0" dirty="0">
                <a:solidFill>
                  <a:srgbClr val="1A1A1A"/>
                </a:solidFill>
                <a:latin typeface="Calibri"/>
              </a:rPr>
              <a:t>Use COT for roll timing (it cannot see the roll).</a:t>
            </a:r>
          </a:p>
          <a:p>
            <a:pPr algn="l" indent="-210000" marL="255000">
              <a:spcAft>
                <a:spcPts val="440"/>
              </a:spcAft>
              <a:buFont typeface="Arial"/>
              <a:buChar char="•"/>
            </a:pPr>
            <a:r>
              <a:rPr lang="en-US" sz="1250" b="0" dirty="0">
                <a:solidFill>
                  <a:srgbClr val="1A1A1A"/>
                </a:solidFill>
                <a:latin typeface="Calibri"/>
              </a:rPr>
              <a:t>Rely on a single market or single window (demand cross-instrument replication).</a:t>
            </a:r>
          </a:p>
          <a:p>
            <a:pPr algn="l" indent="-210000" marL="255000">
              <a:spcAft>
                <a:spcPts val="440"/>
              </a:spcAft>
              <a:buFont typeface="Arial"/>
              <a:buChar char="•"/>
            </a:pPr>
            <a:r>
              <a:rPr lang="en-US" sz="1250" b="1" dirty="0">
                <a:solidFill>
                  <a:srgbClr val="16324F"/>
                </a:solidFill>
                <a:latin typeface="Calibri"/>
              </a:rPr>
              <a:t>How to use: </a:t>
            </a:r>
            <a:r>
              <a:rPr lang="en-US" sz="1250" b="0" dirty="0">
                <a:solidFill>
                  <a:srgbClr val="1A1A1A"/>
                </a:solidFill>
                <a:latin typeface="Calibri"/>
              </a:rPr>
              <a:t>a context and risk layer on top of your primary fundamentals / flow model. It sizes and filters; it does not trigger.</a:t>
            </a:r>
          </a:p>
        </p:txBody>
      </p:sp>
      <p:sp>
        <p:nvSpPr>
          <p:cNvPr id="42" name="t"/>
          <p:cNvSpPr txBox="1"/>
          <p:nvPr/>
        </p:nvSpPr>
        <p:spPr>
          <a:xfrm>
            <a:off x="411480" y="5852160"/>
            <a:ext cx="11612880" cy="822960"/>
          </a:xfrm>
          <a:prstGeom prst="rect">
            <a:avLst/>
          </a:prstGeom>
          <a:solidFill>
            <a:srgbClr val="F2F5F7"/>
          </a:solidFill>
        </p:spPr>
        <p:txBody>
          <a:bodyPr wrap="square" lIns="91440" tIns="50000" rIns="91440" bIns="5000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440"/>
              </a:spcAft>
              <a:buNone/>
            </a:pPr>
            <a:r>
              <a:rPr lang="en-US" sz="1050" b="1" dirty="0">
                <a:solidFill>
                  <a:srgbClr val="C0392B"/>
                </a:solidFill>
                <a:latin typeface="Calibri"/>
              </a:rPr>
              <a:t>Caveats: </a:t>
            </a:r>
            <a:r>
              <a:rPr lang="en-US" sz="1050" b="0" dirty="0">
                <a:solidFill>
                  <a:srgbClr val="5D6D7E"/>
                </a:solidFill>
                <a:latin typeface="Calibri"/>
              </a:rPr>
              <a:t>Brent positioning is a NYMEX proxy (ICE COT gated); results are gross of costs; much of the apparent positioning edge in prior studies is the 2020 dislocation; the curve edge partly reflects 2021-2026 regimes.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6324F"/>
      </a:dk2>
      <a:lt2>
        <a:srgbClr val="EEECE1"/>
      </a:lt2>
      <a:accent1>
        <a:srgbClr val="16324F"/>
      </a:accent1>
      <a:accent2>
        <a:srgbClr val="C0392B"/>
      </a:accent2>
      <a:accent3>
        <a:srgbClr val="1E8B54"/>
      </a:accent3>
      <a:accent4>
        <a:srgbClr val="B07A1E"/>
      </a:accent4>
      <a:accent5>
        <a:srgbClr val="2C6FBB"/>
      </a:accent5>
      <a:accent6>
        <a:srgbClr val="8E44AD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