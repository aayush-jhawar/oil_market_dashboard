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83494E-BDBC-F861-F1ED-4995694C6D89}" v="2" dt="2026-06-05T01:07:58.216"/>
    <p1510:client id="{3BDF2EC4-E6D5-96CF-7AFD-B82B96558AED}" v="2" dt="2026-06-05T01:54:17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chay Monga" userId="S::nishchay.monga@hertshtengroup.com::7fd1dc70-d91d-4cb7-8600-7b046ef46230" providerId="AD" clId="Web-{3BDF2EC4-E6D5-96CF-7AFD-B82B96558AED}"/>
    <pc:docChg chg="modSld">
      <pc:chgData name="Nishchay Monga" userId="S::nishchay.monga@hertshtengroup.com::7fd1dc70-d91d-4cb7-8600-7b046ef46230" providerId="AD" clId="Web-{3BDF2EC4-E6D5-96CF-7AFD-B82B96558AED}" dt="2026-06-05T01:54:17.928" v="1" actId="1076"/>
      <pc:docMkLst>
        <pc:docMk/>
      </pc:docMkLst>
      <pc:sldChg chg="modSp">
        <pc:chgData name="Nishchay Monga" userId="S::nishchay.monga@hertshtengroup.com::7fd1dc70-d91d-4cb7-8600-7b046ef46230" providerId="AD" clId="Web-{3BDF2EC4-E6D5-96CF-7AFD-B82B96558AED}" dt="2026-06-05T01:54:17.928" v="1" actId="1076"/>
        <pc:sldMkLst>
          <pc:docMk/>
          <pc:sldMk cId="0" sldId="263"/>
        </pc:sldMkLst>
        <pc:spChg chg="mod">
          <ac:chgData name="Nishchay Monga" userId="S::nishchay.monga@hertshtengroup.com::7fd1dc70-d91d-4cb7-8600-7b046ef46230" providerId="AD" clId="Web-{3BDF2EC4-E6D5-96CF-7AFD-B82B96558AED}" dt="2026-06-05T01:54:17.928" v="1" actId="1076"/>
          <ac:spMkLst>
            <pc:docMk/>
            <pc:sldMk cId="0" sldId="263"/>
            <ac:spMk id="17" creationId="{00000000-0000-0000-0000-000000000000}"/>
          </ac:spMkLst>
        </pc:spChg>
      </pc:sldChg>
    </pc:docChg>
  </pc:docChgLst>
  <pc:docChgLst>
    <pc:chgData name="Yash Yeole" userId="S::yash.yeole@hertshtengroup.com::5229acf0-6779-4af3-b243-434894808a92" providerId="AD" clId="Web-{2F83494E-BDBC-F861-F1ED-4995694C6D89}"/>
    <pc:docChg chg="modSld">
      <pc:chgData name="Yash Yeole" userId="S::yash.yeole@hertshtengroup.com::5229acf0-6779-4af3-b243-434894808a92" providerId="AD" clId="Web-{2F83494E-BDBC-F861-F1ED-4995694C6D89}" dt="2026-06-05T01:07:58.216" v="1" actId="1076"/>
      <pc:docMkLst>
        <pc:docMk/>
      </pc:docMkLst>
      <pc:sldChg chg="modSp">
        <pc:chgData name="Yash Yeole" userId="S::yash.yeole@hertshtengroup.com::5229acf0-6779-4af3-b243-434894808a92" providerId="AD" clId="Web-{2F83494E-BDBC-F861-F1ED-4995694C6D89}" dt="2026-06-05T01:07:58.216" v="1" actId="1076"/>
        <pc:sldMkLst>
          <pc:docMk/>
          <pc:sldMk cId="0" sldId="294"/>
        </pc:sldMkLst>
        <pc:spChg chg="mod">
          <ac:chgData name="Yash Yeole" userId="S::yash.yeole@hertshtengroup.com::5229acf0-6779-4af3-b243-434894808a92" providerId="AD" clId="Web-{2F83494E-BDBC-F861-F1ED-4995694C6D89}" dt="2026-06-05T01:07:58.216" v="1" actId="1076"/>
          <ac:spMkLst>
            <pc:docMk/>
            <pc:sldMk cId="0" sldId="294"/>
            <ac:spMk id="3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2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000000"/>
                </a:solidFill>
                <a:latin typeface="Arial"/>
              </a:rPr>
              <a:t>Normal Distribution Shape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478045713035872"/>
          <c:y val="0.19129083585024578"/>
          <c:w val="0.85702509842519681"/>
          <c:h val="0.656551561309320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-3σ</c:v>
                </c:pt>
                <c:pt idx="1">
                  <c:v>-2σ</c:v>
                </c:pt>
                <c:pt idx="2">
                  <c:v>-1σ</c:v>
                </c:pt>
                <c:pt idx="3">
                  <c:v>0</c:v>
                </c:pt>
                <c:pt idx="4">
                  <c:v>+1σ</c:v>
                </c:pt>
                <c:pt idx="5">
                  <c:v>+2σ</c:v>
                </c:pt>
                <c:pt idx="6">
                  <c:v>+3σ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0.44</c:v>
                </c:pt>
                <c:pt idx="1">
                  <c:v>5.4</c:v>
                </c:pt>
                <c:pt idx="2">
                  <c:v>24.2</c:v>
                </c:pt>
                <c:pt idx="3">
                  <c:v>39.9</c:v>
                </c:pt>
                <c:pt idx="4">
                  <c:v>24.2</c:v>
                </c:pt>
                <c:pt idx="5">
                  <c:v>5.4</c:v>
                </c:pt>
                <c:pt idx="6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92-4701-B45D-FA631D7CB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416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634" y="188609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FFFFFF"/>
                </a:solidFill>
              </a:rPr>
              <a:t>Statistics</a:t>
            </a:r>
            <a:endParaRPr lang="en-US" sz="380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320634" y="2770513"/>
            <a:ext cx="8229600" cy="5759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CADCFC"/>
                </a:solidFill>
              </a:rPr>
              <a:t>Session 2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Content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342900" y="923455"/>
            <a:ext cx="2743200" cy="252039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" y="944978"/>
            <a:ext cx="2743200" cy="441613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97180" y="975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PART 1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65760" y="150044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</a:rPr>
              <a:t>Descriptive Statistics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71500" y="1618682"/>
            <a:ext cx="2468880" cy="134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Mean · Median · Mode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Variance · Std Dev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Skewness · Kurtosis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Fat Tails &amp; Combinations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200400" y="944978"/>
            <a:ext cx="2743200" cy="2498867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44978"/>
            <a:ext cx="2743200" cy="4416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4497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PART 2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291840" y="1386592"/>
            <a:ext cx="2560320" cy="525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91B2"/>
                </a:solidFill>
              </a:rPr>
              <a:t>Probability Distributions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383280" y="1527983"/>
            <a:ext cx="2468880" cy="1500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Normal · Log-Normal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Standard Normal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Binomial &amp; others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Distribution Taxonomy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126480" y="923453"/>
            <a:ext cx="2743200" cy="2520391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23454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975112"/>
            <a:ext cx="2743200" cy="25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PART 3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217920" y="1386590"/>
            <a:ext cx="2560320" cy="602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C3AED"/>
                </a:solidFill>
              </a:rPr>
              <a:t>Standardisation &amp; Z-Scores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6332220" y="1582314"/>
            <a:ext cx="2468880" cy="137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Normalisation vs Standardisation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Z-scores in depth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Reading financial data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Assumptions &amp; Exceptions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Why Do Futures Traders Need Statistics?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1E2761"/>
                </a:solidFill>
              </a:rPr>
              <a:t>The core problem: Markets generate raw numbers. Statistics turns those numbers into DECISIONS.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❓ How unusual was today's move?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</a:rPr>
              <a:t>→ Z-score tells you exactly how many standard deviations away it was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8595360" cy="77724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❓ Is crude oil trending or mean-reverting?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</a:rPr>
              <a:t>→ Skewness + mean/median divergence reveals the regime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859536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❓ How risky is holding a futures overnight?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</a:rPr>
              <a:t>→ Kurtosis &amp; fat tails quantify tail risk beyond std dev alone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</a:rPr>
              <a:t>❓ What's the probability of a 3% S&amp;P drawdown tomorrow?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</a:rPr>
              <a:t>→ Requires knowing the correct distribution, NOT assuming Normal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</a:rPr>
              <a:t>PART 1: Descriptive Statistics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FFFFFF"/>
                </a:solidFill>
              </a:rPr>
              <a:t>Mean · Median · Mode · Variance · Std Dev · Skewness · Kurtosis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Mean, Median, Mode — Definitions &amp; Formulas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26187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</a:rPr>
              <a:t>MEAN (μ or x̄)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291840" y="822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Formula: μ = (Σ xᵢ) / N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Arithmetic average of all values. Balances the data like a fulcrum.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</a:rPr>
              <a:t>📈 ES daily returns Jan 2024: [+0.8%, -0.3%, +1.2%, -2.1%, +0.4%] → Mean = 0.0% (flat on average)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274320" y="2130552"/>
            <a:ext cx="8595360" cy="1261872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76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891B2"/>
                </a:solidFill>
              </a:rPr>
              <a:t>MEDIAN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3291840" y="21762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Formula: Middle value when sorted. Avg of two middle values if N is even.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The value that splits the dataset in half. Resistant to outliers.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11480" y="281635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</a:rPr>
              <a:t>📈 Crude oil (CL) 10-day returns: Sort them → middle value. If 3 big spike days exist, median ignores them.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274320" y="3483864"/>
            <a:ext cx="8595360" cy="12618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29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3AED"/>
                </a:solidFill>
              </a:rPr>
              <a:t>MODE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3291840" y="35295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Formula: Value that appears most frequently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11480" y="38679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Most common observation. Can be multiple (bimodal/multimodal).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11480" y="416966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4748B"/>
                </a:solidFill>
              </a:rPr>
              <a:t>📈 Tick data on NQ futures: if price stays at 18,000 for 47 ticks vs. 38 at any other level → Mode = 18,000 (key support/resistance)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Mean vs Median vs Mode — When to Use Which?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E2761"/>
                </a:solidFill>
              </a:rPr>
              <a:t>The relationship between Mean, Median, and Mode reveals the SHAPE of a distribution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169164" y="1188721"/>
            <a:ext cx="2834640" cy="259357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Symmetric (Normal)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</a:rPr>
              <a:t>Mean = Median = Mode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6517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2280924"/>
            <a:ext cx="2651760" cy="100284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When to use: Use any — they agree. S&amp;P 500 short-term daily returns (approximately).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172968" y="1188720"/>
            <a:ext cx="2834640" cy="2593571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</a:rPr>
              <a:t>Right-Skewed (+)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264408" y="1627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</a:rPr>
              <a:t>Mode &lt; Median &lt; Mean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3264408" y="2011680"/>
            <a:ext cx="265176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359539"/>
            <a:ext cx="2651760" cy="92422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When to use: Use MEDIAN. Mean is dragged up by big positive outliers. Example: Individual stock daily returns, crude oil spike days.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6163056" y="1188721"/>
            <a:ext cx="2811780" cy="259357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234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</a:rPr>
              <a:t>Left-Skewed (−)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254496" y="1627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</a:rPr>
              <a:t>Mean &lt; Median &lt; Mode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6254496" y="2011680"/>
            <a:ext cx="265176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6772" y="2280924"/>
            <a:ext cx="2651760" cy="96626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When to use: Use MEDIAN. Mean pulled down by large negative events. Example: S&amp;P returns during crash months (Mar 2020).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169164" y="40613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C2626"/>
                </a:solidFill>
              </a:rPr>
              <a:t>⚠️ CRITICAL: In financial data, Mean is almost NEVER the right central tendency measure due to outliers and skew. Always check Median first.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Variance — Definition, Formula &amp; Why We Need It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</a:rPr>
              <a:t>Population Variance: σ² = Σ(xᵢ − μ)² / N       |  Sample Variance: s² = Σ(xᵢ − x̄)² / (N−1)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Definition: The average squared deviation from the mean. Measures how spread-out returns are.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4114800" cy="228006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</a:rPr>
              <a:t>WHY Variance?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3840480" cy="8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Quantifies DISPERSION — how volatile returns are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Example: ES variance = 0.04%² → small moves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Crude oil variance = 0.25%² → much more volatile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11480" y="3578510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Additive property: Variance of portfolio = sum of weighted covariances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→ Used in Modern Portfolio Theory for futures basket hedging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663440" y="2286000"/>
            <a:ext cx="4114800" cy="228006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286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C2626"/>
                </a:solidFill>
              </a:rPr>
              <a:t>WHY NOT just use Variance always?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800600" y="2697480"/>
            <a:ext cx="3840480" cy="8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Units are SQUARED (returns² = %²) — not human-readable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If return is in %, variance is in %² — meaningless alone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754880" y="3610514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Hard to interpret vs raw prices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→ That's why we take √(Variance) = Standard Deviation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Same unit as the data itself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99505" y="4610594"/>
            <a:ext cx="77688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E2761"/>
                </a:solidFill>
              </a:rPr>
              <a:t>Futures Example: NQ Futures 20-day variance = 0.18%²  →  Std Dev = √0.18 = 0.42%/day  →  This is your daily risk in human terms.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Standard Deviation — Why SD When We Have Variance?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</a:rPr>
              <a:t>σ = √Variance = √[Σ(xᵢ − μ)² / N]     |     s = √[Σ(xᵢ − x̄)² / (N−1)]     (sample)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63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Same Unit as Data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Variance of ES daily returns = 0.04%². Std Dev = 0.2%. You can say 'ES moves ±0.2% on average per day.' You cannot say 'ES variance is 0.04 squared-percent.' SD is actionable; Variance alone is not.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617720" y="1508760"/>
            <a:ext cx="4160520" cy="146304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63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91B2"/>
                </a:solidFill>
              </a:rPr>
              <a:t>Annualising Risk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709160" y="189280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Daily SD × √252 = Annual SD (for daily returns)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ES: 0.2% × √252 ≈ 3.2% annual SD. This is what you put in risk reports and position sizing.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Variance annualises as: σ²_daily × 252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60520" cy="1463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181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</a:rPr>
              <a:t>68-95-99.7 Rule (if Normal)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65760" y="34472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1σ: 68% of returns fall here. 2σ: 95%. 3σ: 99.7%.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ES daily SD = 1%, so: 68% of days move less than ±1%. 95% less than ±2%. But BEWARE: futures returns are NOT normal — fat tails mean 3σ events happen far more often.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617720" y="3063240"/>
            <a:ext cx="4160520" cy="14630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1181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Position Sizing Application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709160" y="34472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If you want to risk $1,000/day on a CL futures contract: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CL daily SD = $800 → 1 contract exposes you to ~$800/day.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You can hold ≈1.25 contracts to match your risk budget.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This is direct, practical usage of SD.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Variance vs Standard Deviation — When to Use Each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E293B"/>
                </a:solidFill>
              </a:rPr>
              <a:t>Both measure spread. They are related by σ = √(σ²). You NEED both because each has unique mathematical properties.</a:t>
            </a:r>
            <a:endParaRPr lang="en-US" sz="12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3291841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Variance (σ²)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Standard Deviation (σ)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Units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Squared (e.g., %²)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Same as data (e.g., %)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Interpretability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Hard to read directly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Human-readable, intuitive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Additive?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✅ YES — portfolio variance = Σwᵢwⱼσᵢⱼ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❌ NO — cannot add SDs directly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Use in formulas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CAPM, MPT, Covariance matrices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Risk reports, position sizing, Bollinger Bands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Penalises outliers?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YES — squared → big moves hit hard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YES (same data, just square-rooted)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Futures use case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Correlation, portfolio optimisation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Daily risk, stop-loss placement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6177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</a:rPr>
              <a:t>⚡ Key Insight: Use VARIANCE when doing math (portfolios, options pricing). Use STANDARD DEVIATION when communicating risk or sizing positions.</a:t>
            </a:r>
            <a:endParaRPr lang="en-US"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Skewness — Definition, Formula &amp; Types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</a:rPr>
              <a:t>Skewness = [N / (N−1)(N−2)] × Σ[(xᵢ − x̄)³ / s³]     |     Simplified: E[(X−μ)³] / σ³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Definition: Measures the ASYMMETRY of a distribution around its mean. A symmetric distribution has Skewness = 0.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182880" y="1828800"/>
            <a:ext cx="283464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59669"/>
                </a:solidFill>
              </a:rPr>
              <a:t>POSITIVE SKEW (Right-Skewed)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274320" y="2267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</a:rPr>
              <a:t>Skewness &gt; 0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274320" y="257860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Long right tail. Most returns cluster below the mean, but occasional large positive returns pull the mean up.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Mean &gt; Median &gt; Mode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274320" y="3474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📈 Venture capital returns, individual biotech futures (CBOT), post-earnings gaps. Also: Crude oil after supply shocks — many small negative days, rare +10% spike days.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172968" y="1828800"/>
            <a:ext cx="2834640" cy="2926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</a:rPr>
              <a:t>NEGATIVE SKEW (Left-Skewed)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3264408" y="2267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</a:rPr>
              <a:t>Skewness &lt; 0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264408" y="257860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Long left tail. Most returns are small positives (drift), but occasional large negative returns dominate.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Mean &lt; Median &lt; Mode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264408" y="3474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📈 S&amp;P 500 (SPX/ES) long-term returns: slight negative skew. Most months slightly positive. March 2020, Oct 2008 = large left-tail events. Bond futures during crisis.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163056" y="1828800"/>
            <a:ext cx="2834640" cy="292608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</a:rPr>
              <a:t>ZERO SKEW (Symmetric)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6254496" y="2267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93B"/>
                </a:solidFill>
              </a:rPr>
              <a:t>Skewness ≈ 0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6254496" y="257860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Approximately mirror-image around the mean. Mean ≈ Median ≈ Mode. NOT necessarily Normal — fat tails can exist with zero skew.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254496" y="3474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📈 Short-term FX futures intraday returns (EUR/USD). Random walk around zero. But kurtosis may still be high (fat tails).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Kurtosis — Tailedness, Fat Tails &amp; The Fourth Moment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943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C3AED"/>
                </a:solidFill>
              </a:rPr>
              <a:t>Kurtosis = E[(X−μ)⁴] / σ⁴     |     Excess Kurtosis = Kurtosis − 3     (Normal distribution = 3 = 0 excess)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Definition: Measures the weight of the TAILS and the PEAK of a distribution relative to a Normal distribution.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182880" y="1826782"/>
            <a:ext cx="2834640" cy="28224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C2626"/>
                </a:solidFill>
              </a:rPr>
              <a:t>LEPTOKURTIC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274320" y="2221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Excess Kurtosis &gt; 0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274320" y="2523744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Fatter tails AND sharper peak than Normal.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More extreme events than normal predicts.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High peak = many small moves.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Fat tails = rare but HUGE moves.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274320" y="3427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📈 S&amp;P 500 daily returns: Excess Kurtosis ≈ 4–8. Crash days like Oct 1987 (-22%) are 20σ+ events — impossible under Normal, real under Leptokurtic.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172968" y="1828800"/>
            <a:ext cx="2834640" cy="282039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</a:rPr>
              <a:t>MESOKURTIC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3264408" y="2221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Excess Kurtosis = 0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264408" y="2523744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Exactly Normal distribution shape.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Balanced peak and tail behaviour.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In practice, almost NO real financial asset is truly mesokurtic.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246120" y="3427040"/>
            <a:ext cx="2651760" cy="958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📈 Purely theoretical benchmark. Used in textbooks and as the baseline for Z-score assumptions.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163056" y="1828800"/>
            <a:ext cx="2834640" cy="282039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59669"/>
                </a:solidFill>
              </a:rPr>
              <a:t>PLATYKURTIC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6254496" y="2221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Excess Kurtosis &lt; 0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6254496" y="2523744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Thinner tails than Normal.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Flatter, broader peak.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Extreme events LESS frequent than Normal predicts.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217920" y="3427040"/>
            <a:ext cx="26517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📈 Some short-duration T-Bill futures returns. Also: highly diversified futures portfolios where extremes cancel out.</a:t>
            </a:r>
            <a:endParaRPr lang="en-US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All Skewness × Kurtosis Combinations — The Full Matrix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1E293B"/>
                </a:solidFill>
              </a:rPr>
              <a:t>Every real distribution can be characterised by BOTH skewness and tailedness. Here is what each combination means for futures trading:</a:t>
            </a:r>
            <a:endParaRPr lang="en-US" sz="115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99697"/>
              </p:ext>
            </p:extLst>
          </p:nvPr>
        </p:nvGraphicFramePr>
        <p:xfrm>
          <a:off x="182880" y="1157844"/>
          <a:ext cx="8778240" cy="3139688"/>
        </p:xfrm>
        <a:graphic>
          <a:graphicData uri="http://schemas.openxmlformats.org/drawingml/2006/table">
            <a:tbl>
              <a:tblPr/>
              <a:tblGrid>
                <a:gridCol w="136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5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1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SKEW \ KURTOSIS</a:t>
                      </a:r>
                      <a:endParaRPr lang="en-US" sz="10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PLATYKURTIC (thin tails)</a:t>
                      </a:r>
                      <a:endParaRPr lang="en-US" sz="10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MESOKURTIC (normal tails)</a:t>
                      </a:r>
                      <a:endParaRPr lang="en-US" sz="10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LEPTOKURTIC (fat tails)</a:t>
                      </a:r>
                      <a:endParaRPr lang="en-US" sz="10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8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Positive Skew</a:t>
                      </a:r>
                      <a:endParaRPr lang="en-US" sz="1000"/>
                    </a:p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(right tail)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Rare big wins, also rare big losses. Most moves moderate. Not common in futures.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Classic right-skewed. Long call strategies. Some commodity futures post-harvest.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⚡ MOST DANGEROUS: Normal ops + occasional large gains but ALSO large crash risk. Crude oil, NatGas.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8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Zero Skew</a:t>
                      </a:r>
                      <a:endParaRPr lang="en-US" sz="1000"/>
                    </a:p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(symmetric)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Symmetric, thin tails. Very bounded. Unusual in markets.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Textbook Normal. Closest: short-duration bond futures on quiet days.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⚡ COMMON IN EQUITY FUTURES: S&amp;P (ES/NQ) — symmetric but fat-tailed. Don't assume Normal!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8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Negative Skew</a:t>
                      </a:r>
                      <a:endParaRPr lang="en-US" sz="1000"/>
                    </a:p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(left tail)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Rare crashes but also fewer extreme gains. Some very liquid FX futures.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Classic left-skewed. Equity index options pricing assumes this.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⚡ THE EQUITY MARKET DEFAULT: ES, NQ, YM futures. Most days small gains; rare but devastating crashes. VaR underestimates true risk here.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Fat Tails (Leptokurtosis) — What They Are &amp; How to Handle Them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</a:rPr>
              <a:t>Fat Tails = Excess probability mass in extreme values relative to what Normal distribution predicts. Measured by Kurtosis &gt; 3.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274320" y="1344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</a:rPr>
              <a:t>Real Examples of Fat-Tail Events in US Futures: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41605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92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</a:rPr>
              <a:t>Oct 19, 1987: S&amp;P -22% in 1 day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365760" y="2121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~25σ event under Normal. Should happen once in the history of the universe.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617720" y="1755648"/>
            <a:ext cx="41605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92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</a:rPr>
              <a:t>Mar 16, 2020: ES -12% single day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09160" y="2121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~10σ event. Normal predicts this once in 10²⁰ days.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41605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968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</a:rPr>
              <a:t>Apr 20, 2020: CL (Crude) went negative (-$37/barrel)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Literally off any normal distribution curve.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617720" y="2560320"/>
            <a:ext cx="41605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5968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</a:rPr>
              <a:t>Flash Crash 2010: Dow -1000 pts intraday, recovered same day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4709160" y="2926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Microstructure fat tail — algo-driven, not fundamental.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274320" y="34107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</a:rPr>
              <a:t>HOW TO HANDLE FAT TAILS IN PRACTICE: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365760" y="376732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1. Do NOT use Normal distribution for VaR. Use Historical Simulation or t-distribution (heavier tails).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65760" y="401421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2. Apply Extreme Value Theory (EVT) for tail risk modeling — Generalized Pareto Distribution.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65760" y="426110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3. Multiply your σ-based stop-losses by 1.5x–3x to account for fat tail gaps.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365760" y="450799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4. Use Conditional VaR (CVaR / Expected Shortfall) — tells you the average loss WHEN VaR is breached.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5. Monitor rolling kurtosis: if it spikes, tighten risk limits immediately.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Case Study: Right-Skewed + Fat Tails (Positive Skew + Leptokurtosis)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</a:rPr>
              <a:t>This is the distribution of Crude Oil (CL) and Natural Gas (NG) Futures Returns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</a:rPr>
              <a:t>CHARACTERISTICS: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• Positive Skew: Many small losses/flat days, but occasional LARGE positive spikes (supply disruptions, OPEC cuts, geopolitical events)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65760" y="18928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• Fat Tails BOTH sides: Kurtosis &gt; 5 typical for CL. Both massive positive AND negative events exceed Normal predictions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65760" y="22768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• Mean &gt; Median: Skew pulls mean up; median is a more honest 'typical day'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65760" y="2660904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• Standard deviation is MISLEADING: It captures average spread, but the actual worst/best days are far beyond 2σ or 3σ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27432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</a:rPr>
              <a:t>HOW TO HANDLE THIS COMBINATION: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74320" y="3474720"/>
            <a:ext cx="41605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11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</a:rPr>
              <a:t>Risk Measurement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3657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Don't use σ-based risk. Use Percentile-based VaR (95th/99th) directly from historical data. Historical simulation beats parametric here.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617720" y="3474720"/>
            <a:ext cx="416052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511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563EB"/>
                </a:solidFill>
              </a:rPr>
              <a:t>Mean vs Median Decision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47091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Report MEDIAN return as your 'typical' performance. Mean is distorted by spike days. Sharpe Ratio may look great due to big wins; check Sortino Ratio too.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74320" y="4279392"/>
            <a:ext cx="41605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</a:rPr>
              <a:t>Tail Hedging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365760" y="46268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Buy cheap OTM put options on CL, or use VIX futures as a cross-hedge. Fat tails mean those 'impossible' moves DO happen.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617720" y="4279392"/>
            <a:ext cx="4160520" cy="7315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59669"/>
                </a:solidFill>
              </a:rPr>
              <a:t>Position Sizing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4709160" y="46268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Use Kelly Criterion with a 'fractional Kelly' (50% Kelly). Right-skew means occasional big wins, but fat left tail means ruin risk is real.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Case Study: Left-Skewed + Fat Tails — The Equity Futures Reality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C2626"/>
                </a:solidFill>
              </a:rPr>
              <a:t>This describes ES (S&amp;P 500 futures), NQ (Nasdaq), YM (Dow) — the most traded US equity index futures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1E293B"/>
                </a:solidFill>
              </a:rPr>
              <a:t>Negative Skew + High Kurtosis = Most dangerous combination for a long-only trader. Small steady gains, then sudden catastrophic losses.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274320" y="1810512"/>
            <a:ext cx="4160520" cy="1389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653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What happens statistically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223113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Mode &gt; Median &gt; Mean. Most days are small gains (+0.1% to +0.5%). But the mean is dragged down by crash days. A trader who only looks at median return thinks they're doing great.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617720" y="1810512"/>
            <a:ext cx="4160520" cy="13898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8653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</a:rPr>
              <a:t>VaR is systematically wrong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709160" y="223113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A 1-day 99% Normal VaR on ES might say '$15,000 max loss.' But fat left tail means actual 1% events cost $25,000–$40,000. Risk is underestimated by 40–100%.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74320" y="3273552"/>
            <a:ext cx="4160520" cy="138988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28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</a:rPr>
              <a:t>The 'positive carry' illusion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65760" y="369417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Equity futures roll yield + drift creates a positive mean return. But skewness means you can be right 85% of days and still blow up on the 15 crash days.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617720" y="3273552"/>
            <a:ext cx="4160520" cy="138988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328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</a:rPr>
              <a:t>What to do about it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709160" y="369417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1. Hold protective puts (tail hedge)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2. Use CVaR not VaR for margin requirements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3. Scale position DOWN when VIX &gt; 25 (fat tail periods)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4. Apply stress scenarios: what if -5%, -10%, -20% tomorrow?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Complete Reference: Skewness + Kurtosis → Action Guide</a:t>
            </a:r>
            <a:endParaRPr lang="en-US" sz="20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924840"/>
              </p:ext>
            </p:extLst>
          </p:nvPr>
        </p:nvGraphicFramePr>
        <p:xfrm>
          <a:off x="137160" y="749808"/>
          <a:ext cx="8869680" cy="4206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Skew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Kurtosis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Futures Example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Use Mean or Median?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Risk Tool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≈ 0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Meso (≈0)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Quiet FX futures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Either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σ-based VaR OK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Standard tools work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≈ 0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Lepto (&gt;0)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ES, NQ, YM daily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Median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Historical VaR / CVaR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Increase tail buffers 2x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≈ 0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Platy (&lt;0)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Diversified portfolio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Mean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σ-based VaR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Standard, bounded risk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Meso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Post-harvest grains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Median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Percentile-based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Watch for spike reversals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Lepto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CL, NG futures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Median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Historical Sim + CVaR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Hedge both tails; Kelly halving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Platy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Very rare in markets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Mean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σ-based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Uncommon; standard approach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Negative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Meso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Index funds (theory)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Median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Normal approx ok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Standard risk management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Negative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err="1">
                          <a:solidFill>
                            <a:srgbClr val="DC2626"/>
                          </a:solidFill>
                        </a:rPr>
                        <a:t>Lepto</a:t>
                      </a:r>
                      <a:r>
                        <a:rPr lang="en-US" sz="950" b="1">
                          <a:solidFill>
                            <a:srgbClr val="DC2626"/>
                          </a:solidFill>
                        </a:rPr>
                        <a:t> [MOST COMMON]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ES, NQ, Bond futures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000000"/>
                          </a:solidFill>
                        </a:rPr>
                        <a:t>MEDIAN only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000000"/>
                          </a:solidFill>
                        </a:rPr>
                        <a:t>CVaR / Stress Test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Tail hedge + reduce size in vol regimes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Negative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Platy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Rare in futures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Median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σ-based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Thin tails = safer than it looks</a:t>
                      </a:r>
                      <a:endParaRPr lang="en-US" sz="95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</a:rPr>
              <a:t>PART 2: Probability Distributions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FFFFFF"/>
                </a:solidFill>
              </a:rPr>
              <a:t>Normal · Log-Normal · Standard Normal · Binomial · and many more</a:t>
            </a:r>
            <a:endParaRPr 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What Is a Probability Distribution? Why Do We Need One?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</a:rPr>
              <a:t>A probability distribution is a mathematical function that assigns probabilities to every possible outcome of a random variable.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16052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07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</a:rPr>
              <a:t>Discrete Distribution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365760" y="167335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Outcomes are countable.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Example: Number of consecutive winning days on ES futures. Can be 0, 1, 2, 3... but not 2.7.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617720" y="1261872"/>
            <a:ext cx="4160520" cy="118872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3075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891B2"/>
                </a:solidFill>
              </a:rPr>
              <a:t>Continuous Distribution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709160" y="167335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Outcomes are any real number in a range.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Example: Tomorrow's ES daily return can be -5.33% or +2.71% — any real value.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74320" y="2542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</a:rPr>
              <a:t>Taxonomy of Key Distributions You Need to Know: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6052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</a:rPr>
              <a:t>Continuous — Symmetric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365760" y="32735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Normal (Gaussian), Standard Normal, t-distribution (Student's t)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17720" y="2926080"/>
            <a:ext cx="416052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97706"/>
                </a:solidFill>
              </a:rPr>
              <a:t>Continuous — Asymmetric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709160" y="32735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Log-Normal, Chi-Squared (χ²), F-distribution, Exponential, Gamma, Weibull, Generalized Pareto (for tails)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274320" y="3822192"/>
            <a:ext cx="4160520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67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9669"/>
                </a:solidFill>
              </a:rPr>
              <a:t>Discrete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365760" y="41696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Binomial, Poisson, Bernoulli, Negative Binomial, Geometric, Hypergeometric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617720" y="3822192"/>
            <a:ext cx="416052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867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C2626"/>
                </a:solidFill>
              </a:rPr>
              <a:t>Heavy-Tailed / Stable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4709160" y="41696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Cauchy, Pareto, Lévy-stable, t-distribution (low df), Generalized Extreme Value (GEV)</a:t>
            </a:r>
            <a:endParaRPr 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Normal Distribution (Gaussian) — In-Depth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E2761"/>
                </a:solidFill>
              </a:rPr>
              <a:t>f(x) = (1 / σ√2π) × e^[−(x−μ)² / 2σ²]          Defined by TWO parameters: mean (μ) and standard deviation (σ)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</a:rPr>
              <a:t>• Bell-shaped and PERFECTLY SYMMETRIC around μ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</a:rPr>
              <a:t>• Mean = Median = Mode (always, by definition)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</a:rPr>
              <a:t>• Total area under curve = 1 (probability sums to 100%)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</a:rPr>
              <a:t>• Defined by μ and σ alone, if you know these, you know everything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</a:rPr>
              <a:t>• 68% of data within ±1σ | 95% within ±2σ | 99.7% within ±3σ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</a:rPr>
              <a:t>• Mesokurtic: Excess Kurtosis = 0, Skewness = 0</a:t>
            </a:r>
            <a:endParaRPr lang="en-US" sz="115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475990511"/>
              </p:ext>
            </p:extLst>
          </p:nvPr>
        </p:nvGraphicFramePr>
        <p:xfrm>
          <a:off x="5646718" y="1417319"/>
          <a:ext cx="3314402" cy="1830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340400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</a:rPr>
              <a:t>CRITICAL LIMITATIONS FOR FUTURES TRADING: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320040" y="3711573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C2626"/>
                </a:solidFill>
              </a:rPr>
              <a:t>Fat Tails: </a:t>
            </a:r>
            <a:r>
              <a:rPr lang="en-US" sz="1100">
                <a:solidFill>
                  <a:srgbClr val="1E293B"/>
                </a:solidFill>
              </a:rPr>
              <a:t>Real futures returns have excess kurtosis. Normal underestimates crash probability. ES crash days are 10–25σ under Normal — 'impossible' but real.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320040" y="40462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C2626"/>
                </a:solidFill>
              </a:rPr>
              <a:t>Skewness: </a:t>
            </a:r>
            <a:r>
              <a:rPr lang="en-US" sz="1100">
                <a:solidFill>
                  <a:srgbClr val="1E293B"/>
                </a:solidFill>
              </a:rPr>
              <a:t>Most futures have non-zero skew. Normal assumes perfect symmetry. Left-skewed equity futures look like Normal but aren't.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320040" y="42988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C2626"/>
                </a:solidFill>
              </a:rPr>
              <a:t>Return Clustering: </a:t>
            </a:r>
            <a:r>
              <a:rPr lang="en-US" sz="1100">
                <a:solidFill>
                  <a:srgbClr val="1E293B"/>
                </a:solidFill>
              </a:rPr>
              <a:t>Returns are not i.i.d. High volatility follows high volatility (GARCH effect). Normal assumes independence.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Standard Normal Distribution — N(0,1)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</a:rPr>
              <a:t>Standard Normal: Z ~ N(0,1)     μ = 0, σ = 1     PDF: φ(z) = (1/√2π) × e^(−z²/2)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The Standard Normal is a SPECIAL CASE of the Normal where μ=0 and σ=1. It is the universal reference distribution.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4160520" cy="1389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01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Why it exists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Every Normal distribution can be converted to Standard Normal using Z = (X−μ)/σ. This lets us use ONE table (Z-table) for ALL normal distributions. Without standardisation, you'd need a different table for every μ and σ.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617720" y="1847088"/>
            <a:ext cx="4160520" cy="1389888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01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91B2"/>
                </a:solidFill>
              </a:rPr>
              <a:t>CDF (Φ) — Reading Probabilities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709160" y="22402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Φ(z) = P(Z ≤ z). From Z-table: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Φ(1.65) = 0.95 → 95% of values below 1.65σ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Φ(−1.96) = 0.025 → 2.5% in left tail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Φ(2.33) = 0.99 → 99% of values below +2.33σ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74320" y="3328416"/>
            <a:ext cx="4160520" cy="13898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83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One-Tail vs Two-Tail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65760" y="37216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One-tail P(Z &gt; 1.65) = 5%: Probability ES rises MORE than 1.65σ tomorrow.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Two-tail P(|Z| &gt; 1.96) = 5%: Probability ES moves MORE than ±1.96σ (either direction).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617720" y="3328416"/>
            <a:ext cx="4160520" cy="138988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383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</a:rPr>
              <a:t>Futures Application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709160" y="37216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ES daily σ = 1.2%. You want to know P(loss &gt; 2.4% today).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Z = −2.4/1.2 = −2.0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P(Z &lt; −2) = Φ(−2) = 2.28%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Interpretation: 2.28% chance of 2.4% or worse loss today — IF normal (it's not, but this is the floor estimate).</a:t>
            </a:r>
            <a:endParaRPr lang="en-US" sz="10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Log-Normal Distribution — Why Prices (Not Returns) Use This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93B"/>
                </a:solidFill>
              </a:rPr>
              <a:t>If X ~ Log-Normal, then ln(X) ~ Normal.     PDF: f(x) = (1/xσ√2π) × e^[−(ln x − μ)² / 2σ²]     (x &gt; 0)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D97706"/>
                </a:solidFill>
              </a:rPr>
              <a:t>KEY INSIGHT: Futures PRICES cannot go below zero (mostly). Log-Normal ensures this. Returns can be negative; prices cannot.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274320" y="1810512"/>
            <a:ext cx="4160520" cy="138988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65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</a:rPr>
              <a:t>When prices are Log-Normal: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220370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Log(P_t / P_{t−1}) = daily log-return is Normal.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This is why we use LOG RETURNS in futures analysis, not simple returns.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Log returns are additive; simple returns are not.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ES at 5000: log(5100/5000) = ln(1.02) = 1.98% ≈ same as 2% (small moves).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617720" y="1810512"/>
            <a:ext cx="4160520" cy="1389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865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Properties of Log-Normal: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709160" y="220370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Always positive (prices can't go negative — except oil in 2020!)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Right-skewed (long right tail — prices CAN double, cannot halve below zero)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Mean &gt; Median &gt; Mode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Higher volatility → MORE skew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Used in Black-Scholes options pricing model.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4160520" cy="13898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46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</a:rPr>
              <a:t>When Log-Normal FAILS: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65760" y="36850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CL futures went negative in April 2020 (-$37/bbl)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→ Log-Normal = undefined for X ≤ 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Solution: Use Normal distribution on LOG RETURNS except during storage limit crises.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Always have a contingency distribution.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617720" y="3291840"/>
            <a:ext cx="4160520" cy="138988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346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</a:rPr>
              <a:t>Practical Futures Use: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709160" y="36850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Options pricing on futures (Black-76 model) assumes Log-Normal prices.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Implied Volatility derived from Log-Normal assumptions.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Volatility smile/skew = market knowing prices AREN'T really Log-Normal.</a:t>
            </a:r>
            <a:endParaRPr lang="en-US" sz="10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Binomial Distribution — Win/Lose, Up/Down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813816"/>
            <a:ext cx="8503920" cy="56692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93B"/>
                </a:solidFill>
              </a:rPr>
              <a:t>P(X = k) = C(n,k) × p^k × (1−p)^(n−k)     Mean = np,  Variance = np(1−p),  n=trials, p=probability of success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74320" y="1496290"/>
            <a:ext cx="4160520" cy="1338349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37854"/>
            <a:ext cx="3931920" cy="199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</a:rPr>
              <a:t>What it models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Binary outcomes: UP or DOWN, WIN or LOSE, FILL or NO FILL. Each trial is independent with same probability p.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Example: If ES has a 55% probability of a positive day (based on historical data), what's P(7 up days out of 10)?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617720" y="1496290"/>
            <a:ext cx="4160520" cy="133835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49130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Futures Trading Application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70916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Win rate analysis: If your ES strategy wins 60% of trades (p=0.6), over 20 trades: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Expected wins = 20 × 0.6 = 12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Std Dev = √(20 × 0.6 × 0.4) = 2.19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P(fewer than 8 wins) = Binomial CDF → can calculate ruin probability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60520" cy="144475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809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</a:rPr>
              <a:t>Assumptions (all must hold!)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65760" y="327355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1. Fixed number of trials (n)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2. Each trial is INDEPENDENT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3. Same probability p in each trial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4. Only 2 outcomes per trial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⚠️ Markets violate #2 and #3: returns cluster and win rates change with regime.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617720" y="2926080"/>
            <a:ext cx="4160520" cy="144475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9809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Relationship to Normal (CLT)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709160" y="3261795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As n → ∞ with fixed p, Binomial → Normal with μ=np, σ=√(np(1−p)).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For large n, use Normal approximation.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For small n or extreme p, stick with Binomial.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Rule of thumb: use Normal if np &gt; 5 AND n(1−p) &gt; 5.</a:t>
            </a:r>
            <a:endParaRPr lang="en-US" sz="10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Other Key Distributions — t, Poisson, Chi², Exponential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4206240" cy="20574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95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Student's t-Distribution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274320" y="1152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</a:rPr>
              <a:t>Parameters: Defined by degrees of freedom (df = n−1)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Like Normal but with FATTER tails. As df→∞, t→Normal. Low df = much fatter tails (heavier than Normal).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274320" y="197510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📈 USE: BEST choice for futures returns modeling when you know fat tails exist. Use t(df=4 to 6) for equity futures — matches empirical kurtosis well. Used in t-based VaR and robust regression.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617720" y="749808"/>
            <a:ext cx="4206240" cy="20574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795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Poisson Distribution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709160" y="1152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</a:rPr>
              <a:t>Parameters: λ = average rate of events per time period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709160" y="1444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P(X=k) = e^(−λ) × λ^k / k!  Models count of rare events in a fixed interval.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4709160" y="197510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📈 USE: Futures: Number of limit-down/circuit-breaker days per year. Number of flash crash events in a quarter. Number of 3σ+ moves in a rolling 30-day window. λ for ES circuit breakers ≈ 2–3 per decade.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182880" y="2898648"/>
            <a:ext cx="4206240" cy="2057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44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</a:rPr>
              <a:t>Chi-Squared (χ²) Distribution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274320" y="3300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</a:rPr>
              <a:t>Parameters: Sum of k squared standard normals. Defined by k df.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274320" y="3593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Always positive, right-skewed. As k increases → approaches Normal.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274320" y="412394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📈 USE: Testing if observed variance equals hypothesised variance (Goodness-of-fit). Are CL returns really from a Normal distribution? Use χ² test. Also used in portfolio risk decomposition.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617720" y="2898648"/>
            <a:ext cx="4206240" cy="20574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944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</a:rPr>
              <a:t>Exponential Distribution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709160" y="3300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</a:rPr>
              <a:t>Parameters: f(x) = λe^(−λx), x ≥ 0. Mean = 1/λ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4709160" y="3593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Models TIME between events. Memoryless property: future wait time doesn't depend on past.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4709160" y="412394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</a:rPr>
              <a:t>📈 USE: Time between consecutive 2σ+ moves in NQ futures. Time between margin calls during a volatile period. Useful in microstructure: time between large trades (market impact modeling).</a:t>
            </a:r>
            <a:endParaRPr lang="en-US" sz="9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How to Choose the Right Distribution for Your Data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E2761"/>
                </a:solidFill>
              </a:rPr>
              <a:t>Never assume a distribution. Always test it. Here is the decision framework:</a:t>
            </a:r>
            <a:endParaRPr lang="en-US" sz="120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859536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Question to Ask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If YES →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Distribution / Tool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Is data counts or binary?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Discrete outcomes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Binomial / Poisson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Is data always positive?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Prices, volatility, volume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Log-Normal, Gamma, Exponential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Is data symmetric, bell-shaped?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Quick check: Skew ≈ 0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Normal (but verify kurtosis)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Symmetric but fat-tailed?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Kurtosis &gt; 4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Student's t (df 3–6 for futures)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Right-skewed with fat tails?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Oil, gas futures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Log-Normal or Gamma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Extreme tail events focus?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VaR, CVaR, crash analysis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Generalized Pareto (EVT)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Time between events?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Trade intervals, circuit breakers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Exponential, Weibull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Testing variances / model fit?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Hypothesis tests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Chi-Squared, F-distribution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4622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</a:rPr>
              <a:t>TESTS TO VERIFY YOUR DISTRIBUTION CHOICE: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Shapiro-Wilk / Jarque-Bera test</a:t>
            </a:r>
            <a:r>
              <a:rPr lang="en-US" sz="1100">
                <a:solidFill>
                  <a:srgbClr val="1E293B"/>
                </a:solidFill>
              </a:rPr>
              <a:t> — tests for Normality   |   </a:t>
            </a:r>
            <a:r>
              <a:rPr lang="en-US" sz="1100" b="1">
                <a:solidFill>
                  <a:srgbClr val="1E293B"/>
                </a:solidFill>
              </a:rPr>
              <a:t>Q-Q Plot</a:t>
            </a:r>
            <a:r>
              <a:rPr lang="en-US" sz="1100">
                <a:solidFill>
                  <a:srgbClr val="1E293B"/>
                </a:solidFill>
              </a:rPr>
              <a:t> — visual normality check   |   </a:t>
            </a:r>
            <a:r>
              <a:rPr lang="en-US" sz="1100" b="1">
                <a:solidFill>
                  <a:srgbClr val="1E293B"/>
                </a:solidFill>
              </a:rPr>
              <a:t>K-S Test</a:t>
            </a:r>
            <a:r>
              <a:rPr lang="en-US" sz="1100">
                <a:solidFill>
                  <a:srgbClr val="1E293B"/>
                </a:solidFill>
              </a:rPr>
              <a:t> — any distribution fit   |   </a:t>
            </a:r>
            <a:r>
              <a:rPr lang="en-US" sz="1100" b="1">
                <a:solidFill>
                  <a:srgbClr val="1E293B"/>
                </a:solidFill>
              </a:rPr>
              <a:t>Anderson-Darling</a:t>
            </a:r>
            <a:r>
              <a:rPr lang="en-US" sz="1100">
                <a:solidFill>
                  <a:srgbClr val="1E293B"/>
                </a:solidFill>
              </a:rPr>
              <a:t> — emphasises tails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</a:rPr>
              <a:t>PART 3: Standardisation, Normalisation &amp; Z-Scores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FFFFFF"/>
                </a:solidFill>
              </a:rPr>
              <a:t>How to make data comparable across scales and instruments</a:t>
            </a:r>
            <a:endParaRPr lang="en-US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Normalisation vs Standardisation — The Fundamental Difference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DC2626"/>
                </a:solidFill>
              </a:rPr>
              <a:t>Both rescale data. They are NOT interchangeable. Choosing the wrong one gives wrong results.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20040" y="1161288"/>
            <a:ext cx="4067892" cy="30175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563EB"/>
                </a:solidFill>
              </a:rPr>
              <a:t>NORMALISATION (Min-Max Scaling)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365760" y="1636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Formula: X_norm = (X − X_min) / (X_max − X_min)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65760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Output: Scales data to [0, 1] range (or [a, b])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65760" y="22494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Use when: When you need BOUNDED output. Neural networks, ML feature scaling when range matters more than distribution shape.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365760" y="28453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E293B"/>
                </a:solidFill>
              </a:rPr>
              <a:t>📈 Futures: Normalise RSI or stochastic oscillator to compare momentum across instruments: CL RSI=72 vs ES RSI=55.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365760" y="35478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C2626"/>
                </a:solidFill>
              </a:rPr>
              <a:t>⚠️ Weakness: Highly sensitive to outliers. One extreme data point compresses all others near 0 or 1. One flash crash day destroys your normalised ES return series.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572000" y="1170432"/>
            <a:ext cx="4206240" cy="30175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216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D97706"/>
                </a:solidFill>
              </a:rPr>
              <a:t>STANDARDISATION (Z-Score Scaling)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4709160" y="1636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Formula: X_std = (X − μ) / σ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709160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Output: Centers data at 0, unit variance. Output unbounded.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4709160" y="2286000"/>
            <a:ext cx="3931920" cy="55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Use when: When distribution SHAPE matters. Statistical tests, comparing means, Z-scores, PCA, regression. Default choice for financial data.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4709160" y="2922517"/>
            <a:ext cx="3931920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E293B"/>
                </a:solidFill>
              </a:rPr>
              <a:t>📈 Futures: Standardise ES and CL returns to compare them: ES Z=-1.5 means ES is 1.5 SDs below its mean; CL Z=+2.1 means CL is 2.1 SDs above its mean. Now they're comparable.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709160" y="35478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C2626"/>
                </a:solidFill>
              </a:rPr>
              <a:t>⚠️ Weakness: Assumes somewhat symmetric distribution. Works best when data is approximately Normal. Less meaningful for highly skewed data without transformation first.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20040" y="4437868"/>
            <a:ext cx="8595360" cy="39016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622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Rule of Thumb: For FINANCIAL data, use STANDARDISATION (Z-score) by default. Normalisation is for ML/deep learning feature prep.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Z-Scores — Definition, Formula &amp; Intuition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2761"/>
                </a:solidFill>
              </a:rPr>
              <a:t>Z = (X − μ) / σ        'How many standard deviations is X from the mean?'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The Z-score is the universal language of statistics. It converts any measurement into a standardised, comparable number.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563EB"/>
                </a:solidFill>
              </a:rPr>
              <a:t>ES Futures Example: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2743200" y="1938528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ES 20-day mean return = 0.05%/day, σ = 1.0%/day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Today's return = −2.5%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Z = (−2.5 − 0.05) / 1.0 = −2.55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Interpretation: Today was 2.55 standard deviations BELOW average. Under Normal, ~0.5% probability.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169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</a:rPr>
              <a:t>Cross-Instrument Comparison: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2743200" y="2898648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CL return today: +4% (μ=0.02%, σ=1.8%) → Z = +2.21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ES return today: +1.5% (μ=0.05%, σ=1.0%) → Z = +1.45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Conclusion: CL move was MORE unusual than ES move today, even though ES % gain looks smaller. Z-score reveals TRUE unusualness.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859536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877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7C3AED"/>
                </a:solidFill>
              </a:rPr>
              <a:t>Volume Z-Score (Surprising Moves):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2743200" y="3858768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NQ volume: mean=500K contracts/day, σ=80K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Today's volume=750K → Z = (750−500)/80 = +3.125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Interpretation: Unusually HIGH volume — potential informed trading, institutional rebalancing, or upcoming news event. HIGH volume Z-scores precede big moves.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</a:rPr>
              <a:t>Z-Score Reference: Z = ±1 → fairly common (32% of data outside) | Z = ±2 → unusual (5%) | Z = ±3 → rare (0.3% Normal) | Z = ±4+ → extreme event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Why Use Z-Scores? 6 Powerful Reasons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834640" cy="202082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3210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32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1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85800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</a:rPr>
              <a:t>Comparability across instruments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274320" y="1252728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ES daily return of 1.5% vs CL return of 2.5% — which is more unusual? You can't compare raw returns. Z-scores put both on the same scale. ES Z=1.5 vs CL Z=1.4 → now they're comparable.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172968" y="749808"/>
            <a:ext cx="2834640" cy="2020824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8321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832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2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3675888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891B2"/>
                </a:solidFill>
              </a:rPr>
              <a:t>Probability estimation (if Normal)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264408" y="1252728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Z=1.96 → 97.5th percentile. Z=−2.33 → 1st percentile. You can look up exact probabilities from Z-table for known distributions.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163056" y="749808"/>
            <a:ext cx="2834640" cy="202082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83210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832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3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6665976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97706"/>
                </a:solidFill>
              </a:rPr>
              <a:t>Outlier detection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254496" y="1252728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In financial data, |Z| &gt; 3 flags extreme events. |Z| &gt; 4 is almost certainly a data error OR a genuine market crisis. Monitor Z-scores of returns in real-time to trigger risk alerts.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182880" y="2862072"/>
            <a:ext cx="2834640" cy="199339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91693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4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685800" y="2953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C3AED"/>
                </a:solidFill>
              </a:rPr>
              <a:t>Signal generation (mean reversion)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274320" y="33375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If CL futures Z-score vs its 20-day mean = −2.5, it's 2.5 SDs oversold. Mean-reversion strategies: buy when Z &lt; −2, sell when Z &gt; +2. This is the foundation of pairs trading and stat arb.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3172968" y="2862072"/>
            <a:ext cx="2834640" cy="19933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291693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5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3675888" y="2953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9669"/>
                </a:solidFill>
              </a:rPr>
              <a:t>Feature engineering for models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264408" y="33375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ML models need standardised inputs. Feeding raw prices (5000) alongside volume (500,000) into a model will bias it. Z-scoring all features puts them on equal footing.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163056" y="2862072"/>
            <a:ext cx="2834640" cy="199339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54496" y="2916936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6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6665976" y="2953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C2626"/>
                </a:solidFill>
              </a:rPr>
              <a:t>Risk monitoring (Bollinger Bands)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6254496" y="33375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Bollinger Bands = price ± 2σ = price ± 2 × Z units. When price Z-score exceeds ±2, it's statistically 'extreme' on a recent basis. Real-time Z-scoring of ES prices is used by every major trading desk.</a:t>
            </a:r>
            <a:endParaRPr lang="en-US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How to Implement Z-Scores — Step-by-Step with ES Futures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834640" cy="20299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563EB"/>
                </a:solidFill>
              </a:rPr>
              <a:t>Step 1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Collect your data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274320" y="142646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Gather N observations of your variable.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Example: 252 trading days of ES daily % returns.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Decide: Population Z (known μ, σ) or Sample Z (estimated from data).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For trading: almost always SAMPLE Z. Market parameters are never fixed.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172968" y="749808"/>
            <a:ext cx="2834640" cy="2029968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804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891B2"/>
                </a:solidFill>
              </a:rPr>
              <a:t>Step 2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3264408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91B2"/>
                </a:solidFill>
              </a:rPr>
              <a:t>Choose your lookback window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3264408" y="142646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CRITICAL decision. Short window (20 days) = recent Z-score relative to recent behaviour. Long window (252 days) = Z relative to full year. Different windows give different signals. Use rolling windows for real-time trading.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6163056" y="749808"/>
            <a:ext cx="2834640" cy="202996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804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7C3AED"/>
                </a:solidFill>
              </a:rPr>
              <a:t>Step 3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6254496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Calculate μ and σ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6254496" y="142646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Rolling mean: x̄_t = (1/N) × Σᵢ₌ₜ₋ₙ+₁ᵗ xᵢ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Rolling std dev: s_t = √[Σ(xᵢ−x̄)²/(N−1)]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Example: ES 20-day rolling mean = 0.03%/day, rolling σ = 0.95%/day today.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182880" y="2871216"/>
            <a:ext cx="2834640" cy="20299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97706"/>
                </a:solidFill>
              </a:rPr>
              <a:t>Step 4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274320" y="3218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</a:rPr>
              <a:t>Compute Z-score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274320" y="3547872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Z_t = (x_t − x̄_t) / s_t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Today ES return = −1.8%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Z = (−1.8 − 0.03) / 0.95 = −1.93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Interpretation: ES today was 1.93 standard deviations below its recent 20-day average.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3172968" y="2871216"/>
            <a:ext cx="2834640" cy="202996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9669"/>
                </a:solidFill>
              </a:rPr>
              <a:t>Step 5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3264408" y="3218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</a:rPr>
              <a:t>Look up probability (if applicable)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3264408" y="3547872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If assuming Normal: P(Z &lt; −1.93) = Φ(−1.93) ≈ 2.7%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So today's ES move was in the bottom 2.7% of recent moves.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For fat-tailed data: use empirical percentile from historical Z-score distribution instead of Normal table.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6163056" y="2871216"/>
            <a:ext cx="2834640" cy="20299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</a:rPr>
              <a:t>Step 6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254496" y="3218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</a:rPr>
              <a:t>Take action / set thresholds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6254496" y="3547872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Common trading thresholds: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|Z| &gt; 1 → mild signal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|Z| &gt; 2 → moderate signal (5% under Normal)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|Z| &gt; 3 → strong signal / risk alert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|Z| &gt; 4 → circuit-breaker level / check data error</a:t>
            </a:r>
            <a:endParaRPr lang="en-US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How to Read and Check if Data Is Properly Standardised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E2761"/>
                </a:solidFill>
              </a:rPr>
              <a:t>Once you have Z-scored data, you need to VERIFY it was done correctly and interpret it accurately.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</a:rPr>
              <a:t>VERIFICATION CHECKS FOR Z-SCORED DATA: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182880" y="1508760"/>
            <a:ext cx="2834640" cy="16276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</a:rPr>
              <a:t>Mean ≈ 0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274320" y="189280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Calculate mean of Z-scores. Should be ~0.00. If mean = 0.15, your baseline calculation is off.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274320" y="2679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</a:rPr>
              <a:t>✅ Mean = 0.02 ✅  |  Mean = 0.45 ❌ (μ miscalculated)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172968" y="1508760"/>
            <a:ext cx="2834640" cy="16276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55448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Std Dev ≈ 1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264408" y="189280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Calculate SD of Z-scores. Should be ~1.00. Significantly different means wrong σ.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3264408" y="2679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</a:rPr>
              <a:t>✅ SD = 0.98 ✅  |  SD = 2.3 ❌ (σ too small)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6163056" y="1508760"/>
            <a:ext cx="2834640" cy="162763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55448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Q-Q Plot vs Normal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254496" y="189280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Plot Z-scores on Q-Q plot vs Normal. If fat tails exist, tails curve away from the 45° line. This is the FAT TAIL detector.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254496" y="2679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</a:rPr>
              <a:t>✅ Points on line ✅  |  S-curve = fat tails ❌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182880" y="3227832"/>
            <a:ext cx="2834640" cy="16276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735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</a:rPr>
              <a:t>Range of Z-scores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274320" y="36118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In 252 trading days, you should have VERY FEW |Z| &gt; 3 if Normal (expect ~0–1). More than 5–10 days at |Z| &gt; 3 per year = fat tails confirmed.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274320" y="43982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</a:rPr>
              <a:t>✅ 2 days |Z|&gt;3 in 252 ✅  |  15 days |Z|&gt;3 = non-Normal ❌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172968" y="3227832"/>
            <a:ext cx="2834640" cy="16276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32735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</a:rPr>
              <a:t>Histogram shape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3264408" y="36118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Plot histogram of Z-scores. True standardised Normal data looks like bell curve centered at 0. Skewness or fat tails in histogram = distribution assumption is wrong.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3264408" y="43982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</a:rPr>
              <a:t>✅ Bell shape at 0 ✅  |  Asymmetric or fat = check dist ❌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6163056" y="3227832"/>
            <a:ext cx="2834640" cy="1627632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2735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91B2"/>
                </a:solidFill>
              </a:rPr>
              <a:t>Jarque-Bera Test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254496" y="36118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JB = n/6 × [Skew² + (Kurtosis−3)²/4]. If JB is large (p &lt; 0.05), reject Normality. Test the Z-scores themselves — if Normal, should pass JB.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6254496" y="43982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</a:rPr>
              <a:t>✅ JB p-value = 0.42 ✅  |  JB p-value = 0.001 ❌ non-Normal</a:t>
            </a:r>
            <a:endParaRPr lang="en-US"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Z-Score Assumptions — And What Happens When They Break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E2761"/>
                </a:solidFill>
              </a:rPr>
              <a:t>Z-scores are powerful tools BUT only valid when certain assumptions hold. Violating them doesn't mean 'don't use Z-scores' — it means 'use them with adjustments'.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274320" y="1216152"/>
            <a:ext cx="8595360" cy="950976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16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563EB"/>
                </a:solidFill>
              </a:rPr>
              <a:t>Assumption 1: Data is approximately Normal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358041" y="1449324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59669"/>
                </a:solidFill>
              </a:rPr>
              <a:t>✅ Valid when: Short-term FX futures intraday returns (CLT helps with aggregation). T-bill futures on normal days.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358041" y="165922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2626"/>
                </a:solidFill>
              </a:rPr>
              <a:t>❌ Broken when: Any equity index futures (ES, NQ) — fat tails. Oil/gas futures — right skew. ANY futures during crisis.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58041" y="1869116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🔧 Fix: Use empirical percentile rank instead of Z-table. Or use t-distribution CDF instead of Normal CDF. Report Z AND empirical percentile together.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274320" y="2263140"/>
            <a:ext cx="859536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7457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</a:rPr>
              <a:t>Assumption 2: Observations are i.i.d. (independent, identical distribution)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11480" y="252145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59669"/>
                </a:solidFill>
              </a:rPr>
              <a:t>✅ Valid when: Returns over very short periods (millisecond to minute level might approach this).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11480" y="279577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2626"/>
                </a:solidFill>
              </a:rPr>
              <a:t>❌ Broken when: ALWAYS violated in daily futures returns. Returns are autocorrelated during trends. Volatility clusters (GARCH). Regime changes break 'identical distribution'.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411480" y="3041003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🔧 Fix: Use rolling Z-scores with appropriate window. Apply GARCH standardisation: Z_t = r_t / σ_GARCH,t (standardise by conditional volatility).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274320" y="3493839"/>
            <a:ext cx="8595360" cy="11430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86269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</a:rPr>
              <a:t>Assumption 3: μ and σ are stable (stationary)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411480" y="3700737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59669"/>
                </a:solidFill>
              </a:rPr>
              <a:t>✅ Valid when: Very short rolling windows during low-volatility periods.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11480" y="3988773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C2626"/>
                </a:solidFill>
              </a:rPr>
              <a:t>❌ Broken when: During COVID, VIX regime changes, FOMC surprises — both μ and σ shift dramatically. A Z=3 in calm markets is very different from Z=3 in Mar 2020.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411480" y="430263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🔧 Fix: Use CONDITIONAL Z-scores: Z_t = (r_t − μ_regime) / σ_regime. Detect regimes using Hidden Markov Models or VIX thresholds (&lt; 15 = calm, &gt;25 = crisis).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274320" y="4724063"/>
            <a:ext cx="85953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041" y="4689387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GARCH Standardisation is the gold standard for financial Z-scores: Z_t = r_t / σ_GARCH,t. This removes volatility clustering.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Mean–Median–Mode Relationship — Is It Valid Everywhere?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164592" y="745533"/>
            <a:ext cx="8814816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</a:rPr>
              <a:t>The relationship Mean &gt; Median &gt; Mode (for positive skew) is a RULE OF THUMB, not a mathematical law. There are important exceptions.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146305" y="1589096"/>
            <a:ext cx="2834640" cy="3125409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26731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</a:rPr>
              <a:t>Where it IS valid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283465" y="2124317"/>
            <a:ext cx="2743200" cy="1823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Unimodal, continuous distributions where skewness is moderate.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Right-skewed: Mode &lt; Median &lt; Mean ✅ (commodity futures, most of the time)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Left-skewed: Mean &lt; Median &lt; Mode ✅ (equity index futures, most of the time)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Symmetric: Mean = Median = Mode ✅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These hold for smooth, single-peaked distributions like Normal, Log-Normal, Gamma.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172968" y="1589096"/>
            <a:ext cx="2834640" cy="31254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651501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C2626"/>
                </a:solidFill>
              </a:rPr>
              <a:t>Where it is NOT valid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3264408" y="2124318"/>
            <a:ext cx="2651760" cy="218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Bimodal distributions: ES returns during 'risk-on / risk-off' regimes create TWO modes. The relationship breaks down entirely.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Heavy outliers: One -20% crash day can make Mean &lt;&lt; Median, but Mode is still at the cluster of small daily returns.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Discrete distributions: Binomial with p=0.5 and n=10 has Mode ≠ Median at small n.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Uniform distributions: All values equally likely → mean, median equal but mode undefined.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6163056" y="1589097"/>
            <a:ext cx="2834640" cy="312540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933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Practical rules for futures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6254496" y="2046771"/>
            <a:ext cx="2651760" cy="253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Always COMPUTE all three — never assume from distribution name alone.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If Mean and Median diverge by &gt; 20% of σ: your data is skewed enough that Mean alone is misleading.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If you see Bimodal behaviour (e.g., ES return histogram with two humps), split your analysis by REGIME before computing any central tendency.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VaR and risk calculations: NEVER use Mean as the central tendency for extreme loss estimation — always use the TAIL DIRECTLY.</a:t>
            </a:r>
            <a:endParaRPr lang="en-US" sz="10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Why We Need Mean AND Standard Deviation Together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E2761"/>
                </a:solidFill>
              </a:rPr>
              <a:t>Two datasets can have the same mean but completely different risk profiles. And same SD but different average performance. You always need BOTH.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SAME MEAN — Different Risk:</a:t>
            </a:r>
            <a:endParaRPr lang="en-US" sz="120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36192"/>
          <a:ext cx="4114800" cy="132207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Portfolio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Mean Return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Sharpe Ratio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ES Strategy A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0.5%/day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0.5%/day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ES Strategy B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0.5%/day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2.0%/day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0.25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ES Strategy C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0.5%/day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5.0%/day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0.10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8163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Strategy A and B have identical mean returns. But A has 4x lower risk. Without SD, they look the same. SD reveals the hidden risk.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475488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91B2"/>
                </a:solidFill>
              </a:rPr>
              <a:t>SAME SD — Different Mean:</a:t>
            </a:r>
            <a:endParaRPr lang="en-US" sz="120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4114800" cy="132207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Portfolio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Mean Return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Sharpe Ratio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CL Strategy X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0.8%/day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1.2%/day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0.67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CL Strategy 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0.1%/day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1.2%/day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0.08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CL Strategy Z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-0.2%/day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1.2%/day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-0.17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754880" y="28163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All three have identical SD (same risk). But drastically different returns. Without Mean, they all look equally risky. Mean reveals the hidden return difference.</a:t>
            </a:r>
            <a:endParaRPr lang="en-US" sz="1000"/>
          </a:p>
        </p:txBody>
      </p:sp>
      <p:sp>
        <p:nvSpPr>
          <p:cNvPr id="11" name="Text 7"/>
          <p:cNvSpPr/>
          <p:nvPr/>
        </p:nvSpPr>
        <p:spPr>
          <a:xfrm>
            <a:off x="274320" y="33832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</a:rPr>
              <a:t>THE SHARPE RATIO: Mean / SD (excess return per unit of risk). This is WHY you need BOTH together. It's the most used single metric in institutional trading.</a:t>
            </a:r>
            <a:endParaRPr lang="en-US" sz="1200"/>
          </a:p>
        </p:txBody>
      </p:sp>
      <p:sp>
        <p:nvSpPr>
          <p:cNvPr id="12" name="Shape 8"/>
          <p:cNvSpPr/>
          <p:nvPr/>
        </p:nvSpPr>
        <p:spPr>
          <a:xfrm>
            <a:off x="274320" y="3822192"/>
            <a:ext cx="2743200" cy="106984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</a:rPr>
              <a:t>Coefficient of Variation (CV)</a:t>
            </a:r>
            <a:endParaRPr lang="en-US" sz="1100"/>
          </a:p>
        </p:txBody>
      </p:sp>
      <p:sp>
        <p:nvSpPr>
          <p:cNvPr id="14" name="Text 10"/>
          <p:cNvSpPr/>
          <p:nvPr/>
        </p:nvSpPr>
        <p:spPr>
          <a:xfrm>
            <a:off x="365760" y="4169664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CV = σ / μ × 100%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Relative risk. ES: mean=0.5%, σ=1% → CV=200%. CL: mean=0.3%, σ=1.8% → CV=600%. CL is 3x MORE risky per unit of return.</a:t>
            </a:r>
            <a:endParaRPr lang="en-US" sz="1000"/>
          </a:p>
        </p:txBody>
      </p:sp>
      <p:sp>
        <p:nvSpPr>
          <p:cNvPr id="15" name="Shape 11"/>
          <p:cNvSpPr/>
          <p:nvPr/>
        </p:nvSpPr>
        <p:spPr>
          <a:xfrm>
            <a:off x="3264408" y="3822192"/>
            <a:ext cx="2743200" cy="10698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55848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97706"/>
                </a:solidFill>
              </a:rPr>
              <a:t>Information Ratio</a:t>
            </a:r>
            <a:endParaRPr lang="en-US" sz="1100"/>
          </a:p>
        </p:txBody>
      </p:sp>
      <p:sp>
        <p:nvSpPr>
          <p:cNvPr id="17" name="Text 13"/>
          <p:cNvSpPr/>
          <p:nvPr/>
        </p:nvSpPr>
        <p:spPr>
          <a:xfrm>
            <a:off x="3355848" y="4169664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IR = (Portfolio Return − Benchmark) / Tracking Error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= (Mean active return) / (SD of active return)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Used to evaluate ES systematic strategies against benchmark.</a:t>
            </a:r>
            <a:endParaRPr lang="en-US" sz="1000"/>
          </a:p>
        </p:txBody>
      </p:sp>
      <p:sp>
        <p:nvSpPr>
          <p:cNvPr id="18" name="Shape 14"/>
          <p:cNvSpPr/>
          <p:nvPr/>
        </p:nvSpPr>
        <p:spPr>
          <a:xfrm>
            <a:off x="6254496" y="3822192"/>
            <a:ext cx="2743200" cy="10698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45936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C2626"/>
                </a:solidFill>
              </a:rPr>
              <a:t>When Mean is useless alone</a:t>
            </a:r>
            <a:endParaRPr lang="en-US" sz="1100"/>
          </a:p>
        </p:txBody>
      </p:sp>
      <p:sp>
        <p:nvSpPr>
          <p:cNvPr id="20" name="Text 16"/>
          <p:cNvSpPr/>
          <p:nvPr/>
        </p:nvSpPr>
        <p:spPr>
          <a:xfrm>
            <a:off x="6345936" y="4169664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A strategy with 0% mean return can still be useful (market-neutral hedging). A strategy with 5% mean return can be disastrous (σ=50%, will blow up). NEVER evaluate strategies on Mean alone.</a:t>
            </a:r>
            <a:endParaRPr lang="en-US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Reading Financial Data — Complete Statistical Checklist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E2761"/>
                </a:solidFill>
              </a:rPr>
              <a:t>When you receive a new futures return series, here is the EXACT sequence of statistical checks to run: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2834640" cy="1783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2529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01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713232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563EB"/>
                </a:solidFill>
              </a:rPr>
              <a:t>Central Tendency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274320" y="16733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Compute Mean, Median, Mode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Compare them: are they similar or divergent?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Divergent = distribution is skewed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172968" y="1170432"/>
            <a:ext cx="2834640" cy="1783080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22529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02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703320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</a:rPr>
              <a:t>Spread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3264408" y="16733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Compute Variance and SD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Compute Range (Max − Min)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Compute IQR (25th to 75th percentile)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Annualise SD × √252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163056" y="1170432"/>
            <a:ext cx="2834640" cy="17830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225296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03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693408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</a:rPr>
              <a:t>Shape — Skewness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6254496" y="16733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Calculate skewness coefficient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Negative = left tail (equity futures)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Positive = right tail (commodity futures)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|Skew| &gt; 0.5 = meaningful asymmetry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182880" y="3044952"/>
            <a:ext cx="2834640" cy="1783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99816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04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713232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</a:rPr>
              <a:t>Shape — Kurtosis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274320" y="354787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Calculate excess kurtosis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&gt; 1: mild fat tails, adjust risk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&gt; 3: significant fat tails, use CVaR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&gt; 6: extreme fat tails, tail hedging required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172968" y="3044952"/>
            <a:ext cx="2834640" cy="17830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64408" y="309981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05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703320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7C3AED"/>
                </a:solidFill>
              </a:rPr>
              <a:t>Normality Testing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3264408" y="354787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Jarque-Bera test (p &lt; 0.05 = reject Normal)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Shapiro-Wilk for small samples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Q-Q Plot for visual inspection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Histogram overlay with fitted Normal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6163056" y="3044952"/>
            <a:ext cx="2834640" cy="178308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4496" y="3099816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06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6693408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59669"/>
                </a:solidFill>
              </a:rPr>
              <a:t>Z-Score &amp; Outlier Analysis</a:t>
            </a:r>
            <a:endParaRPr lang="en-US" sz="1150"/>
          </a:p>
        </p:txBody>
      </p:sp>
      <p:sp>
        <p:nvSpPr>
          <p:cNvPr id="34" name="Text 32"/>
          <p:cNvSpPr/>
          <p:nvPr/>
        </p:nvSpPr>
        <p:spPr>
          <a:xfrm>
            <a:off x="6254496" y="354787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Standardise returns → check Z-score distribution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Flag |Z| &gt; 3 events — log dates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Count fat tail events vs Normal prediction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Adjust distribution assumption accordingly</a:t>
            </a:r>
            <a:endParaRPr lang="en-US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Full Case Study: Statistical Analysis of ES (S&amp;P 500) Futures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E2761"/>
                </a:solidFill>
              </a:rPr>
              <a:t>Let's run through a complete statistical analysis of ES futures daily returns (2020–2024, 1000 trading days)</a:t>
            </a:r>
            <a:endParaRPr lang="en-US" sz="120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581048"/>
              </p:ext>
            </p:extLst>
          </p:nvPr>
        </p:nvGraphicFramePr>
        <p:xfrm>
          <a:off x="182879" y="1170433"/>
          <a:ext cx="8901744" cy="3793537"/>
        </p:xfrm>
        <a:graphic>
          <a:graphicData uri="http://schemas.openxmlformats.org/drawingml/2006/table">
            <a:tbl>
              <a:tblPr/>
              <a:tblGrid>
                <a:gridCol w="2039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3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Statistic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Calculated Value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Action Implication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Mean daily return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+0.06% / 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≈ 15% annualised drift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Positive carry — long bias justified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Median daily return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+0.12% / 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Median &gt; Mean: LEFT SKEW confirmed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Use Median for 'typical day' reporting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Mode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+0.15% to +0.35%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Most common outcome: small positive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Most days mildly bullish — strategy design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Std Dev (daily)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1.18% / 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Annualised: 18.7% vol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Position sizing: $100K × 18.7% = $18.7K annual risk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Variance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1.39 %²/day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Not human-readable, used for portfolio math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Use in covariance matrix for multi-leg ES strategies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Skewness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−0.62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Negative — left tail dominates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Expect more extreme down days than up days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Excess Kurtosis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DC2626"/>
                          </a:solidFill>
                        </a:rPr>
                        <a:t>+5.4 (FAT TAILS)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FAR heavier tails than Normal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DC2626"/>
                          </a:solidFill>
                        </a:rPr>
                        <a:t>DO NOT use Normal VaR. Use CVaR.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Jarque-Bera Test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p-value &lt; 0.0001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REJECT Normality — overwhelming evidence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Use t(5) or empirical distribution for VaR/risk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99% VaR (Normal)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−2.7%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Normal predicts: 1% chance lose &gt;2.7%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FALSE SENSE OF SECURITY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99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99% VaR (Empirical)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59669"/>
                          </a:solidFill>
                        </a:rPr>
                        <a:t>−3.8%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Actual historical 1% tail = −3.8%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59669"/>
                          </a:solidFill>
                        </a:rPr>
                        <a:t>Use this. 40% worse than Normal VaR.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Rolling Statistics — Why Static Stats Fail in Dynamic Markets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DC2626"/>
                </a:solidFill>
              </a:rPr>
              <a:t>Financial markets are non-stationary. A single mean/SD calculated over 5 years is MEANINGLESS for tomorrow's trading decision.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</a:rPr>
              <a:t>ROLLING WINDOW STATISTICS — THE PRACTITIONER'S APPROACH: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182880" y="1554480"/>
            <a:ext cx="4206240" cy="14813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</a:rPr>
              <a:t>5-day Rolling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274320" y="193852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Intraday to 1-week traders. Captures immediate regime. Very noisy but responsive. Z-scores reflect current day's move relative to this week.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274320" y="26700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</a:rPr>
              <a:t>📈 ES scalpers, NQ intraday swing traders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617720" y="1554480"/>
            <a:ext cx="4206240" cy="1481328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00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891B2"/>
                </a:solidFill>
              </a:rPr>
              <a:t>20-day Rolling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709160" y="193852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Monthly regime. Standard for Bollinger Bands. Captures current volatility regime. Most used in systematic futures trading.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709160" y="26700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</a:rPr>
              <a:t>📈 ES, NQ, CL position traders. Bollinger Band systems.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182880" y="3127248"/>
            <a:ext cx="4206240" cy="148132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729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</a:rPr>
              <a:t>63-day Rolling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274320" y="351129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Quarterly window. Captures seasonal volatility patterns. Useful for grain futures (planting vs harvest season) and energy (summer vs winter demand).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274320" y="42428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</a:rPr>
              <a:t>📈 ZC (Corn), ZS (Soybean), NG (Natural Gas) seasonality.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617720" y="3127248"/>
            <a:ext cx="4206240" cy="148132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1729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3AED"/>
                </a:solidFill>
              </a:rPr>
              <a:t>252-day Rolling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709160" y="351129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Annual window. Measures long-run regime. Use for annual Sharpe ratio calculation, annual VaR, and strategy evaluation. Slow to react to regime changes.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709160" y="42428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</a:rPr>
              <a:t>📈 Institutional risk reports, annual performance benchmarking.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228600" y="4680540"/>
            <a:ext cx="85953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6805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</a:rPr>
              <a:t>Best Practice: Use MULTIPLE windows simultaneously. If 5-day Z=2.5 but 20-day Z=0.8 → local spike, not a regime shift. If both show Z=2.5 → regime change in progress.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Bringing It All Together — Statistics in Futures Risk Management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Every risk management tool used on a trading desk is derived from the statistical concepts we've covered:</a:t>
            </a:r>
            <a:endParaRPr lang="en-US" sz="120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88833"/>
              </p:ext>
            </p:extLst>
          </p:nvPr>
        </p:nvGraphicFramePr>
        <p:xfrm>
          <a:off x="182880" y="1170432"/>
          <a:ext cx="8778240" cy="3769703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Risk Metric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Statistical Foundation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Assumptions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Parametric VaR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Mean + Z × SD (Normal)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Normal distribution, i.i.d.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Underestimates fat tail losses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Historical VaR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Percentile of empirical returns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Past = future (somewhat)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Misses new tail events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CVaR / Expected Shortfall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Mean of returns beyond VaR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Monotone risk measure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Sensitive to extreme outliers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Bollinger Bands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Price ± 2σ (rolling 20-day)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Approximately Normal prices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Fails in trending, volatile regimes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Sharpe Ratio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Mean / SD (annualised)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Normal returns, no serial correlation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Penalises UPSIDE volatility unfairly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Sortino Ratio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Mean / Downside SD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Asymmetric risk preference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Requires enough down-period data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Beta (CAPM)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Cov(asset, mkt) / Var(mkt)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Linear relationship, Normal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Breaks down in non-linear crashes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Z-score signals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(return − μ) / σ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Stationarity, approximate Normal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Stale in regime changes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Common Statistical Mistakes in Futures Trading — And How to Avoid Them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834640" cy="199339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28346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86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❌ MISTAKE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274320" y="1152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</a:rPr>
              <a:t>Assuming Normality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✅ FIX: ALWAYS test with Jarque-Bera/Q-Q plots before applying any Normal-based tool. Use historical simulation or t-distribution for VaR.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172968" y="749808"/>
            <a:ext cx="2834640" cy="19933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749808"/>
            <a:ext cx="28346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786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❌ MISTAKE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3264408" y="1152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</a:rPr>
              <a:t>Using Mean when data is skewed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3264408" y="164592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✅ FIX: For skewed futures returns, report MEDIAN as central tendency. Use Mean only in symmetric, approximately Normal contexts.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163056" y="749808"/>
            <a:ext cx="2834640" cy="199339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749808"/>
            <a:ext cx="28346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786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❌ MISTAKE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254496" y="1152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563EB"/>
                </a:solidFill>
              </a:rPr>
              <a:t>Annualising with wrong multiplier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6254496" y="164592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✅ FIX: Annualise RETURNS by ×252 (trading days). Annualise SD by ×√252. NEVER multiply SD by 252 — that's wrong.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182880" y="2834640"/>
            <a:ext cx="2834640" cy="199339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834640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❌ MISTAKE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274320" y="32369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7C3AED"/>
                </a:solidFill>
              </a:rPr>
              <a:t>Ignoring regime changes in rolling stats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274320" y="3730752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✅ FIX: Monitor rolling statistics with multiple windows. When 5-day and 252-day Z-scores diverge sharply, you're in a regime shift. Reduce position size.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3172968" y="2834640"/>
            <a:ext cx="2834640" cy="1993392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2968" y="2834640"/>
            <a:ext cx="28346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❌ MISTAKE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3264408" y="32369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91B2"/>
                </a:solidFill>
              </a:rPr>
              <a:t>Confusing Variance and SD in portfolio math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3264408" y="3730752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✅ FIX: Portfolio variance = weighted covariances (use σ²). Report risk in SD. Never mix units. Sharpe = Mean/SD, not Mean/Variance.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163056" y="2834640"/>
            <a:ext cx="2834640" cy="19933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2834640"/>
            <a:ext cx="28346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❌ MISTAKE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6254496" y="32369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59669"/>
                </a:solidFill>
              </a:rPr>
              <a:t>Using static SD for stop-losses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6254496" y="3730752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</a:rPr>
              <a:t>✅ FIX: Use rolling SD for dynamic stops. In high-vol regimes (VIX &gt; 25), your ES stop should be 2x–3x wider than in calm markets. Volatility-adjusted stops.</a:t>
            </a:r>
            <a:endParaRPr lang="en-US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Quick Reference — All Formulas in One Place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Central Tendency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Mean: μ = Σxᵢ/N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320040" y="17007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Median: middle value (sorted)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20040" y="22128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Mode: most frequent value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172968" y="749808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749808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795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Dispersion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310128" y="1188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Variance: σ² = Σ(xᵢ−μ)²/N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310128" y="17007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Sample Variance: s² = Σ(xᵢ−x̄)²/(N−1)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310128" y="22128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Std Dev: σ = √Variance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3310128" y="27249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Annualised SD = σ_daily × √252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163056" y="749808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749808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795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Shape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6300216" y="1188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Skewness = E[(X−μ)³]/σ³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6300216" y="17007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Kurtosis = E[(X−μ)⁴]/σ⁴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300216" y="22128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Excess Kurtosis = Kurtosis − 3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182880" y="28346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2834640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Standardisation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320040" y="32735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Z-score = (X−μ)/σ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20040" y="3785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Normalisation = (X−Xmin)/(Xmax−Xmin)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20040" y="42976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GARCH Z = rₜ / σ_GARCH,t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3172968" y="28346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72968" y="2834640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Distributions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3310128" y="32735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Normal: f(x)=(1/σ√2π)e^[−(x−μ)²/2σ²]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3310128" y="3785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Log-Normal: X ~ LN if ln(X) ~ N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3310128" y="42976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Binomial: P(k) = C(n,k)pᵏ(1−p)ⁿ⁻ᵏ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6163056" y="28346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3056" y="2834640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Risk Metrics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300216" y="32735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Sharpe = (μ_p − r_f) / σ_p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6300216" y="3785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Sortino = (μ_p − r_f) / σ_downside</a:t>
            </a:r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6300216" y="42976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</a:rPr>
              <a:t>CVaR = E[X | X &lt; VaR_α]</a:t>
            </a:r>
            <a:endParaRPr lang="en-US" sz="10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</a:rPr>
              <a:t>Session 1 — Key Takeaways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88920" cy="1627632"/>
          </a:xfrm>
          <a:prstGeom prst="rect">
            <a:avLst/>
          </a:prstGeom>
          <a:solidFill>
            <a:srgbClr val="1E3A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</a:rPr>
              <a:t>1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822960" y="11338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</a:rPr>
              <a:t>Mean ≠ Always Right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In skewed financial data, Median is more representative. Mean is distorted by outliers (fat tail crash days).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88920" cy="1627632"/>
          </a:xfrm>
          <a:prstGeom prst="rect">
            <a:avLst/>
          </a:prstGeom>
          <a:solidFill>
            <a:srgbClr val="1E3A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</a:rPr>
              <a:t>2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3749040" y="11338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</a:rPr>
              <a:t>Variance ≠ SD — Both Needed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291840" y="1572768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Variance for portfolio math (additive). SD for human-readable risk and position sizing.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88920" cy="1627632"/>
          </a:xfrm>
          <a:prstGeom prst="rect">
            <a:avLst/>
          </a:prstGeom>
          <a:solidFill>
            <a:srgbClr val="1E3A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9728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</a:rPr>
              <a:t>3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675120" y="11338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</a:rPr>
              <a:t>Skewness + Kurtosis = Risk Signature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217920" y="1572768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Every futures instrument has a unique (skew, kurtosis) pair. This determines which risk tools are appropriate.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2788920" cy="1627632"/>
          </a:xfrm>
          <a:prstGeom prst="rect">
            <a:avLst/>
          </a:prstGeom>
          <a:solidFill>
            <a:srgbClr val="1E3A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81635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</a:rPr>
              <a:t>4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822960" y="28529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</a:rPr>
              <a:t>Fat Tails Are Real — And Common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65760" y="3291840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ES, NQ, CL all exhibit excess kurtosis &gt; 3. Normal distribution underestimates tail risk by 40–100%.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3200400" y="2724912"/>
            <a:ext cx="2788920" cy="1627632"/>
          </a:xfrm>
          <a:prstGeom prst="rect">
            <a:avLst/>
          </a:prstGeom>
          <a:solidFill>
            <a:srgbClr val="1E3A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81635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</a:rPr>
              <a:t>5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3749040" y="28529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</a:rPr>
              <a:t>Z-Scores = Universal Language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3291840" y="3291840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Standardise everything to Z-scores for comparison. Use GARCH-standardised Z for dynamic risk monitoring.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6126480" y="2724912"/>
            <a:ext cx="2788920" cy="1627632"/>
          </a:xfrm>
          <a:prstGeom prst="rect">
            <a:avLst/>
          </a:prstGeom>
          <a:solidFill>
            <a:srgbClr val="1E3A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81635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</a:rPr>
              <a:t>6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6675120" y="28529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ADCFC"/>
                </a:solidFill>
              </a:rPr>
              <a:t>Always Test, Never Assume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6217920" y="3291840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Jarque-Bera, Q-Q plots, histogram inspection before ANY distribution-based analysis. Assumptions kill accounts.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CADCFC"/>
                </a:solidFill>
              </a:rPr>
              <a:t>Next Session: Hypothesis Testing, Correlation, Regression, Time Series Analysis &amp; GARCH for Futures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409698" y="4654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CADCFC"/>
                </a:solidFill>
              </a:rPr>
              <a:t>Questions? Let the data guide your decisions — but understand its limitations first.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40</Slides>
  <Notes>40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for Futures Trading</dc:title>
  <dc:subject>PptxGenJS Presentation</dc:subject>
  <dc:creator>PptxGenJS</dc:creator>
  <cp:revision>1</cp:revision>
  <dcterms:created xsi:type="dcterms:W3CDTF">2026-05-06T20:06:17Z</dcterms:created>
  <dcterms:modified xsi:type="dcterms:W3CDTF">2026-06-05T01:54:34Z</dcterms:modified>
</cp:coreProperties>
</file>