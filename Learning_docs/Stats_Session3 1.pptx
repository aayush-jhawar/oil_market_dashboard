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4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rts/chart5.xml" ContentType="application/vnd.openxmlformats-officedocument.drawingml.chart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charts/chart6.xml" ContentType="application/vnd.openxmlformats-officedocument.drawingml.chart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3" r:id="rId28"/>
    <p:sldId id="284" r:id="rId29"/>
    <p:sldId id="285" r:id="rId30"/>
    <p:sldId id="287" r:id="rId31"/>
    <p:sldId id="294" r:id="rId3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ouravi Khatri" userId="4058615c-459b-453a-81b6-fd04a9276f9a" providerId="ADAL" clId="{2C21DF0A-AE5A-4693-8B65-8ADAD7A31C58}"/>
    <pc:docChg chg="modSld">
      <pc:chgData name="Gouravi Khatri" userId="4058615c-459b-453a-81b6-fd04a9276f9a" providerId="ADAL" clId="{2C21DF0A-AE5A-4693-8B65-8ADAD7A31C58}" dt="2026-05-19T08:49:05.169" v="13" actId="14100"/>
      <pc:docMkLst>
        <pc:docMk/>
      </pc:docMkLst>
      <pc:sldChg chg="addSp modSp mod">
        <pc:chgData name="Gouravi Khatri" userId="4058615c-459b-453a-81b6-fd04a9276f9a" providerId="ADAL" clId="{2C21DF0A-AE5A-4693-8B65-8ADAD7A31C58}" dt="2026-05-19T08:49:05.169" v="13" actId="14100"/>
        <pc:sldMkLst>
          <pc:docMk/>
          <pc:sldMk cId="0" sldId="270"/>
        </pc:sldMkLst>
        <pc:spChg chg="mod">
          <ac:chgData name="Gouravi Khatri" userId="4058615c-459b-453a-81b6-fd04a9276f9a" providerId="ADAL" clId="{2C21DF0A-AE5A-4693-8B65-8ADAD7A31C58}" dt="2026-05-19T08:48:43.319" v="7" actId="1076"/>
          <ac:spMkLst>
            <pc:docMk/>
            <pc:sldMk cId="0" sldId="270"/>
            <ac:spMk id="2" creationId="{00000000-0000-0000-0000-000000000000}"/>
          </ac:spMkLst>
        </pc:spChg>
        <pc:spChg chg="mod">
          <ac:chgData name="Gouravi Khatri" userId="4058615c-459b-453a-81b6-fd04a9276f9a" providerId="ADAL" clId="{2C21DF0A-AE5A-4693-8B65-8ADAD7A31C58}" dt="2026-05-19T08:48:48.359" v="8" actId="1076"/>
          <ac:spMkLst>
            <pc:docMk/>
            <pc:sldMk cId="0" sldId="270"/>
            <ac:spMk id="3" creationId="{00000000-0000-0000-0000-000000000000}"/>
          </ac:spMkLst>
        </pc:spChg>
        <pc:spChg chg="mod">
          <ac:chgData name="Gouravi Khatri" userId="4058615c-459b-453a-81b6-fd04a9276f9a" providerId="ADAL" clId="{2C21DF0A-AE5A-4693-8B65-8ADAD7A31C58}" dt="2026-05-19T08:48:18.598" v="3" actId="20577"/>
          <ac:spMkLst>
            <pc:docMk/>
            <pc:sldMk cId="0" sldId="270"/>
            <ac:spMk id="4" creationId="{00000000-0000-0000-0000-000000000000}"/>
          </ac:spMkLst>
        </pc:spChg>
        <pc:picChg chg="add mod">
          <ac:chgData name="Gouravi Khatri" userId="4058615c-459b-453a-81b6-fd04a9276f9a" providerId="ADAL" clId="{2C21DF0A-AE5A-4693-8B65-8ADAD7A31C58}" dt="2026-05-19T08:49:05.169" v="13" actId="14100"/>
          <ac:picMkLst>
            <pc:docMk/>
            <pc:sldMk cId="0" sldId="270"/>
            <ac:picMk id="6" creationId="{ECB52CFD-65B6-2E33-4C97-776BF8FF90C6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106_0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106_0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107_0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10C_0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115_0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119_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ES vs NQ Daily Tick Change (ρ ≈ 0.97)</a:t>
            </a:r>
          </a:p>
        </c:rich>
      </c:tx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ES vs NQ Tick Changes</c:v>
                </c:pt>
              </c:strCache>
            </c:strRef>
          </c:tx>
          <c:spPr>
            <a:ln w="25400" cap="flat">
              <a:solidFill>
                <a:srgbClr val="2E5FA3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5FA3"/>
              </a:solidFill>
              <a:ln w="9525" cap="flat">
                <a:solidFill>
                  <a:srgbClr val="2E5FA3"/>
                </a:solidFill>
                <a:prstDash val="solid"/>
                <a:round/>
              </a:ln>
              <a:effectLst/>
            </c:spPr>
          </c:marker>
          <c:xVal>
            <c:numRef>
              <c:f>Sheet1!$A$2:$A$15</c:f>
              <c:numCache>
                <c:formatCode>General</c:formatCode>
                <c:ptCount val="14"/>
                <c:pt idx="0">
                  <c:v>-6</c:v>
                </c:pt>
                <c:pt idx="1">
                  <c:v>-4</c:v>
                </c:pt>
                <c:pt idx="2">
                  <c:v>-3</c:v>
                </c:pt>
                <c:pt idx="3">
                  <c:v>-2</c:v>
                </c:pt>
                <c:pt idx="4">
                  <c:v>-1</c:v>
                </c:pt>
                <c:pt idx="5">
                  <c:v>0</c:v>
                </c:pt>
                <c:pt idx="6">
                  <c:v>1</c:v>
                </c:pt>
                <c:pt idx="7">
                  <c:v>2</c:v>
                </c:pt>
                <c:pt idx="8">
                  <c:v>3</c:v>
                </c:pt>
                <c:pt idx="9">
                  <c:v>4</c:v>
                </c:pt>
                <c:pt idx="10">
                  <c:v>5</c:v>
                </c:pt>
                <c:pt idx="11">
                  <c:v>6</c:v>
                </c:pt>
                <c:pt idx="12">
                  <c:v>7</c:v>
                </c:pt>
                <c:pt idx="13">
                  <c:v>8</c:v>
                </c:pt>
              </c:numCache>
            </c:numRef>
          </c:xVal>
          <c:yVal>
            <c:numRef>
              <c:f>Sheet1!$B$2:$B$15</c:f>
              <c:numCache>
                <c:formatCode>General</c:formatCode>
                <c:ptCount val="14"/>
                <c:pt idx="0">
                  <c:v>-10</c:v>
                </c:pt>
                <c:pt idx="1">
                  <c:v>-7</c:v>
                </c:pt>
                <c:pt idx="2">
                  <c:v>-4</c:v>
                </c:pt>
                <c:pt idx="3">
                  <c:v>-3</c:v>
                </c:pt>
                <c:pt idx="4">
                  <c:v>-2</c:v>
                </c:pt>
                <c:pt idx="5">
                  <c:v>1</c:v>
                </c:pt>
                <c:pt idx="6">
                  <c:v>2</c:v>
                </c:pt>
                <c:pt idx="7">
                  <c:v>4</c:v>
                </c:pt>
                <c:pt idx="8">
                  <c:v>5</c:v>
                </c:pt>
                <c:pt idx="9">
                  <c:v>7</c:v>
                </c:pt>
                <c:pt idx="10">
                  <c:v>8</c:v>
                </c:pt>
                <c:pt idx="11">
                  <c:v>11</c:v>
                </c:pt>
                <c:pt idx="12">
                  <c:v>12</c:v>
                </c:pt>
                <c:pt idx="13">
                  <c:v>14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06CC-4AAE-9390-9F5687CCA37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crossBetween val="midCat"/>
      </c:val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ES vs ZN Daily Tick Change (ρ ≈ −0.94)</a:t>
            </a:r>
          </a:p>
        </c:rich>
      </c:tx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ES vs ZN Tick Changes</c:v>
                </c:pt>
              </c:strCache>
            </c:strRef>
          </c:tx>
          <c:spPr>
            <a:ln w="25400" cap="flat">
              <a:solidFill>
                <a:srgbClr val="DC262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C2626"/>
              </a:solidFill>
              <a:ln w="9525" cap="flat">
                <a:solidFill>
                  <a:srgbClr val="DC2626"/>
                </a:solidFill>
                <a:prstDash val="solid"/>
                <a:round/>
              </a:ln>
              <a:effectLst/>
            </c:spPr>
          </c:marker>
          <c:xVal>
            <c:numRef>
              <c:f>Sheet1!$A$2:$A$15</c:f>
              <c:numCache>
                <c:formatCode>General</c:formatCode>
                <c:ptCount val="14"/>
                <c:pt idx="0">
                  <c:v>-6</c:v>
                </c:pt>
                <c:pt idx="1">
                  <c:v>-4</c:v>
                </c:pt>
                <c:pt idx="2">
                  <c:v>-3</c:v>
                </c:pt>
                <c:pt idx="3">
                  <c:v>-2</c:v>
                </c:pt>
                <c:pt idx="4">
                  <c:v>-1</c:v>
                </c:pt>
                <c:pt idx="5">
                  <c:v>0</c:v>
                </c:pt>
                <c:pt idx="6">
                  <c:v>1</c:v>
                </c:pt>
                <c:pt idx="7">
                  <c:v>2</c:v>
                </c:pt>
                <c:pt idx="8">
                  <c:v>3</c:v>
                </c:pt>
                <c:pt idx="9">
                  <c:v>4</c:v>
                </c:pt>
                <c:pt idx="10">
                  <c:v>5</c:v>
                </c:pt>
                <c:pt idx="11">
                  <c:v>6</c:v>
                </c:pt>
                <c:pt idx="12">
                  <c:v>7</c:v>
                </c:pt>
                <c:pt idx="13">
                  <c:v>8</c:v>
                </c:pt>
              </c:numCache>
            </c:numRef>
          </c:xVal>
          <c:yVal>
            <c:numRef>
              <c:f>Sheet1!$B$2:$B$15</c:f>
              <c:numCache>
                <c:formatCode>General</c:formatCode>
                <c:ptCount val="14"/>
                <c:pt idx="0">
                  <c:v>8</c:v>
                </c:pt>
                <c:pt idx="1">
                  <c:v>6</c:v>
                </c:pt>
                <c:pt idx="2">
                  <c:v>5</c:v>
                </c:pt>
                <c:pt idx="3">
                  <c:v>3</c:v>
                </c:pt>
                <c:pt idx="4">
                  <c:v>2</c:v>
                </c:pt>
                <c:pt idx="5">
                  <c:v>-1</c:v>
                </c:pt>
                <c:pt idx="6">
                  <c:v>-2</c:v>
                </c:pt>
                <c:pt idx="7">
                  <c:v>-3</c:v>
                </c:pt>
                <c:pt idx="8">
                  <c:v>-4</c:v>
                </c:pt>
                <c:pt idx="9">
                  <c:v>-5</c:v>
                </c:pt>
                <c:pt idx="10">
                  <c:v>-6</c:v>
                </c:pt>
                <c:pt idx="11">
                  <c:v>-9</c:v>
                </c:pt>
                <c:pt idx="12">
                  <c:v>-10</c:v>
                </c:pt>
                <c:pt idx="13">
                  <c:v>-12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AAE9-4D9E-B310-5346F7EE268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crossBetween val="midCat"/>
      </c:val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60-day Rolling ρ (ES/NQ)</c:v>
                </c:pt>
              </c:strCache>
            </c:strRef>
          </c:tx>
          <c:spPr>
            <a:ln w="31750" cap="flat">
              <a:solidFill>
                <a:srgbClr val="2E5FA3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5FA3"/>
              </a:solidFill>
              <a:ln w="9525" cap="flat">
                <a:solidFill>
                  <a:srgbClr val="2E5FA3"/>
                </a:solidFill>
                <a:prstDash val="solid"/>
                <a:round/>
              </a:ln>
              <a:effectLst/>
            </c:spPr>
          </c:marker>
          <c:cat>
            <c:strRef>
              <c:f>Sheet1!$A$2:$A$17</c:f>
              <c:strCache>
                <c:ptCount val="1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  <c:pt idx="12">
                  <c:v>Jan</c:v>
                </c:pt>
                <c:pt idx="13">
                  <c:v>Feb</c:v>
                </c:pt>
                <c:pt idx="14">
                  <c:v>Mar</c:v>
                </c:pt>
                <c:pt idx="15">
                  <c:v>Apr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0.91</c:v>
                </c:pt>
                <c:pt idx="1">
                  <c:v>0.89</c:v>
                </c:pt>
                <c:pt idx="2">
                  <c:v>0.87</c:v>
                </c:pt>
                <c:pt idx="3">
                  <c:v>0.85</c:v>
                </c:pt>
                <c:pt idx="4">
                  <c:v>0.72</c:v>
                </c:pt>
                <c:pt idx="5">
                  <c:v>0.55000000000000004</c:v>
                </c:pt>
                <c:pt idx="6">
                  <c:v>0.61</c:v>
                </c:pt>
                <c:pt idx="7">
                  <c:v>0.78</c:v>
                </c:pt>
                <c:pt idx="8">
                  <c:v>0.86</c:v>
                </c:pt>
                <c:pt idx="9">
                  <c:v>0.88</c:v>
                </c:pt>
                <c:pt idx="10">
                  <c:v>0.9</c:v>
                </c:pt>
                <c:pt idx="11">
                  <c:v>0.82</c:v>
                </c:pt>
                <c:pt idx="12">
                  <c:v>0.7</c:v>
                </c:pt>
                <c:pt idx="13">
                  <c:v>0.45</c:v>
                </c:pt>
                <c:pt idx="14">
                  <c:v>0.3</c:v>
                </c:pt>
                <c:pt idx="15">
                  <c:v>0.62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557D-40AE-B0A9-60C594F2E57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Spread (ticks)</c:v>
                </c:pt>
              </c:strCache>
            </c:strRef>
          </c:tx>
          <c:spPr>
            <a:ln w="25400" cap="flat">
              <a:solidFill>
                <a:srgbClr val="2E5FA3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5FA3"/>
              </a:solidFill>
              <a:ln w="9525" cap="flat">
                <a:solidFill>
                  <a:srgbClr val="2E5FA3"/>
                </a:solidFill>
                <a:prstDash val="solid"/>
                <a:round/>
              </a:ln>
              <a:effectLst/>
            </c:spPr>
          </c:marker>
          <c:cat>
            <c:strRef>
              <c:f>Sheet1!$A$2:$A$14</c:f>
              <c:strCache>
                <c:ptCount val="13"/>
                <c:pt idx="0">
                  <c:v>D1</c:v>
                </c:pt>
                <c:pt idx="1">
                  <c:v>D5</c:v>
                </c:pt>
                <c:pt idx="2">
                  <c:v>D10</c:v>
                </c:pt>
                <c:pt idx="3">
                  <c:v>D15</c:v>
                </c:pt>
                <c:pt idx="4">
                  <c:v>D20</c:v>
                </c:pt>
                <c:pt idx="5">
                  <c:v>D25</c:v>
                </c:pt>
                <c:pt idx="6">
                  <c:v>D30</c:v>
                </c:pt>
                <c:pt idx="7">
                  <c:v>D35</c:v>
                </c:pt>
                <c:pt idx="8">
                  <c:v>D40</c:v>
                </c:pt>
                <c:pt idx="9">
                  <c:v>D45</c:v>
                </c:pt>
                <c:pt idx="10">
                  <c:v>D50</c:v>
                </c:pt>
                <c:pt idx="11">
                  <c:v>D55</c:v>
                </c:pt>
                <c:pt idx="12">
                  <c:v>D60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2.1</c:v>
                </c:pt>
                <c:pt idx="1">
                  <c:v>3.4</c:v>
                </c:pt>
                <c:pt idx="2">
                  <c:v>1.8</c:v>
                </c:pt>
                <c:pt idx="3">
                  <c:v>-0.5</c:v>
                </c:pt>
                <c:pt idx="4">
                  <c:v>-2.1</c:v>
                </c:pt>
                <c:pt idx="5">
                  <c:v>0.3</c:v>
                </c:pt>
                <c:pt idx="6">
                  <c:v>1.9</c:v>
                </c:pt>
                <c:pt idx="7">
                  <c:v>3.1</c:v>
                </c:pt>
                <c:pt idx="8">
                  <c:v>0.8</c:v>
                </c:pt>
                <c:pt idx="9">
                  <c:v>-1.5</c:v>
                </c:pt>
                <c:pt idx="10">
                  <c:v>-2.8</c:v>
                </c:pt>
                <c:pt idx="11">
                  <c:v>0.2</c:v>
                </c:pt>
                <c:pt idx="12">
                  <c:v>1.6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663B-4AF9-8F36-D776553F23C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Mean (0)</c:v>
                </c:pt>
              </c:strCache>
            </c:strRef>
          </c:tx>
          <c:spPr>
            <a:ln w="25400" cap="flat">
              <a:solidFill>
                <a:srgbClr val="1B2A4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B2A4A"/>
              </a:solidFill>
              <a:ln w="9525" cap="flat">
                <a:solidFill>
                  <a:srgbClr val="1B2A4A"/>
                </a:solidFill>
                <a:prstDash val="solid"/>
                <a:round/>
              </a:ln>
              <a:effectLst/>
            </c:spPr>
          </c:marker>
          <c:cat>
            <c:strRef>
              <c:f>Sheet1!$A$2:$A$14</c:f>
              <c:strCache>
                <c:ptCount val="13"/>
                <c:pt idx="0">
                  <c:v>D1</c:v>
                </c:pt>
                <c:pt idx="1">
                  <c:v>D5</c:v>
                </c:pt>
                <c:pt idx="2">
                  <c:v>D10</c:v>
                </c:pt>
                <c:pt idx="3">
                  <c:v>D15</c:v>
                </c:pt>
                <c:pt idx="4">
                  <c:v>D20</c:v>
                </c:pt>
                <c:pt idx="5">
                  <c:v>D25</c:v>
                </c:pt>
                <c:pt idx="6">
                  <c:v>D30</c:v>
                </c:pt>
                <c:pt idx="7">
                  <c:v>D35</c:v>
                </c:pt>
                <c:pt idx="8">
                  <c:v>D40</c:v>
                </c:pt>
                <c:pt idx="9">
                  <c:v>D45</c:v>
                </c:pt>
                <c:pt idx="10">
                  <c:v>D50</c:v>
                </c:pt>
                <c:pt idx="11">
                  <c:v>D55</c:v>
                </c:pt>
                <c:pt idx="12">
                  <c:v>D60</c:v>
                </c:pt>
              </c:strCache>
            </c: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663B-4AF9-8F36-D776553F23C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+1 SD</c:v>
                </c:pt>
              </c:strCache>
            </c:strRef>
          </c:tx>
          <c:spPr>
            <a:ln w="25400" cap="flat">
              <a:solidFill>
                <a:srgbClr val="16A34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6A34A"/>
              </a:solidFill>
              <a:ln w="9525" cap="flat">
                <a:solidFill>
                  <a:srgbClr val="16A34A"/>
                </a:solidFill>
                <a:prstDash val="solid"/>
                <a:round/>
              </a:ln>
              <a:effectLst/>
            </c:spPr>
          </c:marker>
          <c:cat>
            <c:strRef>
              <c:f>Sheet1!$A$2:$A$14</c:f>
              <c:strCache>
                <c:ptCount val="13"/>
                <c:pt idx="0">
                  <c:v>D1</c:v>
                </c:pt>
                <c:pt idx="1">
                  <c:v>D5</c:v>
                </c:pt>
                <c:pt idx="2">
                  <c:v>D10</c:v>
                </c:pt>
                <c:pt idx="3">
                  <c:v>D15</c:v>
                </c:pt>
                <c:pt idx="4">
                  <c:v>D20</c:v>
                </c:pt>
                <c:pt idx="5">
                  <c:v>D25</c:v>
                </c:pt>
                <c:pt idx="6">
                  <c:v>D30</c:v>
                </c:pt>
                <c:pt idx="7">
                  <c:v>D35</c:v>
                </c:pt>
                <c:pt idx="8">
                  <c:v>D40</c:v>
                </c:pt>
                <c:pt idx="9">
                  <c:v>D45</c:v>
                </c:pt>
                <c:pt idx="10">
                  <c:v>D50</c:v>
                </c:pt>
                <c:pt idx="11">
                  <c:v>D55</c:v>
                </c:pt>
                <c:pt idx="12">
                  <c:v>D60</c:v>
                </c:pt>
              </c:strCache>
            </c:strRef>
          </c:cat>
          <c:val>
            <c:numRef>
              <c:f>Sheet1!$D$2:$D$14</c:f>
              <c:numCache>
                <c:formatCode>General</c:formatCode>
                <c:ptCount val="13"/>
                <c:pt idx="0">
                  <c:v>2.5</c:v>
                </c:pt>
                <c:pt idx="1">
                  <c:v>2.5</c:v>
                </c:pt>
                <c:pt idx="2">
                  <c:v>2.5</c:v>
                </c:pt>
                <c:pt idx="3">
                  <c:v>2.5</c:v>
                </c:pt>
                <c:pt idx="4">
                  <c:v>2.5</c:v>
                </c:pt>
                <c:pt idx="5">
                  <c:v>2.5</c:v>
                </c:pt>
                <c:pt idx="6">
                  <c:v>2.5</c:v>
                </c:pt>
                <c:pt idx="7">
                  <c:v>2.5</c:v>
                </c:pt>
                <c:pt idx="8">
                  <c:v>2.5</c:v>
                </c:pt>
                <c:pt idx="9">
                  <c:v>2.5</c:v>
                </c:pt>
                <c:pt idx="10">
                  <c:v>2.5</c:v>
                </c:pt>
                <c:pt idx="11">
                  <c:v>2.5</c:v>
                </c:pt>
                <c:pt idx="12">
                  <c:v>2.5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663B-4AF9-8F36-D776553F23C2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−1 SD</c:v>
                </c:pt>
              </c:strCache>
            </c:strRef>
          </c:tx>
          <c:spPr>
            <a:ln w="25400" cap="flat">
              <a:solidFill>
                <a:srgbClr val="DC262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C2626"/>
              </a:solidFill>
              <a:ln w="9525" cap="flat">
                <a:solidFill>
                  <a:srgbClr val="DC2626"/>
                </a:solidFill>
                <a:prstDash val="solid"/>
                <a:round/>
              </a:ln>
              <a:effectLst/>
            </c:spPr>
          </c:marker>
          <c:cat>
            <c:strRef>
              <c:f>Sheet1!$A$2:$A$14</c:f>
              <c:strCache>
                <c:ptCount val="13"/>
                <c:pt idx="0">
                  <c:v>D1</c:v>
                </c:pt>
                <c:pt idx="1">
                  <c:v>D5</c:v>
                </c:pt>
                <c:pt idx="2">
                  <c:v>D10</c:v>
                </c:pt>
                <c:pt idx="3">
                  <c:v>D15</c:v>
                </c:pt>
                <c:pt idx="4">
                  <c:v>D20</c:v>
                </c:pt>
                <c:pt idx="5">
                  <c:v>D25</c:v>
                </c:pt>
                <c:pt idx="6">
                  <c:v>D30</c:v>
                </c:pt>
                <c:pt idx="7">
                  <c:v>D35</c:v>
                </c:pt>
                <c:pt idx="8">
                  <c:v>D40</c:v>
                </c:pt>
                <c:pt idx="9">
                  <c:v>D45</c:v>
                </c:pt>
                <c:pt idx="10">
                  <c:v>D50</c:v>
                </c:pt>
                <c:pt idx="11">
                  <c:v>D55</c:v>
                </c:pt>
                <c:pt idx="12">
                  <c:v>D60</c:v>
                </c:pt>
              </c:strCache>
            </c:strRef>
          </c:cat>
          <c:val>
            <c:numRef>
              <c:f>Sheet1!$E$2:$E$14</c:f>
              <c:numCache>
                <c:formatCode>General</c:formatCode>
                <c:ptCount val="13"/>
                <c:pt idx="0">
                  <c:v>-2.5</c:v>
                </c:pt>
                <c:pt idx="1">
                  <c:v>-2.5</c:v>
                </c:pt>
                <c:pt idx="2">
                  <c:v>-2.5</c:v>
                </c:pt>
                <c:pt idx="3">
                  <c:v>-2.5</c:v>
                </c:pt>
                <c:pt idx="4">
                  <c:v>-2.5</c:v>
                </c:pt>
                <c:pt idx="5">
                  <c:v>-2.5</c:v>
                </c:pt>
                <c:pt idx="6">
                  <c:v>-2.5</c:v>
                </c:pt>
                <c:pt idx="7">
                  <c:v>-2.5</c:v>
                </c:pt>
                <c:pt idx="8">
                  <c:v>-2.5</c:v>
                </c:pt>
                <c:pt idx="9">
                  <c:v>-2.5</c:v>
                </c:pt>
                <c:pt idx="10">
                  <c:v>-2.5</c:v>
                </c:pt>
                <c:pt idx="11">
                  <c:v>-2.5</c:v>
                </c:pt>
                <c:pt idx="12">
                  <c:v>-2.5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3-663B-4AF9-8F36-D776553F23C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VIX Level vs ES Daily Tick Range</a:t>
            </a:r>
          </a:p>
        </c:rich>
      </c:tx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ES Avg Daily Tick Range vs VIX Level</c:v>
                </c:pt>
              </c:strCache>
            </c:strRef>
          </c:tx>
          <c:spPr>
            <a:ln w="25400" cap="flat">
              <a:solidFill>
                <a:srgbClr val="2E5FA3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5FA3"/>
              </a:solidFill>
              <a:ln w="9525" cap="flat">
                <a:solidFill>
                  <a:srgbClr val="2E5FA3"/>
                </a:solidFill>
                <a:prstDash val="solid"/>
                <a:round/>
              </a:ln>
              <a:effectLst/>
            </c:spPr>
          </c:marker>
          <c:xVal>
            <c:numRef>
              <c:f>Sheet1!$A$2:$A$15</c:f>
              <c:numCache>
                <c:formatCode>General</c:formatCode>
                <c:ptCount val="14"/>
                <c:pt idx="0">
                  <c:v>10</c:v>
                </c:pt>
                <c:pt idx="1">
                  <c:v>12</c:v>
                </c:pt>
                <c:pt idx="2">
                  <c:v>14</c:v>
                </c:pt>
                <c:pt idx="3">
                  <c:v>16</c:v>
                </c:pt>
                <c:pt idx="4">
                  <c:v>18</c:v>
                </c:pt>
                <c:pt idx="5">
                  <c:v>20</c:v>
                </c:pt>
                <c:pt idx="6">
                  <c:v>25</c:v>
                </c:pt>
                <c:pt idx="7">
                  <c:v>30</c:v>
                </c:pt>
                <c:pt idx="8">
                  <c:v>35</c:v>
                </c:pt>
                <c:pt idx="9">
                  <c:v>40</c:v>
                </c:pt>
                <c:pt idx="10">
                  <c:v>45</c:v>
                </c:pt>
                <c:pt idx="11">
                  <c:v>50</c:v>
                </c:pt>
                <c:pt idx="12">
                  <c:v>55</c:v>
                </c:pt>
                <c:pt idx="13">
                  <c:v>60</c:v>
                </c:pt>
              </c:numCache>
            </c:numRef>
          </c:xVal>
          <c:yVal>
            <c:numRef>
              <c:f>Sheet1!$B$2:$B$15</c:f>
              <c:numCache>
                <c:formatCode>General</c:formatCode>
                <c:ptCount val="14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  <c:pt idx="4">
                  <c:v>7</c:v>
                </c:pt>
                <c:pt idx="5">
                  <c:v>10</c:v>
                </c:pt>
                <c:pt idx="6">
                  <c:v>18</c:v>
                </c:pt>
                <c:pt idx="7">
                  <c:v>28</c:v>
                </c:pt>
                <c:pt idx="8">
                  <c:v>40</c:v>
                </c:pt>
                <c:pt idx="9">
                  <c:v>55</c:v>
                </c:pt>
                <c:pt idx="10">
                  <c:v>68</c:v>
                </c:pt>
                <c:pt idx="11">
                  <c:v>82</c:v>
                </c:pt>
                <c:pt idx="12">
                  <c:v>95</c:v>
                </c:pt>
                <c:pt idx="13">
                  <c:v>110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B4D0-47DE-8AA8-6A1229F93A2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crossBetween val="midCat"/>
      </c:val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P(Up)</c:v>
                </c:pt>
              </c:strCache>
            </c:strRef>
          </c:tx>
          <c:spPr>
            <a:ln w="31750" cap="flat">
              <a:solidFill>
                <a:srgbClr val="2E5FA3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5FA3"/>
              </a:solidFill>
              <a:ln w="9525" cap="flat">
                <a:solidFill>
                  <a:srgbClr val="2E5FA3"/>
                </a:solidFill>
                <a:prstDash val="solid"/>
                <a:round/>
              </a:ln>
              <a:effectLst/>
            </c:spPr>
          </c:marker>
          <c:cat>
            <c:strRef>
              <c:f>Sheet1!$A$2:$A$12</c:f>
              <c:strCache>
                <c:ptCount val="11"/>
                <c:pt idx="0">
                  <c:v>-5</c:v>
                </c:pt>
                <c:pt idx="1">
                  <c:v>-4</c:v>
                </c:pt>
                <c:pt idx="2">
                  <c:v>-3</c:v>
                </c:pt>
                <c:pt idx="3">
                  <c:v>-2</c:v>
                </c:pt>
                <c:pt idx="4">
                  <c:v>-1</c:v>
                </c:pt>
                <c:pt idx="5">
                  <c:v>0</c:v>
                </c:pt>
                <c:pt idx="6">
                  <c:v>1</c:v>
                </c:pt>
                <c:pt idx="7">
                  <c:v>2</c:v>
                </c:pt>
                <c:pt idx="8">
                  <c:v>3</c:v>
                </c:pt>
                <c:pt idx="9">
                  <c:v>4</c:v>
                </c:pt>
                <c:pt idx="10">
                  <c:v>5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0.01</c:v>
                </c:pt>
                <c:pt idx="1">
                  <c:v>0.02</c:v>
                </c:pt>
                <c:pt idx="2">
                  <c:v>0.05</c:v>
                </c:pt>
                <c:pt idx="3">
                  <c:v>0.12</c:v>
                </c:pt>
                <c:pt idx="4">
                  <c:v>0.27</c:v>
                </c:pt>
                <c:pt idx="5">
                  <c:v>0.5</c:v>
                </c:pt>
                <c:pt idx="6">
                  <c:v>0.73</c:v>
                </c:pt>
                <c:pt idx="7">
                  <c:v>0.88</c:v>
                </c:pt>
                <c:pt idx="8">
                  <c:v>0.95</c:v>
                </c:pt>
                <c:pt idx="9">
                  <c:v>0.98</c:v>
                </c:pt>
                <c:pt idx="10">
                  <c:v>0.99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29CA-4690-91AC-3C9CA603514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602429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7315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8046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</a:t>
            </a:r>
            <a:endParaRPr lang="en-US" sz="3600"/>
          </a:p>
          <a:p>
            <a:pPr marL="0" indent="0">
              <a:buNone/>
            </a:pPr>
            <a:r>
              <a:rPr lang="en-US" sz="3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</a:t>
            </a:r>
            <a:endParaRPr lang="en-US" sz="3600"/>
          </a:p>
        </p:txBody>
      </p:sp>
      <p:sp>
        <p:nvSpPr>
          <p:cNvPr id="4" name="Text 2"/>
          <p:cNvSpPr/>
          <p:nvPr/>
        </p:nvSpPr>
        <p:spPr>
          <a:xfrm>
            <a:off x="548640" y="310896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· Covariance · Cointegration · Regression · Hypothesis Testing</a:t>
            </a:r>
            <a:endParaRPr lang="en-US" sz="1800"/>
          </a:p>
        </p:txBody>
      </p:sp>
      <p:sp>
        <p:nvSpPr>
          <p:cNvPr id="5" name="Text 3"/>
          <p:cNvSpPr/>
          <p:nvPr/>
        </p:nvSpPr>
        <p:spPr>
          <a:xfrm>
            <a:off x="548640" y="46634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200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on Session 1 &amp; 2: Mean, Median, SD, Variance, Distributions, Z-Score</a:t>
            </a:r>
            <a:endParaRPr lang="en-US" sz="130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530352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54864" cy="53035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1430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Covariance</a:t>
            </a:r>
            <a:endParaRPr lang="en-US" sz="1200"/>
          </a:p>
        </p:txBody>
      </p:sp>
      <p:sp>
        <p:nvSpPr>
          <p:cNvPr id="8" name="Text 6"/>
          <p:cNvSpPr/>
          <p:nvPr/>
        </p:nvSpPr>
        <p:spPr>
          <a:xfrm>
            <a:off x="548640" y="1353312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two futures move together</a:t>
            </a:r>
            <a:endParaRPr lang="en-US" sz="1100"/>
          </a:p>
        </p:txBody>
      </p:sp>
      <p:sp>
        <p:nvSpPr>
          <p:cNvPr id="9" name="Shape 7"/>
          <p:cNvSpPr/>
          <p:nvPr/>
        </p:nvSpPr>
        <p:spPr>
          <a:xfrm>
            <a:off x="365760" y="1719072"/>
            <a:ext cx="8412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5760" y="1719072"/>
            <a:ext cx="54864" cy="53035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176479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Correlation</a:t>
            </a:r>
            <a:endParaRPr lang="en-US" sz="1200"/>
          </a:p>
        </p:txBody>
      </p:sp>
      <p:sp>
        <p:nvSpPr>
          <p:cNvPr id="12" name="Text 10"/>
          <p:cNvSpPr/>
          <p:nvPr/>
        </p:nvSpPr>
        <p:spPr>
          <a:xfrm>
            <a:off x="548640" y="1975104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co-movement + busting 5 major myths</a:t>
            </a:r>
            <a:endParaRPr lang="en-US" sz="1100"/>
          </a:p>
        </p:txBody>
      </p:sp>
      <p:sp>
        <p:nvSpPr>
          <p:cNvPr id="13" name="Shape 11"/>
          <p:cNvSpPr/>
          <p:nvPr/>
        </p:nvSpPr>
        <p:spPr>
          <a:xfrm>
            <a:off x="365760" y="2340864"/>
            <a:ext cx="8412480" cy="530352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65760" y="2340864"/>
            <a:ext cx="54864" cy="53035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8640" y="2386584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Cointegration</a:t>
            </a:r>
            <a:endParaRPr lang="en-US" sz="1200"/>
          </a:p>
        </p:txBody>
      </p:sp>
      <p:sp>
        <p:nvSpPr>
          <p:cNvPr id="16" name="Text 14"/>
          <p:cNvSpPr/>
          <p:nvPr/>
        </p:nvSpPr>
        <p:spPr>
          <a:xfrm>
            <a:off x="548640" y="2596896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Long-run equilibrium vs short-term correlation — the real spread trade edge</a:t>
            </a:r>
            <a:endParaRPr lang="en-US" sz="1100"/>
          </a:p>
        </p:txBody>
      </p:sp>
      <p:sp>
        <p:nvSpPr>
          <p:cNvPr id="17" name="Shape 15"/>
          <p:cNvSpPr/>
          <p:nvPr/>
        </p:nvSpPr>
        <p:spPr>
          <a:xfrm>
            <a:off x="365760" y="2962656"/>
            <a:ext cx="8412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65760" y="2962656"/>
            <a:ext cx="54864" cy="53035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48640" y="3008376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Regression (6 types)</a:t>
            </a:r>
            <a:endParaRPr lang="en-US" sz="1200"/>
          </a:p>
        </p:txBody>
      </p:sp>
      <p:sp>
        <p:nvSpPr>
          <p:cNvPr id="20" name="Text 18"/>
          <p:cNvSpPr/>
          <p:nvPr/>
        </p:nvSpPr>
        <p:spPr>
          <a:xfrm>
            <a:off x="548640" y="321868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→ Multiple → Polynomial → Ridge → Lasso → Logistic</a:t>
            </a:r>
            <a:endParaRPr lang="en-US" sz="1100"/>
          </a:p>
        </p:txBody>
      </p:sp>
      <p:sp>
        <p:nvSpPr>
          <p:cNvPr id="21" name="Shape 19"/>
          <p:cNvSpPr/>
          <p:nvPr/>
        </p:nvSpPr>
        <p:spPr>
          <a:xfrm>
            <a:off x="365760" y="3584448"/>
            <a:ext cx="8412480" cy="530352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65760" y="3584448"/>
            <a:ext cx="54864" cy="53035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48640" y="363016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Regression Mistakes &amp; Inference</a:t>
            </a:r>
            <a:endParaRPr lang="en-US" sz="1200"/>
          </a:p>
        </p:txBody>
      </p:sp>
      <p:sp>
        <p:nvSpPr>
          <p:cNvPr id="24" name="Text 22"/>
          <p:cNvSpPr/>
          <p:nvPr/>
        </p:nvSpPr>
        <p:spPr>
          <a:xfrm>
            <a:off x="548640" y="384048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trust, R², intercept meaning, common blunders</a:t>
            </a:r>
            <a:endParaRPr lang="en-US" sz="1100"/>
          </a:p>
        </p:txBody>
      </p:sp>
      <p:sp>
        <p:nvSpPr>
          <p:cNvPr id="25" name="Shape 23"/>
          <p:cNvSpPr/>
          <p:nvPr/>
        </p:nvSpPr>
        <p:spPr>
          <a:xfrm>
            <a:off x="365760" y="4206240"/>
            <a:ext cx="8412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65760" y="4206240"/>
            <a:ext cx="54864" cy="53035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48640" y="42519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Hypothesis Testing</a:t>
            </a:r>
            <a:endParaRPr lang="en-US" sz="1200"/>
          </a:p>
        </p:txBody>
      </p:sp>
      <p:sp>
        <p:nvSpPr>
          <p:cNvPr id="28" name="Text 26"/>
          <p:cNvSpPr/>
          <p:nvPr/>
        </p:nvSpPr>
        <p:spPr>
          <a:xfrm>
            <a:off x="548640" y="4462272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 — is your edge real or random noise?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Covariance</a:t>
            </a:r>
            <a:endParaRPr lang="en-US" sz="200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from Session 1: Variance measures how much ONE asset's tick change scatters around its mean.</a:t>
            </a:r>
            <a:endParaRPr lang="en-US" sz="1250"/>
          </a:p>
          <a:p>
            <a:pPr marL="0" indent="0">
              <a:buNone/>
            </a:pPr>
            <a:r>
              <a:rPr lang="en-US" sz="1250" i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Covariance is that same idea but for TWO assets simultaneously.</a:t>
            </a:r>
            <a:endParaRPr lang="en-US" sz="1250"/>
          </a:p>
        </p:txBody>
      </p:sp>
      <p:sp>
        <p:nvSpPr>
          <p:cNvPr id="5" name="Shape 3"/>
          <p:cNvSpPr/>
          <p:nvPr/>
        </p:nvSpPr>
        <p:spPr>
          <a:xfrm>
            <a:off x="365760" y="1261872"/>
            <a:ext cx="8412480" cy="566928"/>
          </a:xfrm>
          <a:prstGeom prst="rect">
            <a:avLst/>
          </a:prstGeom>
          <a:solidFill>
            <a:srgbClr val="EFF6FF"/>
          </a:solidFill>
          <a:ln w="1270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30759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2E5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Cov(X,Y) = (1/N) × Σ [ (Xᵢ − X̄ ) × (Yᵢ − Ȳ) ]</a:t>
            </a:r>
            <a:endParaRPr lang="en-US" sz="1200"/>
          </a:p>
        </p:txBody>
      </p:sp>
      <p:sp>
        <p:nvSpPr>
          <p:cNvPr id="7" name="Text 5"/>
          <p:cNvSpPr/>
          <p:nvPr/>
        </p:nvSpPr>
        <p:spPr>
          <a:xfrm>
            <a:off x="365760" y="1920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/>
          </a:p>
        </p:txBody>
      </p:sp>
      <p:sp>
        <p:nvSpPr>
          <p:cNvPr id="10" name="Text 7"/>
          <p:cNvSpPr/>
          <p:nvPr/>
        </p:nvSpPr>
        <p:spPr>
          <a:xfrm>
            <a:off x="365760" y="393192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/>
          </a:p>
        </p:txBody>
      </p:sp>
      <p:sp>
        <p:nvSpPr>
          <p:cNvPr id="12" name="Text 9"/>
          <p:cNvSpPr/>
          <p:nvPr/>
        </p:nvSpPr>
        <p:spPr>
          <a:xfrm>
            <a:off x="640080" y="2642616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Covariance has NO upper or lower bound. Its magnitude depends on the scale of tick sizes. You cannot compare Cov(ES,NQ) to Cov(CL,GC) directly, the units are completely different!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Covariance — Interpretation, Signs &amp; Limitations</a:t>
            </a:r>
            <a:endParaRPr lang="en-US" sz="2000"/>
          </a:p>
        </p:txBody>
      </p:sp>
      <p:sp>
        <p:nvSpPr>
          <p:cNvPr id="4" name="Shape 2"/>
          <p:cNvSpPr/>
          <p:nvPr/>
        </p:nvSpPr>
        <p:spPr>
          <a:xfrm>
            <a:off x="365760" y="685800"/>
            <a:ext cx="2651760" cy="1005840"/>
          </a:xfrm>
          <a:prstGeom prst="rect">
            <a:avLst/>
          </a:prstGeom>
          <a:solidFill>
            <a:srgbClr val="EFF6FF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 &gt; 0</a:t>
            </a:r>
            <a:endParaRPr lang="en-US" sz="1400"/>
          </a:p>
        </p:txBody>
      </p:sp>
      <p:sp>
        <p:nvSpPr>
          <p:cNvPr id="6" name="Text 4"/>
          <p:cNvSpPr/>
          <p:nvPr/>
        </p:nvSpPr>
        <p:spPr>
          <a:xfrm>
            <a:off x="457200" y="107899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tick changes move in same direction. Long one, long the other.</a:t>
            </a:r>
            <a:endParaRPr lang="en-US" sz="1100"/>
          </a:p>
        </p:txBody>
      </p:sp>
      <p:sp>
        <p:nvSpPr>
          <p:cNvPr id="7" name="Shape 5"/>
          <p:cNvSpPr/>
          <p:nvPr/>
        </p:nvSpPr>
        <p:spPr>
          <a:xfrm>
            <a:off x="3200400" y="685800"/>
            <a:ext cx="2651760" cy="1005840"/>
          </a:xfrm>
          <a:prstGeom prst="rect">
            <a:avLst/>
          </a:prstGeom>
          <a:solidFill>
            <a:srgbClr val="EFF6FF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91840" y="7315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 &lt; 0</a:t>
            </a:r>
            <a:endParaRPr lang="en-US" sz="1400"/>
          </a:p>
        </p:txBody>
      </p:sp>
      <p:sp>
        <p:nvSpPr>
          <p:cNvPr id="9" name="Text 7"/>
          <p:cNvSpPr/>
          <p:nvPr/>
        </p:nvSpPr>
        <p:spPr>
          <a:xfrm>
            <a:off x="3291840" y="107899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 changes move in opposite directions. ES up, ZN down (usually).</a:t>
            </a:r>
            <a:endParaRPr lang="en-US" sz="1100"/>
          </a:p>
        </p:txBody>
      </p:sp>
      <p:sp>
        <p:nvSpPr>
          <p:cNvPr id="10" name="Shape 8"/>
          <p:cNvSpPr/>
          <p:nvPr/>
        </p:nvSpPr>
        <p:spPr>
          <a:xfrm>
            <a:off x="6035040" y="685800"/>
            <a:ext cx="2651760" cy="1005840"/>
          </a:xfrm>
          <a:prstGeom prst="rect">
            <a:avLst/>
          </a:prstGeom>
          <a:solidFill>
            <a:srgbClr val="EFF6FF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126480" y="7315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 = 0</a:t>
            </a:r>
            <a:endParaRPr lang="en-US" sz="1400"/>
          </a:p>
        </p:txBody>
      </p:sp>
      <p:sp>
        <p:nvSpPr>
          <p:cNvPr id="12" name="Text 10"/>
          <p:cNvSpPr/>
          <p:nvPr/>
        </p:nvSpPr>
        <p:spPr>
          <a:xfrm>
            <a:off x="6126480" y="107899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LINEAR relationship. (Non-linear relationship may still exist!)</a:t>
            </a:r>
            <a:endParaRPr lang="en-US" sz="1100"/>
          </a:p>
        </p:txBody>
      </p:sp>
      <p:sp>
        <p:nvSpPr>
          <p:cNvPr id="13" name="Text 11"/>
          <p:cNvSpPr/>
          <p:nvPr/>
        </p:nvSpPr>
        <p:spPr>
          <a:xfrm>
            <a:off x="365760" y="182880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Covariance Alone Is Not Enough:</a:t>
            </a:r>
            <a:endParaRPr lang="en-US" sz="1300"/>
          </a:p>
        </p:txBody>
      </p:sp>
      <p:sp>
        <p:nvSpPr>
          <p:cNvPr id="14" name="Text 12"/>
          <p:cNvSpPr/>
          <p:nvPr/>
        </p:nvSpPr>
        <p:spPr>
          <a:xfrm>
            <a:off x="365760" y="2148840"/>
            <a:ext cx="84124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Cov(ES,NQ) = +15.1 ticks² vs Cov(CL,GC) = +2.8 ticks²  — does ES/NQ really 'move more together'? We can't tell!</a:t>
            </a:r>
            <a:endParaRPr lang="en-US" sz="13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Covariance is affected by the scale of measurement — a 1-tick move in CL ($10) is very different from 1-tick in ES ($12.50)</a:t>
            </a:r>
            <a:endParaRPr lang="en-US" sz="13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need a NORMALIZED version of covariance → Correlation</a:t>
            </a:r>
            <a:endParaRPr lang="en-US" sz="13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Case: Covariance IS useful in portfolio construction (variance of portfolio = weighted sum of covariances)</a:t>
            </a:r>
            <a:endParaRPr lang="en-US" sz="1300"/>
          </a:p>
        </p:txBody>
      </p:sp>
      <p:sp>
        <p:nvSpPr>
          <p:cNvPr id="15" name="Shape 13"/>
          <p:cNvSpPr/>
          <p:nvPr/>
        </p:nvSpPr>
        <p:spPr>
          <a:xfrm>
            <a:off x="365760" y="4023360"/>
            <a:ext cx="8412480" cy="502920"/>
          </a:xfrm>
          <a:prstGeom prst="rect">
            <a:avLst/>
          </a:prstGeom>
          <a:solidFill>
            <a:srgbClr val="EFF6FF"/>
          </a:solidFill>
          <a:ln w="1270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" y="40690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2E5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Portfolio Variance (2 assets): σ²p = w₁²σ₁² + w₂²σ₂² + 2·w₁·w₂·Cov(1,2)   ← Session 1 SD concept applied here!</a:t>
            </a:r>
            <a:endParaRPr lang="en-US" sz="1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436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0"/>
            <a:ext cx="109728" cy="146304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192024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</a:t>
            </a:r>
            <a:endParaRPr lang="en-US" sz="3200"/>
          </a:p>
        </p:txBody>
      </p:sp>
      <p:sp>
        <p:nvSpPr>
          <p:cNvPr id="4" name="Text 2"/>
          <p:cNvSpPr/>
          <p:nvPr/>
        </p:nvSpPr>
        <p:spPr>
          <a:xfrm>
            <a:off x="731520" y="292608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 co-movement on a standard scale</a:t>
            </a:r>
            <a:endParaRPr lang="en-US" sz="16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— Definition &amp; Formula</a:t>
            </a:r>
            <a:endParaRPr lang="en-US" sz="200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standardizes Covariance by dividing by both standard deviations. It answers: how tightly coupled are two futures' tick movements — regardless of tick size.</a:t>
            </a:r>
            <a:endParaRPr lang="en-US" sz="1250"/>
          </a:p>
        </p:txBody>
      </p:sp>
      <p:sp>
        <p:nvSpPr>
          <p:cNvPr id="5" name="Shape 3"/>
          <p:cNvSpPr/>
          <p:nvPr/>
        </p:nvSpPr>
        <p:spPr>
          <a:xfrm>
            <a:off x="365760" y="1207008"/>
            <a:ext cx="8412480" cy="594360"/>
          </a:xfrm>
          <a:prstGeom prst="rect">
            <a:avLst/>
          </a:prstGeom>
          <a:solidFill>
            <a:srgbClr val="EFF6FF"/>
          </a:solidFill>
          <a:ln w="1270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2527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2E5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ρ (or r) = Cov(X,Y) / (σ_X × σ_Y)     Range: −1 ≤ ρ ≤ +1     (dimensionless — no tick units!)</a:t>
            </a:r>
            <a:endParaRPr lang="en-US" sz="1200"/>
          </a:p>
        </p:txBody>
      </p:sp>
      <p:sp>
        <p:nvSpPr>
          <p:cNvPr id="8" name="Text 6"/>
          <p:cNvSpPr/>
          <p:nvPr/>
        </p:nvSpPr>
        <p:spPr>
          <a:xfrm>
            <a:off x="457200" y="197510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ρ = +1.0</a:t>
            </a:r>
            <a:endParaRPr lang="en-US" sz="1200"/>
          </a:p>
        </p:txBody>
      </p:sp>
      <p:sp>
        <p:nvSpPr>
          <p:cNvPr id="9" name="Text 7"/>
          <p:cNvSpPr/>
          <p:nvPr/>
        </p:nvSpPr>
        <p:spPr>
          <a:xfrm>
            <a:off x="1737360" y="197510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positive.</a:t>
            </a:r>
            <a:endParaRPr lang="en-US" sz="1150"/>
          </a:p>
        </p:txBody>
      </p:sp>
      <p:sp>
        <p:nvSpPr>
          <p:cNvPr id="10" name="Shape 8"/>
          <p:cNvSpPr/>
          <p:nvPr/>
        </p:nvSpPr>
        <p:spPr>
          <a:xfrm>
            <a:off x="365760" y="2395728"/>
            <a:ext cx="84124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245059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ρ = +0.85</a:t>
            </a:r>
            <a:endParaRPr lang="en-US" sz="1200"/>
          </a:p>
        </p:txBody>
      </p:sp>
      <p:sp>
        <p:nvSpPr>
          <p:cNvPr id="12" name="Text 10"/>
          <p:cNvSpPr/>
          <p:nvPr/>
        </p:nvSpPr>
        <p:spPr>
          <a:xfrm>
            <a:off x="1737360" y="245059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positive. Most tick moves align. Basis risk still exists.</a:t>
            </a:r>
            <a:endParaRPr lang="en-US" sz="1150"/>
          </a:p>
        </p:txBody>
      </p:sp>
      <p:sp>
        <p:nvSpPr>
          <p:cNvPr id="13" name="Shape 11"/>
          <p:cNvSpPr/>
          <p:nvPr/>
        </p:nvSpPr>
        <p:spPr>
          <a:xfrm>
            <a:off x="365760" y="2871216"/>
            <a:ext cx="8412480" cy="420624"/>
          </a:xfrm>
          <a:prstGeom prst="rect">
            <a:avLst/>
          </a:prstGeom>
          <a:solidFill>
            <a:srgbClr val="F4F6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29260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ρ = 0.0</a:t>
            </a:r>
            <a:endParaRPr lang="en-US" sz="1200"/>
          </a:p>
        </p:txBody>
      </p:sp>
      <p:sp>
        <p:nvSpPr>
          <p:cNvPr id="15" name="Text 13"/>
          <p:cNvSpPr/>
          <p:nvPr/>
        </p:nvSpPr>
        <p:spPr>
          <a:xfrm>
            <a:off x="1737360" y="29260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LINEAR correlation. Doesn't mean independence.</a:t>
            </a:r>
            <a:endParaRPr lang="en-US" sz="1150"/>
          </a:p>
        </p:txBody>
      </p:sp>
      <p:sp>
        <p:nvSpPr>
          <p:cNvPr id="16" name="Shape 14"/>
          <p:cNvSpPr/>
          <p:nvPr/>
        </p:nvSpPr>
        <p:spPr>
          <a:xfrm>
            <a:off x="365760" y="3346704"/>
            <a:ext cx="84124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340156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ρ = −0.8</a:t>
            </a:r>
            <a:endParaRPr lang="en-US" sz="1200"/>
          </a:p>
        </p:txBody>
      </p:sp>
      <p:sp>
        <p:nvSpPr>
          <p:cNvPr id="18" name="Text 16"/>
          <p:cNvSpPr/>
          <p:nvPr/>
        </p:nvSpPr>
        <p:spPr>
          <a:xfrm>
            <a:off x="1737360" y="340156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negative.</a:t>
            </a:r>
            <a:endParaRPr lang="en-US" sz="1150"/>
          </a:p>
        </p:txBody>
      </p:sp>
      <p:sp>
        <p:nvSpPr>
          <p:cNvPr id="19" name="Shape 17"/>
          <p:cNvSpPr/>
          <p:nvPr/>
        </p:nvSpPr>
        <p:spPr>
          <a:xfrm>
            <a:off x="365760" y="3822192"/>
            <a:ext cx="8412480" cy="420624"/>
          </a:xfrm>
          <a:prstGeom prst="rect">
            <a:avLst/>
          </a:prstGeom>
          <a:solidFill>
            <a:srgbClr val="F4F6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57200" y="387705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ρ = −1.0</a:t>
            </a:r>
            <a:endParaRPr lang="en-US" sz="1200"/>
          </a:p>
        </p:txBody>
      </p:sp>
      <p:sp>
        <p:nvSpPr>
          <p:cNvPr id="21" name="Text 19"/>
          <p:cNvSpPr/>
          <p:nvPr/>
        </p:nvSpPr>
        <p:spPr>
          <a:xfrm>
            <a:off x="1737360" y="3877056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negative. Rarely seen in real futures markets.</a:t>
            </a:r>
            <a:endParaRPr lang="en-US" sz="1150"/>
          </a:p>
        </p:txBody>
      </p:sp>
      <p:sp>
        <p:nvSpPr>
          <p:cNvPr id="22" name="Text 20"/>
          <p:cNvSpPr/>
          <p:nvPr/>
        </p:nvSpPr>
        <p:spPr>
          <a:xfrm>
            <a:off x="365760" y="440740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— What It Looks Like (Scatter Plot Intuition)</a:t>
            </a:r>
            <a:endParaRPr lang="en-US" sz="200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plot before computing. A single correlation number can hide very different relationships.</a:t>
            </a:r>
            <a:endParaRPr lang="en-US" sz="1250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1005840"/>
          <a:ext cx="411480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1"/>
          <p:cNvGraphicFramePr/>
          <p:nvPr/>
        </p:nvGraphicFramePr>
        <p:xfrm>
          <a:off x="4663440" y="1005840"/>
          <a:ext cx="411480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Text 3"/>
          <p:cNvSpPr/>
          <p:nvPr/>
        </p:nvSpPr>
        <p:spPr>
          <a:xfrm>
            <a:off x="365760" y="408736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/>
          </a:p>
        </p:txBody>
      </p:sp>
      <p:sp>
        <p:nvSpPr>
          <p:cNvPr id="8" name="Text 4"/>
          <p:cNvSpPr/>
          <p:nvPr/>
        </p:nvSpPr>
        <p:spPr>
          <a:xfrm>
            <a:off x="4663440" y="408736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Correlation — Correlation Is NOT Static!</a:t>
            </a:r>
            <a:endParaRPr lang="en-US" sz="200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number ρ = 0.87 computed over the last 2 years means NOTHING if the relationship broke down 3 months ago.</a:t>
            </a:r>
            <a:endParaRPr lang="en-US" sz="1250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1078992"/>
          <a:ext cx="841248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3749040"/>
            <a:ext cx="8412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20, 60, 120-day rolling windows. See how correlation evolves especially during earnings, macro events.</a:t>
            </a:r>
            <a:endParaRPr lang="en-US" sz="115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pairs ONLY when rolling ρ is consistently high (&gt;0.80). Low ρ periods = your hedge is broken.</a:t>
            </a:r>
            <a:endParaRPr lang="en-US" sz="115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sudden drop in rolling ρ is often a SIGNAL, not noise, something fundamental has shifted.</a:t>
            </a:r>
            <a:endParaRPr lang="en-US" sz="115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Myths</a:t>
            </a:r>
            <a:endParaRPr lang="en-US" sz="2000"/>
          </a:p>
        </p:txBody>
      </p:sp>
      <p:sp>
        <p:nvSpPr>
          <p:cNvPr id="4" name="Shape 2"/>
          <p:cNvSpPr/>
          <p:nvPr/>
        </p:nvSpPr>
        <p:spPr>
          <a:xfrm>
            <a:off x="365760" y="713232"/>
            <a:ext cx="841248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005840" cy="12618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033272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MYTH 1</a:t>
            </a:r>
            <a:endParaRPr lang="en-US" sz="1100"/>
          </a:p>
        </p:txBody>
      </p:sp>
      <p:sp>
        <p:nvSpPr>
          <p:cNvPr id="7" name="Text 5"/>
          <p:cNvSpPr/>
          <p:nvPr/>
        </p:nvSpPr>
        <p:spPr>
          <a:xfrm>
            <a:off x="1463040" y="758952"/>
            <a:ext cx="7178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Correlation means causation</a:t>
            </a:r>
            <a:endParaRPr lang="en-US" sz="1200"/>
          </a:p>
        </p:txBody>
      </p:sp>
      <p:sp>
        <p:nvSpPr>
          <p:cNvPr id="8" name="Text 6"/>
          <p:cNvSpPr/>
          <p:nvPr/>
        </p:nvSpPr>
        <p:spPr>
          <a:xfrm>
            <a:off x="1463040" y="1097280"/>
            <a:ext cx="7178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 (Crude) and airline futures often show negative ρ. Fuel costs? Maybe. But some other macro may drives BOTH. The real cause is a hidden third variable — always ask 'what drives both?'</a:t>
            </a:r>
            <a:endParaRPr lang="en-US" sz="1100"/>
          </a:p>
        </p:txBody>
      </p:sp>
      <p:sp>
        <p:nvSpPr>
          <p:cNvPr id="9" name="Shape 7"/>
          <p:cNvSpPr/>
          <p:nvPr/>
        </p:nvSpPr>
        <p:spPr>
          <a:xfrm>
            <a:off x="365760" y="2084832"/>
            <a:ext cx="841248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5760" y="2084832"/>
            <a:ext cx="1005840" cy="126187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5760" y="2404872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MYTH 2</a:t>
            </a:r>
            <a:endParaRPr lang="en-US" sz="1100"/>
          </a:p>
        </p:txBody>
      </p:sp>
      <p:sp>
        <p:nvSpPr>
          <p:cNvPr id="12" name="Text 10"/>
          <p:cNvSpPr/>
          <p:nvPr/>
        </p:nvSpPr>
        <p:spPr>
          <a:xfrm>
            <a:off x="1463040" y="2130552"/>
            <a:ext cx="7178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ρ = 0.9 means the assets move almost identically in ticks</a:t>
            </a:r>
            <a:endParaRPr lang="en-US" sz="1200"/>
          </a:p>
        </p:txBody>
      </p:sp>
      <p:sp>
        <p:nvSpPr>
          <p:cNvPr id="13" name="Text 11"/>
          <p:cNvSpPr/>
          <p:nvPr/>
        </p:nvSpPr>
        <p:spPr>
          <a:xfrm>
            <a:off x="1463040" y="2468880"/>
            <a:ext cx="7178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NO! ρ tells you DIRECTION strength, not MAGNITUDE. ES may move 8 ticks for every 20 ticks of NQ. High ρ just means direction alignment. Ratio/beta gives you magnitude — we'll cover this in regression.</a:t>
            </a:r>
            <a:endParaRPr lang="en-US" sz="1100"/>
          </a:p>
        </p:txBody>
      </p:sp>
      <p:sp>
        <p:nvSpPr>
          <p:cNvPr id="16" name="Text 14"/>
          <p:cNvSpPr/>
          <p:nvPr/>
        </p:nvSpPr>
        <p:spPr>
          <a:xfrm>
            <a:off x="365760" y="3776472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/>
          </a:p>
        </p:txBody>
      </p:sp>
      <p:sp>
        <p:nvSpPr>
          <p:cNvPr id="17" name="Text 15"/>
          <p:cNvSpPr/>
          <p:nvPr/>
        </p:nvSpPr>
        <p:spPr>
          <a:xfrm>
            <a:off x="1463040" y="3502152"/>
            <a:ext cx="7178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/>
          </a:p>
        </p:txBody>
      </p:sp>
      <p:sp>
        <p:nvSpPr>
          <p:cNvPr id="18" name="Text 16"/>
          <p:cNvSpPr/>
          <p:nvPr/>
        </p:nvSpPr>
        <p:spPr>
          <a:xfrm>
            <a:off x="1463040" y="3840480"/>
            <a:ext cx="7178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Myths</a:t>
            </a:r>
            <a:endParaRPr lang="en-US" sz="2000"/>
          </a:p>
        </p:txBody>
      </p:sp>
      <p:sp>
        <p:nvSpPr>
          <p:cNvPr id="4" name="Shape 2"/>
          <p:cNvSpPr/>
          <p:nvPr/>
        </p:nvSpPr>
        <p:spPr>
          <a:xfrm>
            <a:off x="365760" y="713232"/>
            <a:ext cx="841248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005840" cy="126187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033272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MYTH 3</a:t>
            </a:r>
            <a:endParaRPr lang="en-US" sz="1100"/>
          </a:p>
        </p:txBody>
      </p:sp>
      <p:sp>
        <p:nvSpPr>
          <p:cNvPr id="7" name="Text 5"/>
          <p:cNvSpPr/>
          <p:nvPr/>
        </p:nvSpPr>
        <p:spPr>
          <a:xfrm>
            <a:off x="1463040" y="758952"/>
            <a:ext cx="7178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Correlation is stable across market regimes</a:t>
            </a:r>
            <a:endParaRPr lang="en-US" sz="1200"/>
          </a:p>
        </p:txBody>
      </p:sp>
      <p:sp>
        <p:nvSpPr>
          <p:cNvPr id="8" name="Text 6"/>
          <p:cNvSpPr/>
          <p:nvPr/>
        </p:nvSpPr>
        <p:spPr>
          <a:xfrm>
            <a:off x="1463040" y="1097280"/>
            <a:ext cx="7178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Crisis changes everything. ES/CL had ρ ≈ 0.65 in 2019 (oil demand narrative). In March 2020 COVID crash, they both fell — ρ → 0.92. In 2022 inflation shock, ρ flipped to near-zero. Always check regime.</a:t>
            </a:r>
            <a:endParaRPr lang="en-US" sz="1100"/>
          </a:p>
        </p:txBody>
      </p:sp>
      <p:sp>
        <p:nvSpPr>
          <p:cNvPr id="9" name="Shape 7"/>
          <p:cNvSpPr/>
          <p:nvPr/>
        </p:nvSpPr>
        <p:spPr>
          <a:xfrm>
            <a:off x="430653" y="2077015"/>
            <a:ext cx="841248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5760" y="2084832"/>
            <a:ext cx="1005840" cy="12618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5760" y="2404872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MYTH 4</a:t>
            </a:r>
            <a:endParaRPr lang="en-US" sz="1100"/>
          </a:p>
        </p:txBody>
      </p:sp>
      <p:sp>
        <p:nvSpPr>
          <p:cNvPr id="12" name="Text 10"/>
          <p:cNvSpPr/>
          <p:nvPr/>
        </p:nvSpPr>
        <p:spPr>
          <a:xfrm>
            <a:off x="1463040" y="2130552"/>
            <a:ext cx="7178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Low correlation = no relationship</a:t>
            </a:r>
            <a:endParaRPr lang="en-US" sz="1200"/>
          </a:p>
        </p:txBody>
      </p:sp>
      <p:sp>
        <p:nvSpPr>
          <p:cNvPr id="13" name="Text 11"/>
          <p:cNvSpPr/>
          <p:nvPr/>
        </p:nvSpPr>
        <p:spPr>
          <a:xfrm>
            <a:off x="1463040" y="2468880"/>
            <a:ext cx="7178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= 0 can exist for a non-linear relationship (e.g., VIX and ES have a curved, not linear, relationship).</a:t>
            </a:r>
            <a:endParaRPr lang="en-US" sz="1100"/>
          </a:p>
        </p:txBody>
      </p:sp>
      <p:sp>
        <p:nvSpPr>
          <p:cNvPr id="14" name="Text 12"/>
          <p:cNvSpPr/>
          <p:nvPr/>
        </p:nvSpPr>
        <p:spPr>
          <a:xfrm>
            <a:off x="430653" y="3384607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 for Every Myth:</a:t>
            </a:r>
            <a:endParaRPr lang="en-US" sz="1250"/>
          </a:p>
        </p:txBody>
      </p:sp>
      <p:sp>
        <p:nvSpPr>
          <p:cNvPr id="15" name="Text 13"/>
          <p:cNvSpPr/>
          <p:nvPr/>
        </p:nvSpPr>
        <p:spPr>
          <a:xfrm>
            <a:off x="365760" y="3645654"/>
            <a:ext cx="84124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visualize: plot scatter, plot rolling ρ, check for outliers, check for non-linearity.</a:t>
            </a:r>
            <a:endParaRPr lang="en-US" sz="12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check the regime: pre-crisis, during-crisis, post-crisis correlations are three different numbers.</a:t>
            </a:r>
            <a:endParaRPr lang="en-US" sz="12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436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0"/>
            <a:ext cx="109728" cy="146304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192024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COINTEGRATION</a:t>
            </a:r>
            <a:endParaRPr lang="en-US" sz="3200"/>
          </a:p>
        </p:txBody>
      </p:sp>
      <p:sp>
        <p:nvSpPr>
          <p:cNvPr id="4" name="Text 2"/>
          <p:cNvSpPr/>
          <p:nvPr/>
        </p:nvSpPr>
        <p:spPr>
          <a:xfrm>
            <a:off x="731520" y="292608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two futures share a long-run equilibrium — the foundation of spread trading</a:t>
            </a:r>
            <a:endParaRPr lang="en-US" sz="16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Cointegration vs Correlation</a:t>
            </a:r>
            <a:endParaRPr lang="en-US" sz="200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most important conceptual distinction for any spread or pairs trader.</a:t>
            </a:r>
            <a:endParaRPr lang="en-US" sz="130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114800" cy="3108960"/>
          </a:xfrm>
          <a:prstGeom prst="rect">
            <a:avLst/>
          </a:prstGeom>
          <a:solidFill>
            <a:srgbClr val="FEF3C7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</a:t>
            </a:r>
            <a:endParaRPr lang="en-US" sz="1400"/>
          </a:p>
        </p:txBody>
      </p:sp>
      <p:sp>
        <p:nvSpPr>
          <p:cNvPr id="7" name="Text 5"/>
          <p:cNvSpPr/>
          <p:nvPr/>
        </p:nvSpPr>
        <p:spPr>
          <a:xfrm>
            <a:off x="457200" y="144475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Measures SHORT-TERM co-movement in RETURNS (tick changes)</a:t>
            </a:r>
            <a:endParaRPr lang="en-US" sz="1050"/>
          </a:p>
        </p:txBody>
      </p:sp>
      <p:sp>
        <p:nvSpPr>
          <p:cNvPr id="8" name="Text 6"/>
          <p:cNvSpPr/>
          <p:nvPr/>
        </p:nvSpPr>
        <p:spPr>
          <a:xfrm>
            <a:off x="457200" y="195681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Can be high even if prices drift apart permanently</a:t>
            </a:r>
            <a:endParaRPr lang="en-US" sz="1050"/>
          </a:p>
        </p:txBody>
      </p:sp>
      <p:sp>
        <p:nvSpPr>
          <p:cNvPr id="9" name="Text 7"/>
          <p:cNvSpPr/>
          <p:nvPr/>
        </p:nvSpPr>
        <p:spPr>
          <a:xfrm>
            <a:off x="457200" y="24688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ES and NQ both fell 10% in March 2020 → high correlation BUT they drifted far apart in dollar terms over 2021-22</a:t>
            </a:r>
            <a:endParaRPr lang="en-US" sz="1050"/>
          </a:p>
        </p:txBody>
      </p:sp>
      <p:sp>
        <p:nvSpPr>
          <p:cNvPr id="10" name="Text 8"/>
          <p:cNvSpPr/>
          <p:nvPr/>
        </p:nvSpPr>
        <p:spPr>
          <a:xfrm>
            <a:off x="457200" y="2980944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Correlation can be 0.95 today and 0.40 next month</a:t>
            </a:r>
            <a:endParaRPr lang="en-US" sz="1050"/>
          </a:p>
        </p:txBody>
      </p:sp>
      <p:sp>
        <p:nvSpPr>
          <p:cNvPr id="11" name="Text 9"/>
          <p:cNvSpPr/>
          <p:nvPr/>
        </p:nvSpPr>
        <p:spPr>
          <a:xfrm>
            <a:off x="457200" y="349300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information about mean-reversion of the SPREAD</a:t>
            </a:r>
            <a:endParaRPr lang="en-US" sz="1050"/>
          </a:p>
        </p:txBody>
      </p:sp>
      <p:sp>
        <p:nvSpPr>
          <p:cNvPr id="12" name="Shape 10"/>
          <p:cNvSpPr/>
          <p:nvPr/>
        </p:nvSpPr>
        <p:spPr>
          <a:xfrm>
            <a:off x="4663440" y="1005840"/>
            <a:ext cx="4114800" cy="310896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54880" y="105156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COINTEGRATION</a:t>
            </a:r>
            <a:endParaRPr lang="en-US" sz="1400"/>
          </a:p>
        </p:txBody>
      </p:sp>
      <p:sp>
        <p:nvSpPr>
          <p:cNvPr id="14" name="Text 12"/>
          <p:cNvSpPr/>
          <p:nvPr/>
        </p:nvSpPr>
        <p:spPr>
          <a:xfrm>
            <a:off x="4754880" y="144475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Measures LONG-RUN EQUILIBRIUM in PRICE LEVELS</a:t>
            </a:r>
            <a:endParaRPr lang="en-US" sz="1050"/>
          </a:p>
        </p:txBody>
      </p:sp>
      <p:sp>
        <p:nvSpPr>
          <p:cNvPr id="15" name="Text 13"/>
          <p:cNvSpPr/>
          <p:nvPr/>
        </p:nvSpPr>
        <p:spPr>
          <a:xfrm>
            <a:off x="4754880" y="195681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If cointegrated: prices may diverge temporarily, but WILL revert to a stable spread</a:t>
            </a:r>
            <a:endParaRPr lang="en-US" sz="1050"/>
          </a:p>
        </p:txBody>
      </p:sp>
      <p:sp>
        <p:nvSpPr>
          <p:cNvPr id="16" name="Text 14"/>
          <p:cNvSpPr/>
          <p:nvPr/>
        </p:nvSpPr>
        <p:spPr>
          <a:xfrm>
            <a:off x="4754880" y="24688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ES vs SPY futures — nearly perfect cointegration. Spread stays bounded.</a:t>
            </a:r>
            <a:endParaRPr lang="en-US" sz="1050"/>
          </a:p>
        </p:txBody>
      </p:sp>
      <p:sp>
        <p:nvSpPr>
          <p:cNvPr id="17" name="Text 15"/>
          <p:cNvSpPr/>
          <p:nvPr/>
        </p:nvSpPr>
        <p:spPr>
          <a:xfrm>
            <a:off x="4754880" y="2980944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Spread = Price_A − β × Price_B is STATIONARY (mean-reverting) — that's the test</a:t>
            </a:r>
            <a:endParaRPr lang="en-US" sz="1050"/>
          </a:p>
        </p:txBody>
      </p:sp>
      <p:sp>
        <p:nvSpPr>
          <p:cNvPr id="18" name="Text 16"/>
          <p:cNvSpPr/>
          <p:nvPr/>
        </p:nvSpPr>
        <p:spPr>
          <a:xfrm>
            <a:off x="4754880" y="349300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Foundation of statistical arbitrage and calendar spread trading</a:t>
            </a:r>
            <a:endParaRPr lang="en-US" sz="1050"/>
          </a:p>
        </p:txBody>
      </p:sp>
      <p:sp>
        <p:nvSpPr>
          <p:cNvPr id="19" name="Shape 17"/>
          <p:cNvSpPr/>
          <p:nvPr/>
        </p:nvSpPr>
        <p:spPr>
          <a:xfrm>
            <a:off x="365760" y="4187952"/>
            <a:ext cx="841248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57200" y="423367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Two futures can be HIGHLY CORRELATED but NOT cointegrated (e.g., two trending indices). And two futures can have LOW correlation over short windows but be COINTEGRATED over long run. 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Cointegration — The Spread, The Hedge Ratio &amp; Stationarity</a:t>
            </a:r>
            <a:endParaRPr lang="en-US" sz="200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8412480" cy="502920"/>
          </a:xfrm>
          <a:prstGeom prst="rect">
            <a:avLst/>
          </a:prstGeom>
          <a:solidFill>
            <a:srgbClr val="EFF6FF"/>
          </a:solidFill>
          <a:ln w="1270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70408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2E5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Spread(t) = Price_A(t)  −  β × Price_B(t)     where β = hedge ratio (from regression)</a:t>
            </a:r>
            <a:endParaRPr lang="en-US" sz="1200"/>
          </a:p>
        </p:txBody>
      </p:sp>
      <p:sp>
        <p:nvSpPr>
          <p:cNvPr id="6" name="Text 4"/>
          <p:cNvSpPr/>
          <p:nvPr/>
        </p:nvSpPr>
        <p:spPr>
          <a:xfrm>
            <a:off x="365760" y="123444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cointegrated pairs, this spread is STATIONARY — it has a constant mean and bounded variance over time.</a:t>
            </a:r>
            <a:endParaRPr lang="en-US" sz="1200"/>
          </a:p>
        </p:txBody>
      </p:sp>
      <p:graphicFrame>
        <p:nvGraphicFramePr>
          <p:cNvPr id="7" name="Chart 0"/>
          <p:cNvGraphicFramePr/>
          <p:nvPr/>
        </p:nvGraphicFramePr>
        <p:xfrm>
          <a:off x="365760" y="1572768"/>
          <a:ext cx="841248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5"/>
          <p:cNvSpPr/>
          <p:nvPr/>
        </p:nvSpPr>
        <p:spPr>
          <a:xfrm>
            <a:off x="365760" y="393192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signal: Spread &gt; +1.5 SD → SHORT the spread (sell A, buy B × β). Mean reversion expected.</a:t>
            </a:r>
            <a:endParaRPr lang="en-US" sz="115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signal: Spread returns to 0 → Close both legs simultaneously.</a:t>
            </a:r>
            <a:endParaRPr lang="en-US" sz="115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spread breaks permanently → cointegration may have BROKEN — re-test and adjust β immediately.</a:t>
            </a:r>
            <a:endParaRPr lang="en-US" sz="115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for Cointegration — Engle-Granger Two-Step Test</a:t>
            </a:r>
            <a:endParaRPr lang="en-US" sz="200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you CONFIRM two futures are cointegrated? Use the Engle-Granger test (simplest). We will also mention Johansen for multi-asset baskets.</a:t>
            </a:r>
            <a:endParaRPr lang="en-US" sz="125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914400" cy="1024128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4356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100"/>
          </a:p>
        </p:txBody>
      </p:sp>
      <p:sp>
        <p:nvSpPr>
          <p:cNvPr id="8" name="Text 6"/>
          <p:cNvSpPr/>
          <p:nvPr/>
        </p:nvSpPr>
        <p:spPr>
          <a:xfrm>
            <a:off x="1371600" y="118872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OLS regression: Price_A = α + β × Price_B + ε</a:t>
            </a:r>
            <a:endParaRPr lang="en-US" sz="1200"/>
          </a:p>
        </p:txBody>
      </p:sp>
      <p:sp>
        <p:nvSpPr>
          <p:cNvPr id="9" name="Text 7"/>
          <p:cNvSpPr/>
          <p:nvPr/>
        </p:nvSpPr>
        <p:spPr>
          <a:xfrm>
            <a:off x="1371600" y="1581912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hedge ratio β that best explains the price relationship between two futures.</a:t>
            </a:r>
            <a:endParaRPr lang="en-US" sz="1100"/>
          </a:p>
        </p:txBody>
      </p:sp>
      <p:sp>
        <p:nvSpPr>
          <p:cNvPr id="10" name="Shape 8"/>
          <p:cNvSpPr/>
          <p:nvPr/>
        </p:nvSpPr>
        <p:spPr>
          <a:xfrm>
            <a:off x="365760" y="2258568"/>
            <a:ext cx="841248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65760" y="2258568"/>
            <a:ext cx="914400" cy="1024128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65760" y="2551176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100"/>
          </a:p>
        </p:txBody>
      </p:sp>
      <p:sp>
        <p:nvSpPr>
          <p:cNvPr id="13" name="Text 11"/>
          <p:cNvSpPr/>
          <p:nvPr/>
        </p:nvSpPr>
        <p:spPr>
          <a:xfrm>
            <a:off x="1371600" y="230428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Extract residuals: ε(t) = Price_A(t) − α − β × Price_B(t)</a:t>
            </a:r>
            <a:endParaRPr lang="en-US" sz="1200"/>
          </a:p>
        </p:txBody>
      </p:sp>
      <p:sp>
        <p:nvSpPr>
          <p:cNvPr id="14" name="Text 12"/>
          <p:cNvSpPr/>
          <p:nvPr/>
        </p:nvSpPr>
        <p:spPr>
          <a:xfrm>
            <a:off x="1371600" y="2697480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your spread series. Is it stationary? i.e., does it mean-revert?</a:t>
            </a:r>
            <a:endParaRPr lang="en-US" sz="1100"/>
          </a:p>
        </p:txBody>
      </p:sp>
      <p:sp>
        <p:nvSpPr>
          <p:cNvPr id="15" name="Shape 13"/>
          <p:cNvSpPr/>
          <p:nvPr/>
        </p:nvSpPr>
        <p:spPr>
          <a:xfrm>
            <a:off x="365760" y="3374136"/>
            <a:ext cx="841248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65760" y="3374136"/>
            <a:ext cx="914400" cy="1024128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65760" y="3666744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100"/>
          </a:p>
        </p:txBody>
      </p:sp>
      <p:sp>
        <p:nvSpPr>
          <p:cNvPr id="18" name="Text 16"/>
          <p:cNvSpPr/>
          <p:nvPr/>
        </p:nvSpPr>
        <p:spPr>
          <a:xfrm>
            <a:off x="1371600" y="3419856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ADF Test (Augmented Dickey-Fuller) on residuals</a:t>
            </a:r>
            <a:endParaRPr lang="en-US" sz="1200"/>
          </a:p>
        </p:txBody>
      </p:sp>
      <p:sp>
        <p:nvSpPr>
          <p:cNvPr id="19" name="Text 17"/>
          <p:cNvSpPr/>
          <p:nvPr/>
        </p:nvSpPr>
        <p:spPr>
          <a:xfrm>
            <a:off x="1371600" y="3813048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H₀: Residuals have a unit root (non-stationary = no cointegration). If p-value &lt; 0.05 → REJECT H₀ → Cointegrated!</a:t>
            </a:r>
            <a:endParaRPr lang="en-US" sz="1100"/>
          </a:p>
        </p:txBody>
      </p:sp>
      <p:sp>
        <p:nvSpPr>
          <p:cNvPr id="20" name="Text 18"/>
          <p:cNvSpPr/>
          <p:nvPr/>
        </p:nvSpPr>
        <p:spPr>
          <a:xfrm>
            <a:off x="365760" y="448056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ES/NQ tested over 2022-2024 → ADF p-value &lt; 0.01 → Cointegrated. ES/CL tested same period → ADF p-value = 0.31 → NOT cointegrated. Don't pairs-trade based on correlation alone!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436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1659" y="64525"/>
            <a:ext cx="109728" cy="772815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73713" y="17698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3200"/>
          </a:p>
        </p:txBody>
      </p:sp>
      <p:sp>
        <p:nvSpPr>
          <p:cNvPr id="4" name="Text 2"/>
          <p:cNvSpPr/>
          <p:nvPr/>
        </p:nvSpPr>
        <p:spPr>
          <a:xfrm>
            <a:off x="731520" y="292608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CB52CFD-65B6-2E33-4C97-776BF8FF90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712" y="1473364"/>
            <a:ext cx="3998287" cy="303964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— The Foundation</a:t>
            </a:r>
            <a:endParaRPr lang="en-US" sz="200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futures: 'If NQ moves X ticks, how many ticks does ES move?' — Linear regression answers this.</a:t>
            </a:r>
            <a:endParaRPr lang="en-US" sz="130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530352"/>
          </a:xfrm>
          <a:prstGeom prst="rect">
            <a:avLst/>
          </a:prstGeom>
          <a:solidFill>
            <a:srgbClr val="EFF6FF"/>
          </a:solidFill>
          <a:ln w="1270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06984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2E5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= α (Intercept) + β × X (Predictor) + ε (Error)     OLS minimizes: Σ(Yᵢ − Ŷᵢ)²  [sum of squared residuals]</a:t>
            </a:r>
            <a:endParaRPr lang="en-US" sz="1200"/>
          </a:p>
        </p:txBody>
      </p:sp>
      <p:sp>
        <p:nvSpPr>
          <p:cNvPr id="7" name="Shape 5"/>
          <p:cNvSpPr/>
          <p:nvPr/>
        </p:nvSpPr>
        <p:spPr>
          <a:xfrm>
            <a:off x="365760" y="1645920"/>
            <a:ext cx="2651760" cy="2286000"/>
          </a:xfrm>
          <a:prstGeom prst="rect">
            <a:avLst/>
          </a:prstGeom>
          <a:solidFill>
            <a:srgbClr val="EFF6FF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6916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 (α)</a:t>
            </a:r>
            <a:endParaRPr lang="en-US" sz="1200"/>
          </a:p>
        </p:txBody>
      </p:sp>
      <p:sp>
        <p:nvSpPr>
          <p:cNvPr id="9" name="Text 7"/>
          <p:cNvSpPr/>
          <p:nvPr/>
        </p:nvSpPr>
        <p:spPr>
          <a:xfrm>
            <a:off x="457200" y="2084832"/>
            <a:ext cx="24688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expected value of Y when X = 0.</a:t>
            </a:r>
            <a:endParaRPr lang="en-US" sz="1050"/>
          </a:p>
          <a:p>
            <a:pPr marL="0" indent="0">
              <a:buNone/>
            </a:pP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pairs: If NQ moves 0 ticks, ES 'baseline' expected move. Often near 0 in tick-change regressions. Critical in PRICE LEVEL regressions for fair value.</a:t>
            </a:r>
            <a:endParaRPr lang="en-US" sz="1050"/>
          </a:p>
        </p:txBody>
      </p:sp>
      <p:sp>
        <p:nvSpPr>
          <p:cNvPr id="10" name="Shape 8"/>
          <p:cNvSpPr/>
          <p:nvPr/>
        </p:nvSpPr>
        <p:spPr>
          <a:xfrm>
            <a:off x="3200400" y="1645920"/>
            <a:ext cx="2651760" cy="2286000"/>
          </a:xfrm>
          <a:prstGeom prst="rect">
            <a:avLst/>
          </a:prstGeom>
          <a:solidFill>
            <a:srgbClr val="EFF6FF"/>
          </a:solidFill>
          <a:ln w="1270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91840" y="16916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SLOPE / BETA (β)</a:t>
            </a:r>
            <a:endParaRPr lang="en-US" sz="1200"/>
          </a:p>
        </p:txBody>
      </p:sp>
      <p:sp>
        <p:nvSpPr>
          <p:cNvPr id="12" name="Text 10"/>
          <p:cNvSpPr/>
          <p:nvPr/>
        </p:nvSpPr>
        <p:spPr>
          <a:xfrm>
            <a:off x="3291840" y="2084832"/>
            <a:ext cx="24688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 change in ES for each 1-tick change in NQ.</a:t>
            </a:r>
            <a:endParaRPr lang="en-US" sz="1050"/>
          </a:p>
          <a:p>
            <a:pPr marL="0" indent="0">
              <a:buNone/>
            </a:pP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 = 0.42 means: for every 10 NQ ticks, ES expected to move 4.2 ticks. This IS your hedge ratio for the spread trade.</a:t>
            </a:r>
            <a:endParaRPr lang="en-US" sz="1050"/>
          </a:p>
        </p:txBody>
      </p:sp>
      <p:sp>
        <p:nvSpPr>
          <p:cNvPr id="13" name="Shape 11"/>
          <p:cNvSpPr/>
          <p:nvPr/>
        </p:nvSpPr>
        <p:spPr>
          <a:xfrm>
            <a:off x="6035040" y="1645920"/>
            <a:ext cx="2651760" cy="2286000"/>
          </a:xfrm>
          <a:prstGeom prst="rect">
            <a:avLst/>
          </a:prstGeom>
          <a:solidFill>
            <a:srgbClr val="EFF6FF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126480" y="16916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(ε)</a:t>
            </a:r>
            <a:endParaRPr lang="en-US" sz="1200"/>
          </a:p>
        </p:txBody>
      </p:sp>
      <p:sp>
        <p:nvSpPr>
          <p:cNvPr id="15" name="Text 13"/>
          <p:cNvSpPr/>
          <p:nvPr/>
        </p:nvSpPr>
        <p:spPr>
          <a:xfrm>
            <a:off x="6126480" y="2084832"/>
            <a:ext cx="24688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part of Y not explained by X.</a:t>
            </a:r>
            <a:endParaRPr lang="en-US" sz="1050"/>
          </a:p>
          <a:p>
            <a:pPr marL="0" indent="0">
              <a:buNone/>
            </a:pP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ES/NQ: the residual IS the spread. Stationary residuals → cointegration. Trending residuals → model is wrong or broken.</a:t>
            </a:r>
            <a:endParaRPr lang="en-US" sz="1050"/>
          </a:p>
        </p:txBody>
      </p:sp>
      <p:sp>
        <p:nvSpPr>
          <p:cNvPr id="16" name="Text 14"/>
          <p:cNvSpPr/>
          <p:nvPr/>
        </p:nvSpPr>
        <p:spPr>
          <a:xfrm>
            <a:off x="365760" y="4005072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Assumptions: (1) Linear relationship, (2) Homoscedasticity (constant variance of errors), (3) No autocorrelation in residuals, (4) Normally distributed errors, (5) No multicollinearity</a:t>
            </a:r>
            <a:endParaRPr lang="en-US" sz="120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Violation alert: Financial data violates #3 and #4 often! Residuals are autocorrelated (trending markets). Errors are fat-tailed. This is WHY you can't blindly trust OLS on futures.</a:t>
            </a:r>
            <a:endParaRPr lang="en-US" sz="12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(R-Squared) — The Most Misunderstood Metric in Regression</a:t>
            </a:r>
            <a:endParaRPr lang="en-US" sz="200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8412480" cy="530352"/>
          </a:xfrm>
          <a:prstGeom prst="rect">
            <a:avLst/>
          </a:prstGeom>
          <a:solidFill>
            <a:srgbClr val="EFF6FF"/>
          </a:solidFill>
          <a:ln w="1270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70408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2E5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R² = 1 − (SS_residual / SS_total)  =  Explained Variation / Total Variation     Range: 0 to 1 (or 0% to 100%)</a:t>
            </a:r>
            <a:endParaRPr lang="en-US" sz="1200"/>
          </a:p>
        </p:txBody>
      </p:sp>
      <p:sp>
        <p:nvSpPr>
          <p:cNvPr id="6" name="Text 4"/>
          <p:cNvSpPr/>
          <p:nvPr/>
        </p:nvSpPr>
        <p:spPr>
          <a:xfrm>
            <a:off x="365760" y="126187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R² actually tells you:</a:t>
            </a:r>
            <a:endParaRPr lang="en-US" sz="1300"/>
          </a:p>
        </p:txBody>
      </p:sp>
      <p:sp>
        <p:nvSpPr>
          <p:cNvPr id="7" name="Shape 5"/>
          <p:cNvSpPr/>
          <p:nvPr/>
        </p:nvSpPr>
        <p:spPr>
          <a:xfrm>
            <a:off x="365760" y="1600200"/>
            <a:ext cx="8412480" cy="512064"/>
          </a:xfrm>
          <a:prstGeom prst="rect">
            <a:avLst/>
          </a:prstGeom>
          <a:solidFill>
            <a:srgbClr val="F8F8F8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67335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R² = 0.94</a:t>
            </a:r>
            <a:endParaRPr lang="en-US" sz="1300"/>
          </a:p>
        </p:txBody>
      </p:sp>
      <p:sp>
        <p:nvSpPr>
          <p:cNvPr id="9" name="Text 7"/>
          <p:cNvSpPr/>
          <p:nvPr/>
        </p:nvSpPr>
        <p:spPr>
          <a:xfrm>
            <a:off x="2011680" y="1691640"/>
            <a:ext cx="6583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94% of ES tick variation is explained by NQ ticks. Only 6% is 'unexplained noise'. Strong model.</a:t>
            </a:r>
            <a:endParaRPr lang="en-US" sz="1150"/>
          </a:p>
        </p:txBody>
      </p:sp>
      <p:sp>
        <p:nvSpPr>
          <p:cNvPr id="10" name="Shape 8"/>
          <p:cNvSpPr/>
          <p:nvPr/>
        </p:nvSpPr>
        <p:spPr>
          <a:xfrm>
            <a:off x="365760" y="2167128"/>
            <a:ext cx="8412480" cy="512064"/>
          </a:xfrm>
          <a:prstGeom prst="rect">
            <a:avLst/>
          </a:prstGeom>
          <a:solidFill>
            <a:srgbClr val="F8F8F8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224028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R² = 0.60</a:t>
            </a:r>
            <a:endParaRPr lang="en-US" sz="1300"/>
          </a:p>
        </p:txBody>
      </p:sp>
      <p:sp>
        <p:nvSpPr>
          <p:cNvPr id="12" name="Text 10"/>
          <p:cNvSpPr/>
          <p:nvPr/>
        </p:nvSpPr>
        <p:spPr>
          <a:xfrm>
            <a:off x="2011680" y="2258568"/>
            <a:ext cx="6583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 explained. Model captures the relationship but there are clearly other drivers. Use with caution.</a:t>
            </a:r>
            <a:endParaRPr lang="en-US" sz="1150"/>
          </a:p>
        </p:txBody>
      </p:sp>
      <p:sp>
        <p:nvSpPr>
          <p:cNvPr id="13" name="Shape 11"/>
          <p:cNvSpPr/>
          <p:nvPr/>
        </p:nvSpPr>
        <p:spPr>
          <a:xfrm>
            <a:off x="365760" y="2734056"/>
            <a:ext cx="8412480" cy="512064"/>
          </a:xfrm>
          <a:prstGeom prst="rect">
            <a:avLst/>
          </a:prstGeom>
          <a:solidFill>
            <a:srgbClr val="F8F8F8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280720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R² = 0.10</a:t>
            </a:r>
            <a:endParaRPr lang="en-US" sz="1300"/>
          </a:p>
        </p:txBody>
      </p:sp>
      <p:sp>
        <p:nvSpPr>
          <p:cNvPr id="15" name="Text 13"/>
          <p:cNvSpPr/>
          <p:nvPr/>
        </p:nvSpPr>
        <p:spPr>
          <a:xfrm>
            <a:off x="2011680" y="2825496"/>
            <a:ext cx="6583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10% explained. NQ barely predicts ES here — maybe regime break or different drivers dominating.</a:t>
            </a:r>
            <a:endParaRPr lang="en-US" sz="1150"/>
          </a:p>
        </p:txBody>
      </p:sp>
      <p:sp>
        <p:nvSpPr>
          <p:cNvPr id="16" name="Text 14"/>
          <p:cNvSpPr/>
          <p:nvPr/>
        </p:nvSpPr>
        <p:spPr>
          <a:xfrm>
            <a:off x="365760" y="329184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Traps — What It Does NOT Tell You:</a:t>
            </a:r>
            <a:endParaRPr lang="en-US" sz="1300"/>
          </a:p>
        </p:txBody>
      </p:sp>
      <p:sp>
        <p:nvSpPr>
          <p:cNvPr id="17" name="Text 15"/>
          <p:cNvSpPr/>
          <p:nvPr/>
        </p:nvSpPr>
        <p:spPr>
          <a:xfrm>
            <a:off x="365760" y="3657600"/>
            <a:ext cx="84124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R² does NOT mean β is correct or that the model generalizes. It can be overfitted to historical data.</a:t>
            </a:r>
            <a:endParaRPr lang="en-US" sz="115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more predictors ALWAYS increases R². Use Adjusted R² instead: penalizes for adding useless variables.</a:t>
            </a:r>
            <a:endParaRPr lang="en-US" sz="115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0.95 on PRICE LEVELS between two trending assets means almost nothing — both are just trending! Check R² on first differences (tick changes) or on residuals.</a:t>
            </a:r>
            <a:endParaRPr lang="en-US" sz="115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R² doesn't mean the model is useless! In liquid futures, R² = 0.30 on tick changes might still give you a profitable edge if the signal is consistent.</a:t>
            </a:r>
            <a:endParaRPr lang="en-US" sz="115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tells you FIT quality, NOT predictive power or profitability. Always validate out-of-sample.</a:t>
            </a:r>
            <a:endParaRPr lang="en-US" sz="115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Intercept — How It Changes Your Beta &amp; Fair Value of the Spread</a:t>
            </a:r>
            <a:endParaRPr lang="en-US" sz="200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traders ignore the intercept. This is a serious mistake — especially in price-level regressions and fair value models.</a:t>
            </a:r>
            <a:endParaRPr lang="en-US" sz="125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4023360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2E5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intercept: ES = 3840 + 0.42 × NQ + ε</a:t>
            </a:r>
            <a:endParaRPr lang="en-US" sz="1200"/>
          </a:p>
        </p:txBody>
      </p:sp>
      <p:sp>
        <p:nvSpPr>
          <p:cNvPr id="7" name="Shape 5"/>
          <p:cNvSpPr/>
          <p:nvPr/>
        </p:nvSpPr>
        <p:spPr>
          <a:xfrm>
            <a:off x="4754880" y="1051560"/>
            <a:ext cx="4023360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846320" y="10972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2E5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WITHOUT intercept: ES = 0.55 × NQ + ε (forced through origin)</a:t>
            </a:r>
            <a:endParaRPr lang="en-US" sz="1200"/>
          </a:p>
        </p:txBody>
      </p:sp>
      <p:sp>
        <p:nvSpPr>
          <p:cNvPr id="9" name="Text 7"/>
          <p:cNvSpPr/>
          <p:nvPr/>
        </p:nvSpPr>
        <p:spPr>
          <a:xfrm>
            <a:off x="365760" y="162763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A (With Intercept — Correct):</a:t>
            </a:r>
            <a:endParaRPr lang="en-US" sz="1200"/>
          </a:p>
        </p:txBody>
      </p:sp>
      <p:sp>
        <p:nvSpPr>
          <p:cNvPr id="10" name="Text 8"/>
          <p:cNvSpPr/>
          <p:nvPr/>
        </p:nvSpPr>
        <p:spPr>
          <a:xfrm>
            <a:off x="365760" y="1920240"/>
            <a:ext cx="40233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 = 0.42: For each NQ tick, ES moves 0.42 ticks</a:t>
            </a:r>
            <a:endParaRPr lang="en-US" sz="110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= 3840: ES fair value when NQ = 0 (baseline level)</a:t>
            </a:r>
            <a:endParaRPr lang="en-US" sz="110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fair value = ES − 3840 − 0.42 × NQ</a:t>
            </a:r>
            <a:endParaRPr lang="en-US" sz="110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spread has a DEFINED equilibrium — tradeable.</a:t>
            </a:r>
            <a:endParaRPr lang="en-US" sz="1100"/>
          </a:p>
        </p:txBody>
      </p:sp>
      <p:sp>
        <p:nvSpPr>
          <p:cNvPr id="11" name="Text 9"/>
          <p:cNvSpPr/>
          <p:nvPr/>
        </p:nvSpPr>
        <p:spPr>
          <a:xfrm>
            <a:off x="4754880" y="162763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B (Forced Through Origin — Wrong):</a:t>
            </a:r>
            <a:endParaRPr lang="en-US" sz="1200"/>
          </a:p>
        </p:txBody>
      </p:sp>
      <p:sp>
        <p:nvSpPr>
          <p:cNvPr id="12" name="Text 10"/>
          <p:cNvSpPr/>
          <p:nvPr/>
        </p:nvSpPr>
        <p:spPr>
          <a:xfrm>
            <a:off x="4754880" y="1920240"/>
            <a:ext cx="40233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 = 0.55: Artificially inflated to absorb missing intercept</a:t>
            </a:r>
            <a:endParaRPr lang="en-US" sz="110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hedge ratio is WRONG — you're overhedging NQ</a:t>
            </a:r>
            <a:endParaRPr lang="en-US" sz="110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value is now ES − 0.55 × NQ — no clear level</a:t>
            </a:r>
            <a:endParaRPr lang="en-US" sz="110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your spread analysis is biased from day one.</a:t>
            </a:r>
            <a:endParaRPr lang="en-US" sz="1100"/>
          </a:p>
        </p:txBody>
      </p:sp>
      <p:sp>
        <p:nvSpPr>
          <p:cNvPr id="13" name="Text 11"/>
          <p:cNvSpPr/>
          <p:nvPr/>
        </p:nvSpPr>
        <p:spPr>
          <a:xfrm>
            <a:off x="365760" y="3291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Examples Where Intercept Matters Most:</a:t>
            </a:r>
            <a:endParaRPr lang="en-US" sz="1300"/>
          </a:p>
        </p:txBody>
      </p:sp>
      <p:sp>
        <p:nvSpPr>
          <p:cNvPr id="14" name="Text 12"/>
          <p:cNvSpPr/>
          <p:nvPr/>
        </p:nvSpPr>
        <p:spPr>
          <a:xfrm>
            <a:off x="365760" y="3657600"/>
            <a:ext cx="8412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spreads (same product, different expiry): α captures carry/cost-of-carry — the structural basis. Ignore α and you misstate fair value.</a:t>
            </a:r>
            <a:endParaRPr lang="en-US" sz="115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Cross-commodity spreads (CL vs RB Gasoline Crack): α contains the refining margin baseline. Always model with intercept.</a:t>
            </a:r>
            <a:endParaRPr lang="en-US" sz="115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vs ETF futures: α captures dividend yield and borrowing cost differential. These are economically meaningful, not just statistical artifacts.</a:t>
            </a:r>
            <a:endParaRPr lang="en-US" sz="115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where no intercept is valid: Tick-change regressions (return regressions) where both assets start from 0 change. Even then, check if the intercept is statistically significant.</a:t>
            </a:r>
            <a:endParaRPr lang="en-US" sz="115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Trust Beta (β) and When to Be Skeptical</a:t>
            </a:r>
            <a:endParaRPr lang="en-US" sz="200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4114800" cy="3383280"/>
          </a:xfrm>
          <a:prstGeom prst="rect">
            <a:avLst/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70408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TRUST β WHEN:</a:t>
            </a:r>
            <a:endParaRPr lang="en-US" sz="1300"/>
          </a:p>
        </p:txBody>
      </p:sp>
      <p:sp>
        <p:nvSpPr>
          <p:cNvPr id="6" name="Text 4"/>
          <p:cNvSpPr/>
          <p:nvPr/>
        </p:nvSpPr>
        <p:spPr>
          <a:xfrm>
            <a:off x="457200" y="1078992"/>
            <a:ext cx="3840480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is high (&gt;0.70) and consistent out-of-sample</a:t>
            </a:r>
            <a:endParaRPr lang="en-US" sz="110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Residuals are stationary (ADF test passes) — cointegration confirmed</a:t>
            </a:r>
            <a:endParaRPr lang="en-US" sz="110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error of β is small (t-stat &gt; 2.0, p &lt; 0.05)</a:t>
            </a:r>
            <a:endParaRPr lang="en-US" sz="110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β (20/60 day) is STABLE — doesn't whipsaw</a:t>
            </a:r>
            <a:endParaRPr lang="en-US" sz="110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structural break in data (no COVID crash, no rate pivot in your window)</a:t>
            </a:r>
            <a:endParaRPr lang="en-US" sz="110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is on tick CHANGES, not price levels</a:t>
            </a:r>
            <a:endParaRPr lang="en-US" sz="110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size &gt; 60 observations (ideally 120+)</a:t>
            </a:r>
            <a:endParaRPr lang="en-US" sz="1100"/>
          </a:p>
        </p:txBody>
      </p:sp>
      <p:sp>
        <p:nvSpPr>
          <p:cNvPr id="7" name="Shape 5"/>
          <p:cNvSpPr/>
          <p:nvPr/>
        </p:nvSpPr>
        <p:spPr>
          <a:xfrm>
            <a:off x="4663440" y="658368"/>
            <a:ext cx="4114800" cy="3383280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754880" y="70408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 DO NOT TRUST β WHEN:</a:t>
            </a:r>
            <a:endParaRPr lang="en-US" sz="1300"/>
          </a:p>
        </p:txBody>
      </p:sp>
      <p:sp>
        <p:nvSpPr>
          <p:cNvPr id="9" name="Text 7"/>
          <p:cNvSpPr/>
          <p:nvPr/>
        </p:nvSpPr>
        <p:spPr>
          <a:xfrm>
            <a:off x="4754880" y="1078992"/>
            <a:ext cx="3840480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on PRICE LEVELS is high but on returns it's low — spurious regression</a:t>
            </a:r>
            <a:endParaRPr lang="en-US" sz="110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β is unstable, jumping between 0.3 and 0.9</a:t>
            </a:r>
            <a:endParaRPr lang="en-US" sz="110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Residuals are trending or show clear autocorrelation (ADF fails)</a:t>
            </a:r>
            <a:endParaRPr lang="en-US" sz="110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macro event / central bank pivot changed the relationship</a:t>
            </a:r>
            <a:endParaRPr lang="en-US" sz="110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mixes multiple market regimes without regime detection</a:t>
            </a:r>
            <a:endParaRPr lang="en-US" sz="110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only have 15-20 data points — β has huge estimation error</a:t>
            </a:r>
            <a:endParaRPr lang="en-US" sz="110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 are driving the β (always check residual vs fitted plot)</a:t>
            </a:r>
            <a:endParaRPr lang="en-US" sz="1100"/>
          </a:p>
        </p:txBody>
      </p:sp>
      <p:sp>
        <p:nvSpPr>
          <p:cNvPr id="10" name="Shape 8"/>
          <p:cNvSpPr/>
          <p:nvPr/>
        </p:nvSpPr>
        <p:spPr>
          <a:xfrm>
            <a:off x="365760" y="4096512"/>
            <a:ext cx="8412480" cy="749808"/>
          </a:xfrm>
          <a:prstGeom prst="rect">
            <a:avLst/>
          </a:prstGeom>
          <a:solidFill>
            <a:srgbClr val="FEF3C7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414223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The hedge ratio (β) you compute on last year's data is NOT guaranteed to work today. Always: (1) Use rolling β, (2) Recompute quarterly, (3) Monitor the spread live for drift. A stale β is worse than no hedge — it gives you false confidence.</a:t>
            </a:r>
            <a:endParaRPr lang="en-US" sz="11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Regression Mistakes in Futures Trading — And How to Fix Them</a:t>
            </a:r>
            <a:endParaRPr lang="en-US" sz="2000"/>
          </a:p>
        </p:txBody>
      </p:sp>
      <p:sp>
        <p:nvSpPr>
          <p:cNvPr id="4" name="Shape 2"/>
          <p:cNvSpPr/>
          <p:nvPr/>
        </p:nvSpPr>
        <p:spPr>
          <a:xfrm>
            <a:off x="365760" y="685800"/>
            <a:ext cx="84124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685800"/>
            <a:ext cx="731520" cy="7772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88696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1100"/>
          </a:p>
        </p:txBody>
      </p:sp>
      <p:sp>
        <p:nvSpPr>
          <p:cNvPr id="7" name="Text 5"/>
          <p:cNvSpPr/>
          <p:nvPr/>
        </p:nvSpPr>
        <p:spPr>
          <a:xfrm>
            <a:off x="1188720" y="722376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regression on PRICE LEVELS</a:t>
            </a:r>
            <a:endParaRPr lang="en-US" sz="1200"/>
          </a:p>
        </p:txBody>
      </p:sp>
      <p:sp>
        <p:nvSpPr>
          <p:cNvPr id="8" name="Text 6"/>
          <p:cNvSpPr/>
          <p:nvPr/>
        </p:nvSpPr>
        <p:spPr>
          <a:xfrm>
            <a:off x="1188720" y="1024128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Two trending assets always look correlated (R² → 0.99). This is SPURIOUS regression. Always regress on tick CHANGES (first differences) or test for cointegration first.</a:t>
            </a:r>
            <a:endParaRPr lang="en-US" sz="1050"/>
          </a:p>
        </p:txBody>
      </p:sp>
      <p:sp>
        <p:nvSpPr>
          <p:cNvPr id="9" name="Shape 7"/>
          <p:cNvSpPr/>
          <p:nvPr/>
        </p:nvSpPr>
        <p:spPr>
          <a:xfrm>
            <a:off x="365760" y="1554480"/>
            <a:ext cx="84124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5760" y="1554480"/>
            <a:ext cx="731520" cy="77724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5760" y="17556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</a:t>
            </a:r>
            <a:endParaRPr lang="en-US" sz="1100"/>
          </a:p>
        </p:txBody>
      </p:sp>
      <p:sp>
        <p:nvSpPr>
          <p:cNvPr id="12" name="Text 10"/>
          <p:cNvSpPr/>
          <p:nvPr/>
        </p:nvSpPr>
        <p:spPr>
          <a:xfrm>
            <a:off x="1188720" y="1591056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lookback that's too short</a:t>
            </a:r>
            <a:endParaRPr lang="en-US" sz="1200"/>
          </a:p>
        </p:txBody>
      </p:sp>
      <p:sp>
        <p:nvSpPr>
          <p:cNvPr id="13" name="Text 11"/>
          <p:cNvSpPr/>
          <p:nvPr/>
        </p:nvSpPr>
        <p:spPr>
          <a:xfrm>
            <a:off x="1188720" y="1892808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β on 10-day data captures noise, not signal. Minimum 60 observations. For daily data: 3 months. For 5-min bars: at least 2 weeks of session data.</a:t>
            </a:r>
            <a:endParaRPr lang="en-US" sz="1050"/>
          </a:p>
        </p:txBody>
      </p:sp>
      <p:sp>
        <p:nvSpPr>
          <p:cNvPr id="14" name="Shape 12"/>
          <p:cNvSpPr/>
          <p:nvPr/>
        </p:nvSpPr>
        <p:spPr>
          <a:xfrm>
            <a:off x="365760" y="2423160"/>
            <a:ext cx="84124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65760" y="2423160"/>
            <a:ext cx="731520" cy="77724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65760" y="262432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</a:t>
            </a:r>
            <a:endParaRPr lang="en-US" sz="1100"/>
          </a:p>
        </p:txBody>
      </p:sp>
      <p:sp>
        <p:nvSpPr>
          <p:cNvPr id="17" name="Text 15"/>
          <p:cNvSpPr/>
          <p:nvPr/>
        </p:nvSpPr>
        <p:spPr>
          <a:xfrm>
            <a:off x="1188720" y="2459736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Ignoring heteroscedasticity</a:t>
            </a:r>
            <a:endParaRPr lang="en-US" sz="1200"/>
          </a:p>
        </p:txBody>
      </p:sp>
      <p:sp>
        <p:nvSpPr>
          <p:cNvPr id="18" name="Text 16"/>
          <p:cNvSpPr/>
          <p:nvPr/>
        </p:nvSpPr>
        <p:spPr>
          <a:xfrm>
            <a:off x="1188720" y="2761488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Futures have volatile periods (VIX spikes). Your regression errors are NOT constant variance. </a:t>
            </a:r>
            <a:endParaRPr lang="en-US" sz="1050"/>
          </a:p>
        </p:txBody>
      </p:sp>
      <p:sp>
        <p:nvSpPr>
          <p:cNvPr id="19" name="Shape 17"/>
          <p:cNvSpPr/>
          <p:nvPr/>
        </p:nvSpPr>
        <p:spPr>
          <a:xfrm>
            <a:off x="365760" y="3291840"/>
            <a:ext cx="84124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65760" y="3291840"/>
            <a:ext cx="731520" cy="7772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65760" y="349300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</a:t>
            </a:r>
            <a:endParaRPr lang="en-US" sz="1100"/>
          </a:p>
        </p:txBody>
      </p:sp>
      <p:sp>
        <p:nvSpPr>
          <p:cNvPr id="22" name="Text 20"/>
          <p:cNvSpPr/>
          <p:nvPr/>
        </p:nvSpPr>
        <p:spPr>
          <a:xfrm>
            <a:off x="1188720" y="3328416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checking residual autocorrelation</a:t>
            </a:r>
            <a:endParaRPr lang="en-US" sz="1200"/>
          </a:p>
        </p:txBody>
      </p:sp>
      <p:sp>
        <p:nvSpPr>
          <p:cNvPr id="23" name="Text 21"/>
          <p:cNvSpPr/>
          <p:nvPr/>
        </p:nvSpPr>
        <p:spPr>
          <a:xfrm>
            <a:off x="1188720" y="3630168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If ε(t) is correlated with ε(t-1), your regression doesn't capture the full relationship. Run Durbin-Watson test. Add lagged terms if needed.</a:t>
            </a:r>
            <a:endParaRPr lang="en-US" sz="1050"/>
          </a:p>
        </p:txBody>
      </p:sp>
      <p:sp>
        <p:nvSpPr>
          <p:cNvPr id="24" name="Shape 22"/>
          <p:cNvSpPr/>
          <p:nvPr/>
        </p:nvSpPr>
        <p:spPr>
          <a:xfrm>
            <a:off x="365760" y="4160520"/>
            <a:ext cx="84124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65760" y="4160520"/>
            <a:ext cx="731520" cy="7772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65760" y="436168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</a:t>
            </a:r>
            <a:endParaRPr lang="en-US" sz="1100"/>
          </a:p>
        </p:txBody>
      </p:sp>
      <p:sp>
        <p:nvSpPr>
          <p:cNvPr id="27" name="Text 25"/>
          <p:cNvSpPr/>
          <p:nvPr/>
        </p:nvSpPr>
        <p:spPr>
          <a:xfrm>
            <a:off x="1188720" y="4197096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 with multiple predictors</a:t>
            </a:r>
            <a:endParaRPr lang="en-US" sz="1200"/>
          </a:p>
        </p:txBody>
      </p:sp>
      <p:sp>
        <p:nvSpPr>
          <p:cNvPr id="28" name="Text 26"/>
          <p:cNvSpPr/>
          <p:nvPr/>
        </p:nvSpPr>
        <p:spPr>
          <a:xfrm>
            <a:off x="1188720" y="4498848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Adding ES, NQ, ZN, CL, GC, DX all as predictors gives R² = 0.98 in-sample and 0.21 out-of-sample. Use Ridge/Lasso to penalize.</a:t>
            </a:r>
            <a:endParaRPr lang="en-US" sz="105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Linear Regression — Explaining ES with Multiple Drivers</a:t>
            </a:r>
            <a:endParaRPr lang="en-US" sz="200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use multiple predictors? Because ES moves are driven by MORE than just NQ. Rates, oil, dollar, VIX — all contribute.</a:t>
            </a:r>
            <a:endParaRPr lang="en-US" sz="125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8412480" cy="411480"/>
          </a:xfrm>
          <a:prstGeom prst="rect">
            <a:avLst/>
          </a:prstGeom>
          <a:solidFill>
            <a:srgbClr val="EFF6FF"/>
          </a:solidFill>
          <a:ln w="1270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2E5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ES(t) = α + β₁·NQ(t) + β₂·ZN(t) + β₃·CL(t) + β₄·DX(t) + ε(t)</a:t>
            </a:r>
            <a:endParaRPr lang="en-US" sz="1200"/>
          </a:p>
        </p:txBody>
      </p:sp>
      <p:sp>
        <p:nvSpPr>
          <p:cNvPr id="7" name="Text 5"/>
          <p:cNvSpPr/>
          <p:nvPr/>
        </p:nvSpPr>
        <p:spPr>
          <a:xfrm>
            <a:off x="365760" y="155507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2999822"/>
              </p:ext>
            </p:extLst>
          </p:nvPr>
        </p:nvGraphicFramePr>
        <p:xfrm>
          <a:off x="457200" y="1487424"/>
          <a:ext cx="8412480" cy="231648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Predictor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Coefficient (β)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t-stat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Interpretation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NQ tick change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+0.41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18.2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driver. Each NQ tick → 0.41 ES ticks. Highly significant.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ZN tick change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−0.15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−4.1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Bond futures drag. When ZN rallies (rates fall), ES gets mild uplift.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 tick change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+0.08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Modest positive — risk-on sentiment from oil. Significant at 5% level.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DX tick change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−0.11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−3.0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Weaker dollar = risk-on = ES up. Negative relationship.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07344" y="3611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50"/>
          </a:p>
        </p:txBody>
      </p:sp>
      <p:sp>
        <p:nvSpPr>
          <p:cNvPr id="10" name="Text 7"/>
          <p:cNvSpPr/>
          <p:nvPr/>
        </p:nvSpPr>
        <p:spPr>
          <a:xfrm>
            <a:off x="365760" y="3803904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β is the effect of that predictor HOLDING ALL OTHERS CONSTANT. If NQ and CL are both correlated (they often are), β₃ (CL) is the ADDITIONAL effect of CL after already accounting for NQ. This is different from a simple regression of ES on CL alone.</a:t>
            </a:r>
            <a:endParaRPr lang="en-US" sz="1150"/>
          </a:p>
        </p:txBody>
      </p:sp>
      <p:sp>
        <p:nvSpPr>
          <p:cNvPr id="11" name="Shape 8"/>
          <p:cNvSpPr/>
          <p:nvPr/>
        </p:nvSpPr>
        <p:spPr>
          <a:xfrm>
            <a:off x="365760" y="4315968"/>
            <a:ext cx="8412480" cy="530352"/>
          </a:xfrm>
          <a:prstGeom prst="rect">
            <a:avLst/>
          </a:prstGeom>
          <a:solidFill>
            <a:srgbClr val="FEF3C7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57200" y="436168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Multicollinearity Alert: If NQ and QQQ futures are BOTH in the model, they'll cancel each other. Check VIF (Variance Inflation Factor). VIF &gt; 5 → problem. Remove one or combine.</a:t>
            </a:r>
            <a:endParaRPr lang="en-US" sz="11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Polynomial Regression — Capturing Non-Linear Relationships</a:t>
            </a:r>
            <a:endParaRPr lang="en-US" sz="200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relationship between two variables isn't a straight line. VIX vs ES moves is a classic curved relationship.</a:t>
            </a:r>
            <a:endParaRPr lang="en-US" sz="125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502920"/>
          </a:xfrm>
          <a:prstGeom prst="rect">
            <a:avLst/>
          </a:prstGeom>
          <a:solidFill>
            <a:srgbClr val="EFF6FF"/>
          </a:solidFill>
          <a:ln w="1270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06984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2E5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= α + β₁X + β₂X² + β₃X³ + ε     [Same OLS method — X², X³ are just new predictor columns]</a:t>
            </a:r>
            <a:endParaRPr lang="en-US" sz="1200"/>
          </a:p>
        </p:txBody>
      </p:sp>
      <p:graphicFrame>
        <p:nvGraphicFramePr>
          <p:cNvPr id="7" name="Chart 0"/>
          <p:cNvGraphicFramePr/>
          <p:nvPr/>
        </p:nvGraphicFramePr>
        <p:xfrm>
          <a:off x="365760" y="1600200"/>
          <a:ext cx="429768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5"/>
          <p:cNvSpPr/>
          <p:nvPr/>
        </p:nvSpPr>
        <p:spPr>
          <a:xfrm>
            <a:off x="4800600" y="162763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 Polynomial Regression in Futures:</a:t>
            </a:r>
            <a:endParaRPr lang="en-US" sz="1250"/>
          </a:p>
        </p:txBody>
      </p:sp>
      <p:sp>
        <p:nvSpPr>
          <p:cNvPr id="9" name="Text 6"/>
          <p:cNvSpPr/>
          <p:nvPr/>
        </p:nvSpPr>
        <p:spPr>
          <a:xfrm>
            <a:off x="4800600" y="1938528"/>
            <a:ext cx="40233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VIX-to-ES move size: linear doesn't work — at VIX=50, ES doesn't just move 2.5× more than VIX=20; it moves 6×+ more</a:t>
            </a:r>
            <a:endParaRPr lang="en-US" sz="110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 structure of futures: Front vs back month price differential curves with time-to-expiry</a:t>
            </a:r>
            <a:endParaRPr lang="en-US" sz="110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Options delta/gamma hedging — the P&amp;L of a delta hedge is a parabola vs underlying moves</a:t>
            </a:r>
            <a:endParaRPr lang="en-US" sz="110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 decay: Returns tend to decay non-linearly with holding period</a:t>
            </a:r>
            <a:endParaRPr lang="en-US" sz="1100"/>
          </a:p>
        </p:txBody>
      </p:sp>
      <p:sp>
        <p:nvSpPr>
          <p:cNvPr id="10" name="Shape 7"/>
          <p:cNvSpPr/>
          <p:nvPr/>
        </p:nvSpPr>
        <p:spPr>
          <a:xfrm>
            <a:off x="365760" y="4050792"/>
            <a:ext cx="8412480" cy="658368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57200" y="40965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OVERFITTING TRAP: A degree-10 polynomial will fit your training data perfectly (R²=1.0) but will be wildly wrong out-of-sample. Use max degree 2 or 3 for financial data. ALWAYS test on held-out data. This is where Ridge/Lasso come in next.</a:t>
            </a:r>
            <a:endParaRPr lang="en-US" sz="11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Regression — Taming Overfitting with L2 Regularization</a:t>
            </a:r>
            <a:endParaRPr lang="en-US" sz="200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have many correlated predictors (ES, NQ, FAANG stocks, sector ETF futures all together), OLS explodes — it assigns massive coefficients. Ridge penalizes this.</a:t>
            </a:r>
            <a:endParaRPr lang="en-US" sz="125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8412480" cy="530352"/>
          </a:xfrm>
          <a:prstGeom prst="rect">
            <a:avLst/>
          </a:prstGeom>
          <a:solidFill>
            <a:srgbClr val="EFF6FF"/>
          </a:solidFill>
          <a:ln w="1270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16128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2E5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Ridge Loss = Σ(Yᵢ − Ŷᵢ)² + λ × Σβⱼ²     [OLS loss + L2 penalty on squared coefficients]</a:t>
            </a:r>
            <a:endParaRPr lang="en-US" sz="1200"/>
          </a:p>
        </p:txBody>
      </p:sp>
      <p:sp>
        <p:nvSpPr>
          <p:cNvPr id="7" name="Text 5"/>
          <p:cNvSpPr/>
          <p:nvPr/>
        </p:nvSpPr>
        <p:spPr>
          <a:xfrm>
            <a:off x="365760" y="173736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λ (lambda) do?</a:t>
            </a:r>
            <a:endParaRPr lang="en-US" sz="1300"/>
          </a:p>
        </p:txBody>
      </p:sp>
      <p:sp>
        <p:nvSpPr>
          <p:cNvPr id="8" name="Shape 6"/>
          <p:cNvSpPr/>
          <p:nvPr/>
        </p:nvSpPr>
        <p:spPr>
          <a:xfrm>
            <a:off x="365760" y="2084832"/>
            <a:ext cx="8412480" cy="402336"/>
          </a:xfrm>
          <a:prstGeom prst="rect">
            <a:avLst/>
          </a:prstGeom>
          <a:solidFill>
            <a:srgbClr val="F4F6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21488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λ = 0</a:t>
            </a:r>
            <a:endParaRPr lang="en-US" sz="1200"/>
          </a:p>
        </p:txBody>
      </p:sp>
      <p:sp>
        <p:nvSpPr>
          <p:cNvPr id="10" name="Text 8"/>
          <p:cNvSpPr/>
          <p:nvPr/>
        </p:nvSpPr>
        <p:spPr>
          <a:xfrm>
            <a:off x="1645920" y="2148840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OLS — no regularization. Overfits if predictors are correlated.</a:t>
            </a:r>
            <a:endParaRPr lang="en-US" sz="1150"/>
          </a:p>
        </p:txBody>
      </p:sp>
      <p:sp>
        <p:nvSpPr>
          <p:cNvPr id="11" name="Shape 9"/>
          <p:cNvSpPr/>
          <p:nvPr/>
        </p:nvSpPr>
        <p:spPr>
          <a:xfrm>
            <a:off x="365760" y="2542032"/>
            <a:ext cx="84124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26060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λ = 0.1</a:t>
            </a:r>
            <a:endParaRPr lang="en-US" sz="1200"/>
          </a:p>
        </p:txBody>
      </p:sp>
      <p:sp>
        <p:nvSpPr>
          <p:cNvPr id="13" name="Text 11"/>
          <p:cNvSpPr/>
          <p:nvPr/>
        </p:nvSpPr>
        <p:spPr>
          <a:xfrm>
            <a:off x="1645920" y="2606040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Mild shrinkage. Coefficients pulled slightly toward 0. Good start.</a:t>
            </a:r>
            <a:endParaRPr lang="en-US" sz="1150"/>
          </a:p>
        </p:txBody>
      </p:sp>
      <p:sp>
        <p:nvSpPr>
          <p:cNvPr id="14" name="Shape 12"/>
          <p:cNvSpPr/>
          <p:nvPr/>
        </p:nvSpPr>
        <p:spPr>
          <a:xfrm>
            <a:off x="365760" y="2999232"/>
            <a:ext cx="8412480" cy="402336"/>
          </a:xfrm>
          <a:prstGeom prst="rect">
            <a:avLst/>
          </a:prstGeom>
          <a:solidFill>
            <a:srgbClr val="F4F6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30632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2E5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λ = 1.0</a:t>
            </a:r>
            <a:endParaRPr lang="en-US" sz="1200"/>
          </a:p>
        </p:txBody>
      </p:sp>
      <p:sp>
        <p:nvSpPr>
          <p:cNvPr id="16" name="Text 14"/>
          <p:cNvSpPr/>
          <p:nvPr/>
        </p:nvSpPr>
        <p:spPr>
          <a:xfrm>
            <a:off x="1645920" y="3063240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shrinkage. Correlated predictors get shared weight. Stable.</a:t>
            </a:r>
            <a:endParaRPr lang="en-US" sz="1150"/>
          </a:p>
        </p:txBody>
      </p:sp>
      <p:sp>
        <p:nvSpPr>
          <p:cNvPr id="17" name="Shape 15"/>
          <p:cNvSpPr/>
          <p:nvPr/>
        </p:nvSpPr>
        <p:spPr>
          <a:xfrm>
            <a:off x="365760" y="3456432"/>
            <a:ext cx="84124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7200" y="35204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λ = 100</a:t>
            </a:r>
            <a:endParaRPr lang="en-US" sz="1200"/>
          </a:p>
        </p:txBody>
      </p:sp>
      <p:sp>
        <p:nvSpPr>
          <p:cNvPr id="19" name="Text 17"/>
          <p:cNvSpPr/>
          <p:nvPr/>
        </p:nvSpPr>
        <p:spPr>
          <a:xfrm>
            <a:off x="1645920" y="3520440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shrinkage. All β → 0. Model becomes nearly flat. Underfits.</a:t>
            </a:r>
            <a:endParaRPr lang="en-US" sz="1150"/>
          </a:p>
        </p:txBody>
      </p:sp>
      <p:sp>
        <p:nvSpPr>
          <p:cNvPr id="20" name="Text 18"/>
          <p:cNvSpPr/>
          <p:nvPr/>
        </p:nvSpPr>
        <p:spPr>
          <a:xfrm>
            <a:off x="365760" y="397764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Futures Use Cases for Ridge:</a:t>
            </a:r>
            <a:endParaRPr lang="en-US" sz="1300"/>
          </a:p>
        </p:txBody>
      </p:sp>
      <p:sp>
        <p:nvSpPr>
          <p:cNvPr id="21" name="Text 19"/>
          <p:cNvSpPr/>
          <p:nvPr/>
        </p:nvSpPr>
        <p:spPr>
          <a:xfrm>
            <a:off x="365760" y="429768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ES tick change using 20+ correlated sector futures simultaneously — Ridge distributes weight fairly</a:t>
            </a:r>
            <a:endParaRPr lang="en-US" sz="115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 models: when your 'factors' (momentum, value, carry) are themselves correlated, Ridge stabilizes the β</a:t>
            </a:r>
            <a:endParaRPr lang="en-US" sz="115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tune λ using cross-validation (k-fold). Never guess λ — test on out-of-sample windows</a:t>
            </a:r>
            <a:endParaRPr lang="en-US" sz="115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Lasso Regression — Feature Selection via L1 Regularization</a:t>
            </a:r>
            <a:endParaRPr lang="en-US" sz="200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Lasso does what Ridge can't: it drives some coefficients to EXACTLY zero, effectively removing those predictors from the model.</a:t>
            </a:r>
            <a:endParaRPr lang="en-US" sz="125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8412480" cy="502920"/>
          </a:xfrm>
          <a:prstGeom prst="rect">
            <a:avLst/>
          </a:prstGeom>
          <a:solidFill>
            <a:srgbClr val="EFF6FF"/>
          </a:solidFill>
          <a:ln w="1270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2E5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Lasso Loss = Σ(Yᵢ − Ŷᵢ)² + λ × Σ|βⱼ|     [OLS loss + L1 penalty on ABSOLUTE VALUE of coefficients]</a:t>
            </a:r>
            <a:endParaRPr lang="en-US" sz="1200"/>
          </a:p>
        </p:txBody>
      </p:sp>
      <p:sp>
        <p:nvSpPr>
          <p:cNvPr id="7" name="Shape 5"/>
          <p:cNvSpPr/>
          <p:nvPr/>
        </p:nvSpPr>
        <p:spPr>
          <a:xfrm>
            <a:off x="365760" y="1645920"/>
            <a:ext cx="4023360" cy="2286000"/>
          </a:xfrm>
          <a:prstGeom prst="rect">
            <a:avLst/>
          </a:prstGeom>
          <a:solidFill>
            <a:srgbClr val="EFF6FF"/>
          </a:solidFill>
          <a:ln w="1270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6916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(L2)</a:t>
            </a:r>
            <a:endParaRPr lang="en-US" sz="1300"/>
          </a:p>
        </p:txBody>
      </p:sp>
      <p:sp>
        <p:nvSpPr>
          <p:cNvPr id="9" name="Text 7"/>
          <p:cNvSpPr/>
          <p:nvPr/>
        </p:nvSpPr>
        <p:spPr>
          <a:xfrm>
            <a:off x="457200" y="2057400"/>
            <a:ext cx="3840480" cy="1810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Shrinks ALL coefficients toward 0 proportionally</a:t>
            </a:r>
            <a:endParaRPr lang="en-US" sz="11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sets any β to exactly 0 — keeps all predictors</a:t>
            </a:r>
            <a:endParaRPr lang="en-US" sz="11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when many small effects exist (diffuse signal)</a:t>
            </a:r>
            <a:endParaRPr lang="en-US" sz="11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for: Portfolio factor exposure models</a:t>
            </a:r>
            <a:endParaRPr lang="en-US" sz="1100"/>
          </a:p>
        </p:txBody>
      </p:sp>
      <p:sp>
        <p:nvSpPr>
          <p:cNvPr id="10" name="Shape 8"/>
          <p:cNvSpPr/>
          <p:nvPr/>
        </p:nvSpPr>
        <p:spPr>
          <a:xfrm>
            <a:off x="4754880" y="1645920"/>
            <a:ext cx="4023360" cy="2286000"/>
          </a:xfrm>
          <a:prstGeom prst="rect">
            <a:avLst/>
          </a:prstGeom>
          <a:solidFill>
            <a:srgbClr val="FEF3C7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46320" y="16916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LASSO (L1)</a:t>
            </a:r>
            <a:endParaRPr lang="en-US" sz="1300"/>
          </a:p>
        </p:txBody>
      </p:sp>
      <p:sp>
        <p:nvSpPr>
          <p:cNvPr id="12" name="Text 10"/>
          <p:cNvSpPr/>
          <p:nvPr/>
        </p:nvSpPr>
        <p:spPr>
          <a:xfrm>
            <a:off x="4846320" y="2057400"/>
            <a:ext cx="3840480" cy="1810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some coefficients to EXACTLY zero (sparse model)</a:t>
            </a:r>
            <a:endParaRPr lang="en-US" sz="11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Performs automatic feature/variable selection</a:t>
            </a:r>
            <a:endParaRPr lang="en-US" sz="11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when few large effects dominate (sparse signal)</a:t>
            </a:r>
            <a:endParaRPr lang="en-US" sz="11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for: Signal selection from 50+ potential factors</a:t>
            </a:r>
            <a:endParaRPr lang="en-US" sz="1100"/>
          </a:p>
        </p:txBody>
      </p:sp>
      <p:sp>
        <p:nvSpPr>
          <p:cNvPr id="13" name="Text 11"/>
          <p:cNvSpPr/>
          <p:nvPr/>
        </p:nvSpPr>
        <p:spPr>
          <a:xfrm>
            <a:off x="365760" y="4023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Example — Factor Selection for ES:</a:t>
            </a:r>
            <a:endParaRPr lang="en-US" sz="1250"/>
          </a:p>
        </p:txBody>
      </p:sp>
      <p:sp>
        <p:nvSpPr>
          <p:cNvPr id="14" name="Text 12"/>
          <p:cNvSpPr/>
          <p:nvPr/>
        </p:nvSpPr>
        <p:spPr>
          <a:xfrm>
            <a:off x="365760" y="4334256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15 predictors: NQ, ZN, CL, GC, DX, RB, NG, SI, HG, ZC, ZW, VIX, DXY, AUDUSD, EURUSD tick changes. Lasso with λ=0.5 might return: β(NQ)=0.40, β(ZN)=−0.12, β(DX)=−0.09, all others = 0. This is your PARSIMONY signal — only 3 of 15 predictors matter. Ridge would keep all 15 with small weights. Lasso tells you what to focus on.</a:t>
            </a:r>
            <a:endParaRPr lang="en-US" sz="11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vs Lasso vs OLS — When to Use Which</a:t>
            </a:r>
            <a:endParaRPr lang="en-US" sz="200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2960554"/>
              </p:ext>
            </p:extLst>
          </p:nvPr>
        </p:nvGraphicFramePr>
        <p:xfrm>
          <a:off x="365760" y="713232"/>
          <a:ext cx="8412480" cy="332232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Property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OLS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Ridge (L2)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Lasso (L1)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Penalty on β?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Squared (λΣβ²)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Absolute (λΣ|β|)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Drives β → 0?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 to 0, not exactly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Exactly 0 for some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selection?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automatic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when...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Few uncorrelated vars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Many correlated vars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Many vars, few matter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of overfitting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Low-Medium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Low-Medium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Interpretability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(sparse)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Futures use case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ES/NQ 2-asset hedge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Multi-factor portfolio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Signal selection from large factor set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114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NET — The Best of Both:</a:t>
            </a:r>
            <a:endParaRPr lang="en-US" sz="1300"/>
          </a:p>
        </p:txBody>
      </p:sp>
      <p:sp>
        <p:nvSpPr>
          <p:cNvPr id="6" name="Shape 3"/>
          <p:cNvSpPr/>
          <p:nvPr/>
        </p:nvSpPr>
        <p:spPr>
          <a:xfrm>
            <a:off x="365760" y="4434840"/>
            <a:ext cx="8412480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2E5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Elastic Net Loss = Σ(Yᵢ − Ŷᵢ)² + λ₁·Σ|βⱼ| + λ₂·Σβⱼ²   →  Combines Lasso (sparsity) + Ridge (stability)</a:t>
            </a:r>
            <a:endParaRPr lang="en-US" sz="12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— Predicting Binary Outcomes in Futures</a:t>
            </a:r>
            <a:endParaRPr lang="en-US" sz="200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everything is a tick prediction. Often you want: 'Will ES close UP or DOWN today?' — a BINARY classification problem. Logistic regression is the go-to.</a:t>
            </a:r>
            <a:endParaRPr lang="en-US" sz="125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8412480" cy="566928"/>
          </a:xfrm>
          <a:prstGeom prst="rect">
            <a:avLst/>
          </a:prstGeom>
          <a:solidFill>
            <a:srgbClr val="EFF6FF"/>
          </a:solidFill>
          <a:ln w="1270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16128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2E5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P(Y=1) = 1 / (1 + e^(−(α + β₁X₁ + β₂X₂ + ...)))     Output: PROBABILITY between 0 and 1 (NOT a tick value)</a:t>
            </a:r>
            <a:endParaRPr lang="en-US" sz="1200"/>
          </a:p>
        </p:txBody>
      </p:sp>
      <p:sp>
        <p:nvSpPr>
          <p:cNvPr id="7" name="Text 5"/>
          <p:cNvSpPr/>
          <p:nvPr/>
        </p:nvSpPr>
        <p:spPr>
          <a:xfrm>
            <a:off x="365760" y="17556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Sigmoid Curve — The Heart of Logistic Regression:</a:t>
            </a:r>
            <a:endParaRPr lang="en-US" sz="1250"/>
          </a:p>
        </p:txBody>
      </p:sp>
      <p:graphicFrame>
        <p:nvGraphicFramePr>
          <p:cNvPr id="8" name="Chart 0"/>
          <p:cNvGraphicFramePr/>
          <p:nvPr/>
        </p:nvGraphicFramePr>
        <p:xfrm>
          <a:off x="365760" y="2057400"/>
          <a:ext cx="411480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 6"/>
          <p:cNvSpPr/>
          <p:nvPr/>
        </p:nvSpPr>
        <p:spPr>
          <a:xfrm>
            <a:off x="4663440" y="20574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Futures Applications:</a:t>
            </a:r>
            <a:endParaRPr lang="en-US" sz="1250"/>
          </a:p>
        </p:txBody>
      </p:sp>
      <p:sp>
        <p:nvSpPr>
          <p:cNvPr id="10" name="Text 7"/>
          <p:cNvSpPr/>
          <p:nvPr/>
        </p:nvSpPr>
        <p:spPr>
          <a:xfrm>
            <a:off x="4663440" y="2377440"/>
            <a:ext cx="41148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Directional bias: P(ES up today) given NQ return, ZN move, overnight gap</a:t>
            </a:r>
            <a:endParaRPr lang="en-US" sz="11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Breakout confirmation: P(price breaks out of range) given volume, tick count, market breadth</a:t>
            </a:r>
            <a:endParaRPr lang="en-US" sz="11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Risk-off trigger: P(VIX spikes &gt;20%) given macro indicators</a:t>
            </a:r>
            <a:endParaRPr lang="en-US" sz="11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Threshold: Trade if P &gt; 0.65, stay flat if 0.40 &lt; P &lt; 0.60</a:t>
            </a:r>
            <a:endParaRPr lang="en-US" sz="1100"/>
          </a:p>
        </p:txBody>
      </p:sp>
      <p:sp>
        <p:nvSpPr>
          <p:cNvPr id="11" name="Text 8"/>
          <p:cNvSpPr/>
          <p:nvPr/>
        </p:nvSpPr>
        <p:spPr>
          <a:xfrm>
            <a:off x="4663440" y="40690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Difference from Linear Regression:</a:t>
            </a:r>
            <a:endParaRPr lang="en-US" sz="1200"/>
          </a:p>
        </p:txBody>
      </p:sp>
      <p:sp>
        <p:nvSpPr>
          <p:cNvPr id="12" name="Text 9"/>
          <p:cNvSpPr/>
          <p:nvPr/>
        </p:nvSpPr>
        <p:spPr>
          <a:xfrm>
            <a:off x="4663440" y="4370832"/>
            <a:ext cx="4114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 coefficients are LOG-ODDS ratios, not tick changes. Interpret as: 'Each 1-unit increase in X multiplies the odds of ES up by e^β.' E.g., β=0.4 → e^0.4 = 1.49 → 49% higher odds.</a:t>
            </a:r>
            <a:endParaRPr lang="en-US" sz="105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Summary</a:t>
            </a:r>
            <a:endParaRPr lang="en-US" sz="2000"/>
          </a:p>
        </p:txBody>
      </p:sp>
      <p:sp>
        <p:nvSpPr>
          <p:cNvPr id="4" name="Shape 2"/>
          <p:cNvSpPr/>
          <p:nvPr/>
        </p:nvSpPr>
        <p:spPr>
          <a:xfrm>
            <a:off x="365760" y="685800"/>
            <a:ext cx="8412480" cy="3840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72237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Q1: Is your Y variable continuous (tick change, PnL)?</a:t>
            </a:r>
            <a:endParaRPr lang="en-US" sz="1200"/>
          </a:p>
        </p:txBody>
      </p:sp>
      <p:sp>
        <p:nvSpPr>
          <p:cNvPr id="6" name="Shape 4"/>
          <p:cNvSpPr/>
          <p:nvPr/>
        </p:nvSpPr>
        <p:spPr>
          <a:xfrm>
            <a:off x="365760" y="1088136"/>
            <a:ext cx="4069080" cy="493776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709160" y="1088136"/>
            <a:ext cx="4069080" cy="493776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14300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→ Linear/Multiple/Ridge/Lasso</a:t>
            </a:r>
            <a:endParaRPr lang="en-US" sz="1050"/>
          </a:p>
        </p:txBody>
      </p:sp>
      <p:sp>
        <p:nvSpPr>
          <p:cNvPr id="9" name="Text 7"/>
          <p:cNvSpPr/>
          <p:nvPr/>
        </p:nvSpPr>
        <p:spPr>
          <a:xfrm>
            <a:off x="4800600" y="114300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→ Logistic (binary outcome)</a:t>
            </a:r>
            <a:endParaRPr lang="en-US" sz="1050"/>
          </a:p>
        </p:txBody>
      </p:sp>
      <p:sp>
        <p:nvSpPr>
          <p:cNvPr id="10" name="Shape 8"/>
          <p:cNvSpPr/>
          <p:nvPr/>
        </p:nvSpPr>
        <p:spPr>
          <a:xfrm>
            <a:off x="365760" y="1691640"/>
            <a:ext cx="8412480" cy="3840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172821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Q2: Do you have many correlated predictors (&gt;5 factors)?</a:t>
            </a:r>
            <a:endParaRPr lang="en-US" sz="1200"/>
          </a:p>
        </p:txBody>
      </p:sp>
      <p:sp>
        <p:nvSpPr>
          <p:cNvPr id="12" name="Shape 10"/>
          <p:cNvSpPr/>
          <p:nvPr/>
        </p:nvSpPr>
        <p:spPr>
          <a:xfrm>
            <a:off x="365760" y="2093976"/>
            <a:ext cx="4069080" cy="493776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709160" y="2093976"/>
            <a:ext cx="4069080" cy="493776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214884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→ Ridge (all small effects) or Lasso (few large effects)</a:t>
            </a:r>
            <a:endParaRPr lang="en-US" sz="1050"/>
          </a:p>
        </p:txBody>
      </p:sp>
      <p:sp>
        <p:nvSpPr>
          <p:cNvPr id="15" name="Text 13"/>
          <p:cNvSpPr/>
          <p:nvPr/>
        </p:nvSpPr>
        <p:spPr>
          <a:xfrm>
            <a:off x="4800600" y="214884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→ OLS/Multiple regression</a:t>
            </a:r>
            <a:endParaRPr lang="en-US" sz="1050"/>
          </a:p>
        </p:txBody>
      </p:sp>
      <p:sp>
        <p:nvSpPr>
          <p:cNvPr id="16" name="Shape 14"/>
          <p:cNvSpPr/>
          <p:nvPr/>
        </p:nvSpPr>
        <p:spPr>
          <a:xfrm>
            <a:off x="365760" y="2697480"/>
            <a:ext cx="8412480" cy="3840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273405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Q3: Is the relationship clearly non-linear? (VIX-ES, convexity)?</a:t>
            </a:r>
            <a:endParaRPr lang="en-US" sz="1200"/>
          </a:p>
        </p:txBody>
      </p:sp>
      <p:sp>
        <p:nvSpPr>
          <p:cNvPr id="18" name="Shape 16"/>
          <p:cNvSpPr/>
          <p:nvPr/>
        </p:nvSpPr>
        <p:spPr>
          <a:xfrm>
            <a:off x="365760" y="3099816"/>
            <a:ext cx="4069080" cy="493776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709160" y="3099816"/>
            <a:ext cx="4069080" cy="493776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57200" y="315468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→ Polynomial Regression (degree 2-3)</a:t>
            </a:r>
            <a:endParaRPr lang="en-US" sz="1050"/>
          </a:p>
        </p:txBody>
      </p:sp>
      <p:sp>
        <p:nvSpPr>
          <p:cNvPr id="21" name="Text 19"/>
          <p:cNvSpPr/>
          <p:nvPr/>
        </p:nvSpPr>
        <p:spPr>
          <a:xfrm>
            <a:off x="4800600" y="315468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→ Linear/Multiple</a:t>
            </a:r>
            <a:endParaRPr lang="en-US" sz="1050"/>
          </a:p>
        </p:txBody>
      </p:sp>
      <p:sp>
        <p:nvSpPr>
          <p:cNvPr id="22" name="Shape 20"/>
          <p:cNvSpPr/>
          <p:nvPr/>
        </p:nvSpPr>
        <p:spPr>
          <a:xfrm>
            <a:off x="365760" y="3703320"/>
            <a:ext cx="8412480" cy="3840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57200" y="373989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Q4: Are you selecting which factors MATTER from a large set?</a:t>
            </a:r>
            <a:endParaRPr lang="en-US" sz="1200"/>
          </a:p>
        </p:txBody>
      </p:sp>
      <p:sp>
        <p:nvSpPr>
          <p:cNvPr id="24" name="Shape 22"/>
          <p:cNvSpPr/>
          <p:nvPr/>
        </p:nvSpPr>
        <p:spPr>
          <a:xfrm>
            <a:off x="365760" y="4105656"/>
            <a:ext cx="4069080" cy="493776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709160" y="4105656"/>
            <a:ext cx="4069080" cy="493776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57200" y="416052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→ Lasso first, then OLS on selected vars</a:t>
            </a:r>
            <a:endParaRPr lang="en-US" sz="1050"/>
          </a:p>
        </p:txBody>
      </p:sp>
      <p:sp>
        <p:nvSpPr>
          <p:cNvPr id="27" name="Text 25"/>
          <p:cNvSpPr/>
          <p:nvPr/>
        </p:nvSpPr>
        <p:spPr>
          <a:xfrm>
            <a:off x="4800600" y="416052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→ Ridge to stabilize</a:t>
            </a:r>
            <a:endParaRPr lang="en-US" sz="1050"/>
          </a:p>
        </p:txBody>
      </p:sp>
      <p:sp>
        <p:nvSpPr>
          <p:cNvPr id="28" name="Text 26"/>
          <p:cNvSpPr/>
          <p:nvPr/>
        </p:nvSpPr>
        <p:spPr>
          <a:xfrm>
            <a:off x="365760" y="46634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2436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0"/>
            <a:ext cx="109728" cy="146304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192024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TESTING</a:t>
            </a:r>
            <a:endParaRPr lang="en-US" sz="3200"/>
          </a:p>
        </p:txBody>
      </p:sp>
      <p:sp>
        <p:nvSpPr>
          <p:cNvPr id="4" name="Text 2"/>
          <p:cNvSpPr/>
          <p:nvPr/>
        </p:nvSpPr>
        <p:spPr>
          <a:xfrm>
            <a:off x="731520" y="292608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your edge real, or is it just lucky randomness?</a:t>
            </a:r>
            <a:endParaRPr lang="en-US" sz="16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Testing</a:t>
            </a:r>
            <a:endParaRPr lang="en-US" sz="200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from Session 1: you computed mean tick PnL = +2.3 ticks over 40 trades. Is that a REAL edge or just luck?</a:t>
            </a:r>
            <a:endParaRPr lang="en-US" sz="130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8412480" cy="530352"/>
          </a:xfrm>
          <a:prstGeom prst="rect">
            <a:avLst/>
          </a:prstGeom>
          <a:solidFill>
            <a:srgbClr val="EFF6FF"/>
          </a:solidFill>
          <a:ln w="1270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2E5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H₀ (Null): Mean PnL = 0 (no edge — results are due to chance)</a:t>
            </a:r>
            <a:endParaRPr lang="en-US" sz="1200"/>
          </a:p>
          <a:p>
            <a:pPr marL="0" indent="0" algn="ctr">
              <a:buNone/>
            </a:pPr>
            <a:r>
              <a:rPr lang="en-US" sz="1200" b="1">
                <a:solidFill>
                  <a:srgbClr val="2E5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H₁ (Alternative): Mean PnL ≠ 0 (there IS a real edge)</a:t>
            </a:r>
            <a:endParaRPr lang="en-US" sz="1200"/>
          </a:p>
        </p:txBody>
      </p:sp>
      <p:sp>
        <p:nvSpPr>
          <p:cNvPr id="7" name="Text 5"/>
          <p:cNvSpPr/>
          <p:nvPr/>
        </p:nvSpPr>
        <p:spPr>
          <a:xfrm>
            <a:off x="365760" y="166420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Logic of Hypothesis Testing:</a:t>
            </a:r>
            <a:endParaRPr lang="en-US" sz="1300"/>
          </a:p>
        </p:txBody>
      </p:sp>
      <p:sp>
        <p:nvSpPr>
          <p:cNvPr id="8" name="Text 6"/>
          <p:cNvSpPr/>
          <p:nvPr/>
        </p:nvSpPr>
        <p:spPr>
          <a:xfrm>
            <a:off x="365760" y="1993392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NEVER prove H₁ (you can't prove an edge exists with certainty). We only REJECT or FAIL TO REJECT H₀.</a:t>
            </a:r>
            <a:endParaRPr lang="en-US" sz="120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p-value: Probability of observing your results (or more extreme) IF H₀ were true. Low p-value → your results are unlikely under 'no edge' assumption → reject H₀.</a:t>
            </a:r>
            <a:endParaRPr lang="en-US" sz="120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Significance level α = 0.05 (5%): Standard threshold. 'I'm willing to be wrong 5% of the time when claiming an edge.'</a:t>
            </a:r>
            <a:endParaRPr lang="en-US" sz="120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interval approach: Does the 95% CI for mean PnL include 0? If yes → don't claim edge. If no → edge is statistically significant.</a:t>
            </a:r>
            <a:endParaRPr lang="en-US" sz="1200"/>
          </a:p>
        </p:txBody>
      </p:sp>
      <p:sp>
        <p:nvSpPr>
          <p:cNvPr id="9" name="Shape 7"/>
          <p:cNvSpPr/>
          <p:nvPr/>
        </p:nvSpPr>
        <p:spPr>
          <a:xfrm>
            <a:off x="365760" y="3520440"/>
            <a:ext cx="4114800" cy="640080"/>
          </a:xfrm>
          <a:prstGeom prst="rect">
            <a:avLst/>
          </a:prstGeom>
          <a:solidFill>
            <a:srgbClr val="EFF6FF"/>
          </a:solidFill>
          <a:ln w="1270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356616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One-tailed test</a:t>
            </a:r>
            <a:endParaRPr lang="en-US" sz="1200"/>
          </a:p>
        </p:txBody>
      </p:sp>
      <p:sp>
        <p:nvSpPr>
          <p:cNvPr id="11" name="Text 9"/>
          <p:cNvSpPr/>
          <p:nvPr/>
        </p:nvSpPr>
        <p:spPr>
          <a:xfrm>
            <a:off x="457200" y="384048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'Is my mean PnL &gt; 0?' — Testing in one direction only. H₁: μ &gt; 0. Stricter signal required.</a:t>
            </a:r>
            <a:endParaRPr lang="en-US" sz="1100"/>
          </a:p>
        </p:txBody>
      </p:sp>
      <p:sp>
        <p:nvSpPr>
          <p:cNvPr id="12" name="Shape 10"/>
          <p:cNvSpPr/>
          <p:nvPr/>
        </p:nvSpPr>
        <p:spPr>
          <a:xfrm>
            <a:off x="4663440" y="3520440"/>
            <a:ext cx="4114800" cy="640080"/>
          </a:xfrm>
          <a:prstGeom prst="rect">
            <a:avLst/>
          </a:prstGeom>
          <a:solidFill>
            <a:srgbClr val="EFF6FF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54880" y="356616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Two-tailed test</a:t>
            </a:r>
            <a:endParaRPr lang="en-US" sz="1200"/>
          </a:p>
        </p:txBody>
      </p:sp>
      <p:sp>
        <p:nvSpPr>
          <p:cNvPr id="14" name="Text 12"/>
          <p:cNvSpPr/>
          <p:nvPr/>
        </p:nvSpPr>
        <p:spPr>
          <a:xfrm>
            <a:off x="4754880" y="384048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'Is my mean PnL ≠ 0?'  Could be positive OR negative edge. H₁: μ ≠ 0. More conservative.</a:t>
            </a:r>
            <a:endParaRPr lang="en-US" sz="1100"/>
          </a:p>
        </p:txBody>
      </p:sp>
      <p:sp>
        <p:nvSpPr>
          <p:cNvPr id="15" name="Shape 13"/>
          <p:cNvSpPr/>
          <p:nvPr/>
        </p:nvSpPr>
        <p:spPr>
          <a:xfrm>
            <a:off x="365760" y="4251960"/>
            <a:ext cx="8412480" cy="594360"/>
          </a:xfrm>
          <a:prstGeom prst="rect">
            <a:avLst/>
          </a:prstGeom>
          <a:solidFill>
            <a:srgbClr val="FEF3C7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" y="42976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trading: always use a ONE-TAILED test for directional strategies (long bias → test if mean &gt; 0). Use two-tailed for spread strategies where you make money in BOTH directions. Choosing wrong test inflates significance.</a:t>
            </a:r>
            <a:endParaRPr lang="en-US" sz="11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p-Value, Type I &amp; Type II Errors</a:t>
            </a:r>
            <a:endParaRPr lang="en-US" sz="200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8412480" cy="438912"/>
          </a:xfrm>
          <a:prstGeom prst="rect">
            <a:avLst/>
          </a:prstGeom>
          <a:solidFill>
            <a:srgbClr val="EFF6FF"/>
          </a:solidFill>
          <a:ln w="1270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70408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2E5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p-value = P(observing this result OR more extreme | H₀ is true)    Low p = H₀ is unlikely. NOT the probability H₀ is false.</a:t>
            </a:r>
            <a:endParaRPr lang="en-US" sz="1200"/>
          </a:p>
        </p:txBody>
      </p:sp>
      <p:sp>
        <p:nvSpPr>
          <p:cNvPr id="6" name="Shape 4"/>
          <p:cNvSpPr/>
          <p:nvPr/>
        </p:nvSpPr>
        <p:spPr>
          <a:xfrm>
            <a:off x="365760" y="1170432"/>
            <a:ext cx="8412480" cy="1572768"/>
          </a:xfrm>
          <a:prstGeom prst="rect">
            <a:avLst/>
          </a:prstGeom>
          <a:solidFill>
            <a:srgbClr val="F9F9F9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170432"/>
            <a:ext cx="1463040" cy="15727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84048" y="1490472"/>
            <a:ext cx="1426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I ERROR (α)</a:t>
            </a:r>
            <a:endParaRPr lang="en-US" sz="1100"/>
          </a:p>
        </p:txBody>
      </p:sp>
      <p:sp>
        <p:nvSpPr>
          <p:cNvPr id="9" name="Text 7"/>
          <p:cNvSpPr/>
          <p:nvPr/>
        </p:nvSpPr>
        <p:spPr>
          <a:xfrm>
            <a:off x="384048" y="1883664"/>
            <a:ext cx="1426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(False Positive)</a:t>
            </a:r>
            <a:endParaRPr lang="en-US" sz="1000"/>
          </a:p>
        </p:txBody>
      </p:sp>
      <p:sp>
        <p:nvSpPr>
          <p:cNvPr id="10" name="Text 8"/>
          <p:cNvSpPr/>
          <p:nvPr/>
        </p:nvSpPr>
        <p:spPr>
          <a:xfrm>
            <a:off x="1920240" y="1225296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 You REJECT H₀ when it's actually true. You claim an edge that doesn't exist.</a:t>
            </a:r>
            <a:endParaRPr lang="en-US" sz="1100"/>
          </a:p>
        </p:txBody>
      </p:sp>
      <p:sp>
        <p:nvSpPr>
          <p:cNvPr id="11" name="Text 9"/>
          <p:cNvSpPr/>
          <p:nvPr/>
        </p:nvSpPr>
        <p:spPr>
          <a:xfrm>
            <a:off x="1920240" y="1645920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 impact: You go live with a strategy because p=0.03, but it was just lucky 60-trade period. You lose money.</a:t>
            </a:r>
            <a:endParaRPr lang="en-US" sz="1100"/>
          </a:p>
        </p:txBody>
      </p:sp>
      <p:sp>
        <p:nvSpPr>
          <p:cNvPr id="12" name="Text 10"/>
          <p:cNvSpPr/>
          <p:nvPr/>
        </p:nvSpPr>
        <p:spPr>
          <a:xfrm>
            <a:off x="1920240" y="2066544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Control: Set lower α (0.01 instead of 0.05). Require p &lt; 0.01 before trading live.</a:t>
            </a:r>
            <a:endParaRPr lang="en-US" sz="1100"/>
          </a:p>
        </p:txBody>
      </p:sp>
      <p:sp>
        <p:nvSpPr>
          <p:cNvPr id="13" name="Shape 11"/>
          <p:cNvSpPr/>
          <p:nvPr/>
        </p:nvSpPr>
        <p:spPr>
          <a:xfrm>
            <a:off x="365760" y="2862072"/>
            <a:ext cx="8412480" cy="1572768"/>
          </a:xfrm>
          <a:prstGeom prst="rect">
            <a:avLst/>
          </a:prstGeom>
          <a:solidFill>
            <a:srgbClr val="F9F9F9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65760" y="2862072"/>
            <a:ext cx="1463040" cy="157276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84048" y="3182112"/>
            <a:ext cx="1426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II ERROR (β)</a:t>
            </a:r>
            <a:endParaRPr lang="en-US" sz="1100"/>
          </a:p>
        </p:txBody>
      </p:sp>
      <p:sp>
        <p:nvSpPr>
          <p:cNvPr id="16" name="Text 14"/>
          <p:cNvSpPr/>
          <p:nvPr/>
        </p:nvSpPr>
        <p:spPr>
          <a:xfrm>
            <a:off x="384048" y="3575304"/>
            <a:ext cx="1426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(False Negative)</a:t>
            </a:r>
            <a:endParaRPr lang="en-US" sz="1000"/>
          </a:p>
        </p:txBody>
      </p:sp>
      <p:sp>
        <p:nvSpPr>
          <p:cNvPr id="17" name="Text 15"/>
          <p:cNvSpPr/>
          <p:nvPr/>
        </p:nvSpPr>
        <p:spPr>
          <a:xfrm>
            <a:off x="1920240" y="2916936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 You FAIL TO REJECT H₀ when it's actually false. You miss a real edge.</a:t>
            </a:r>
            <a:endParaRPr lang="en-US" sz="1100"/>
          </a:p>
        </p:txBody>
      </p:sp>
      <p:sp>
        <p:nvSpPr>
          <p:cNvPr id="18" name="Text 16"/>
          <p:cNvSpPr/>
          <p:nvPr/>
        </p:nvSpPr>
        <p:spPr>
          <a:xfrm>
            <a:off x="1920240" y="3337560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 impact: A real +2 tick/trade edge exists, but with only 30 trades, p=0.12 so you discard it.</a:t>
            </a:r>
            <a:endParaRPr lang="en-US" sz="1100"/>
          </a:p>
        </p:txBody>
      </p:sp>
      <p:sp>
        <p:nvSpPr>
          <p:cNvPr id="19" name="Text 17"/>
          <p:cNvSpPr/>
          <p:nvPr/>
        </p:nvSpPr>
        <p:spPr>
          <a:xfrm>
            <a:off x="1920240" y="3758184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Control: Increase sample size (more trades). Larger n → smaller SE → more power to detect real edges.</a:t>
            </a:r>
            <a:endParaRPr lang="en-US" sz="1100"/>
          </a:p>
        </p:txBody>
      </p:sp>
      <p:sp>
        <p:nvSpPr>
          <p:cNvPr id="20" name="Shape 18"/>
          <p:cNvSpPr/>
          <p:nvPr/>
        </p:nvSpPr>
        <p:spPr>
          <a:xfrm>
            <a:off x="365760" y="4599432"/>
            <a:ext cx="8412480" cy="475488"/>
          </a:xfrm>
          <a:prstGeom prst="rect">
            <a:avLst/>
          </a:prstGeom>
          <a:solidFill>
            <a:srgbClr val="FEF3C7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" y="464515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Multiple testing problem: If you test 20 strategies at α=0.05, you EXPECT 1 to appear significant by chance alone (0.05×20=1). Use Bonferroni correction: α_adjusted = 0.05/20 = 0.0025. This is why most backtests look good and fail live.</a:t>
            </a:r>
            <a:endParaRPr lang="en-US" sz="11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Complete Statistical Workflow</a:t>
            </a:r>
            <a:endParaRPr lang="en-US" sz="2000"/>
          </a:p>
        </p:txBody>
      </p:sp>
      <p:sp>
        <p:nvSpPr>
          <p:cNvPr id="4" name="Shape 2"/>
          <p:cNvSpPr/>
          <p:nvPr/>
        </p:nvSpPr>
        <p:spPr>
          <a:xfrm>
            <a:off x="365760" y="685800"/>
            <a:ext cx="4114800" cy="1234440"/>
          </a:xfrm>
          <a:prstGeom prst="rect">
            <a:avLst/>
          </a:prstGeom>
          <a:solidFill>
            <a:srgbClr val="EFF6FF"/>
          </a:solidFill>
          <a:ln w="1270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685800"/>
            <a:ext cx="502920" cy="1234440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0515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/>
          </a:p>
        </p:txBody>
      </p:sp>
      <p:sp>
        <p:nvSpPr>
          <p:cNvPr id="7" name="Text 5"/>
          <p:cNvSpPr/>
          <p:nvPr/>
        </p:nvSpPr>
        <p:spPr>
          <a:xfrm>
            <a:off x="960120" y="740664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with Correlation (Session 3)</a:t>
            </a:r>
            <a:endParaRPr lang="en-US" sz="1200"/>
          </a:p>
        </p:txBody>
      </p:sp>
      <p:sp>
        <p:nvSpPr>
          <p:cNvPr id="8" name="Text 6"/>
          <p:cNvSpPr/>
          <p:nvPr/>
        </p:nvSpPr>
        <p:spPr>
          <a:xfrm>
            <a:off x="960120" y="1143000"/>
            <a:ext cx="3429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ρ and rolling ρ between your target futures. Visualize scatter. Bust any casual assumptions.</a:t>
            </a:r>
            <a:endParaRPr lang="en-US" sz="1050"/>
          </a:p>
        </p:txBody>
      </p:sp>
      <p:sp>
        <p:nvSpPr>
          <p:cNvPr id="9" name="Shape 7"/>
          <p:cNvSpPr/>
          <p:nvPr/>
        </p:nvSpPr>
        <p:spPr>
          <a:xfrm>
            <a:off x="4754880" y="685800"/>
            <a:ext cx="4114800" cy="1234440"/>
          </a:xfrm>
          <a:prstGeom prst="rect">
            <a:avLst/>
          </a:prstGeom>
          <a:solidFill>
            <a:srgbClr val="EFF6FF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54880" y="685800"/>
            <a:ext cx="502920" cy="1234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54880" y="10515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/>
          </a:p>
        </p:txBody>
      </p:sp>
      <p:sp>
        <p:nvSpPr>
          <p:cNvPr id="12" name="Text 10"/>
          <p:cNvSpPr/>
          <p:nvPr/>
        </p:nvSpPr>
        <p:spPr>
          <a:xfrm>
            <a:off x="5349240" y="740664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Cointegration</a:t>
            </a:r>
            <a:endParaRPr lang="en-US" sz="1200"/>
          </a:p>
        </p:txBody>
      </p:sp>
      <p:sp>
        <p:nvSpPr>
          <p:cNvPr id="13" name="Text 11"/>
          <p:cNvSpPr/>
          <p:nvPr/>
        </p:nvSpPr>
        <p:spPr>
          <a:xfrm>
            <a:off x="5349240" y="1143000"/>
            <a:ext cx="3429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pairs trade: run Engle-Granger. Confirm ADF p&lt;0.05 on residuals. Only proceed if cointegrated.</a:t>
            </a:r>
            <a:endParaRPr lang="en-US" sz="1050"/>
          </a:p>
        </p:txBody>
      </p:sp>
      <p:sp>
        <p:nvSpPr>
          <p:cNvPr id="14" name="Shape 12"/>
          <p:cNvSpPr/>
          <p:nvPr/>
        </p:nvSpPr>
        <p:spPr>
          <a:xfrm>
            <a:off x="365760" y="2057400"/>
            <a:ext cx="4114800" cy="1234440"/>
          </a:xfrm>
          <a:prstGeom prst="rect">
            <a:avLst/>
          </a:prstGeom>
          <a:solidFill>
            <a:srgbClr val="EFF6FF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65760" y="2057400"/>
            <a:ext cx="502920" cy="123444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65760" y="24231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/>
          </a:p>
        </p:txBody>
      </p:sp>
      <p:sp>
        <p:nvSpPr>
          <p:cNvPr id="17" name="Text 15"/>
          <p:cNvSpPr/>
          <p:nvPr/>
        </p:nvSpPr>
        <p:spPr>
          <a:xfrm>
            <a:off x="960120" y="2112264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Regression Model</a:t>
            </a:r>
            <a:endParaRPr lang="en-US" sz="1200"/>
          </a:p>
        </p:txBody>
      </p:sp>
      <p:sp>
        <p:nvSpPr>
          <p:cNvPr id="18" name="Text 16"/>
          <p:cNvSpPr/>
          <p:nvPr/>
        </p:nvSpPr>
        <p:spPr>
          <a:xfrm>
            <a:off x="960120" y="2514600"/>
            <a:ext cx="3429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OLS. Choose right type (linear/multiple/polynomial). Validate assumptions with diagnostics.</a:t>
            </a:r>
            <a:endParaRPr lang="en-US" sz="1050"/>
          </a:p>
        </p:txBody>
      </p:sp>
      <p:sp>
        <p:nvSpPr>
          <p:cNvPr id="19" name="Shape 17"/>
          <p:cNvSpPr/>
          <p:nvPr/>
        </p:nvSpPr>
        <p:spPr>
          <a:xfrm>
            <a:off x="4754880" y="2057400"/>
            <a:ext cx="4114800" cy="1234440"/>
          </a:xfrm>
          <a:prstGeom prst="rect">
            <a:avLst/>
          </a:prstGeom>
          <a:solidFill>
            <a:srgbClr val="EFF6FF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754880" y="2057400"/>
            <a:ext cx="502920" cy="123444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754880" y="24231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/>
          </a:p>
        </p:txBody>
      </p:sp>
      <p:sp>
        <p:nvSpPr>
          <p:cNvPr id="22" name="Text 20"/>
          <p:cNvSpPr/>
          <p:nvPr/>
        </p:nvSpPr>
        <p:spPr>
          <a:xfrm>
            <a:off x="5349240" y="2112264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β, α, R²</a:t>
            </a:r>
            <a:endParaRPr lang="en-US" sz="1200"/>
          </a:p>
        </p:txBody>
      </p:sp>
      <p:sp>
        <p:nvSpPr>
          <p:cNvPr id="23" name="Text 21"/>
          <p:cNvSpPr/>
          <p:nvPr/>
        </p:nvSpPr>
        <p:spPr>
          <a:xfrm>
            <a:off x="5349240" y="2514600"/>
            <a:ext cx="3429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β significant? Is R² meaningful (on returns, not price levels)? Is intercept economically sensible?</a:t>
            </a:r>
            <a:endParaRPr lang="en-US" sz="1050"/>
          </a:p>
        </p:txBody>
      </p:sp>
      <p:sp>
        <p:nvSpPr>
          <p:cNvPr id="24" name="Shape 22"/>
          <p:cNvSpPr/>
          <p:nvPr/>
        </p:nvSpPr>
        <p:spPr>
          <a:xfrm>
            <a:off x="365760" y="3429000"/>
            <a:ext cx="4114800" cy="1234440"/>
          </a:xfrm>
          <a:prstGeom prst="rect">
            <a:avLst/>
          </a:prstGeom>
          <a:solidFill>
            <a:srgbClr val="EFF6FF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65760" y="3429000"/>
            <a:ext cx="502920" cy="12344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65760" y="37947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/>
          </a:p>
        </p:txBody>
      </p:sp>
      <p:sp>
        <p:nvSpPr>
          <p:cNvPr id="27" name="Text 25"/>
          <p:cNvSpPr/>
          <p:nvPr/>
        </p:nvSpPr>
        <p:spPr>
          <a:xfrm>
            <a:off x="960120" y="3483864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Test Your Edge</a:t>
            </a:r>
            <a:endParaRPr lang="en-US" sz="1200"/>
          </a:p>
        </p:txBody>
      </p:sp>
      <p:sp>
        <p:nvSpPr>
          <p:cNvPr id="28" name="Text 26"/>
          <p:cNvSpPr/>
          <p:nvPr/>
        </p:nvSpPr>
        <p:spPr>
          <a:xfrm>
            <a:off x="960120" y="3886200"/>
            <a:ext cx="3429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t-test on strategy PnL. Compute power. Check for p-hacking. Require n&gt;100 before going live.</a:t>
            </a:r>
            <a:endParaRPr lang="en-US" sz="1050"/>
          </a:p>
        </p:txBody>
      </p:sp>
      <p:sp>
        <p:nvSpPr>
          <p:cNvPr id="31" name="Text 29"/>
          <p:cNvSpPr/>
          <p:nvPr/>
        </p:nvSpPr>
        <p:spPr>
          <a:xfrm>
            <a:off x="4754880" y="37947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/>
          </a:p>
        </p:txBody>
      </p:sp>
      <p:sp>
        <p:nvSpPr>
          <p:cNvPr id="32" name="Text 30"/>
          <p:cNvSpPr/>
          <p:nvPr/>
        </p:nvSpPr>
        <p:spPr>
          <a:xfrm>
            <a:off x="5349240" y="3483864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/>
          </a:p>
        </p:txBody>
      </p:sp>
      <p:sp>
        <p:nvSpPr>
          <p:cNvPr id="33" name="Text 31"/>
          <p:cNvSpPr/>
          <p:nvPr/>
        </p:nvSpPr>
        <p:spPr>
          <a:xfrm>
            <a:off x="5349240" y="3886200"/>
            <a:ext cx="3429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050"/>
          </a:p>
        </p:txBody>
      </p:sp>
      <p:sp>
        <p:nvSpPr>
          <p:cNvPr id="34" name="Text 32"/>
          <p:cNvSpPr/>
          <p:nvPr/>
        </p:nvSpPr>
        <p:spPr>
          <a:xfrm>
            <a:off x="365760" y="477316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i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is not a one-time calculation. In live futures markets, you re-run EVERY step of this workflow regularly. Models degrade, regimes change, edges disappear.</a:t>
            </a:r>
            <a:endParaRPr lang="en-US" sz="1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31</Slides>
  <Notes>31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Statistics for Futures Traders - Session 3</dc:title>
  <dc:subject>PptxGenJS Presentation</dc:subject>
  <dc:creator>PptxGenJS</dc:creator>
  <cp:revision>1</cp:revision>
  <dcterms:created xsi:type="dcterms:W3CDTF">2026-05-13T09:38:27Z</dcterms:created>
  <dcterms:modified xsi:type="dcterms:W3CDTF">2026-06-03T05:00:39Z</dcterms:modified>
</cp:coreProperties>
</file>