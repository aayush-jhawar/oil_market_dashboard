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79" r:id="rId9"/>
    <p:sldId id="280" r:id="rId10"/>
    <p:sldId id="265" r:id="rId11"/>
    <p:sldId id="266" r:id="rId12"/>
    <p:sldId id="281" r:id="rId13"/>
    <p:sldId id="270" r:id="rId14"/>
    <p:sldId id="269" r:id="rId15"/>
    <p:sldId id="267" r:id="rId16"/>
    <p:sldId id="268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9790AA-1FA6-BFEF-2E42-859A13EF0FE2}" v="2" dt="2026-06-04T01:51:01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 Sharma" userId="S::shubh.sharma@hertshtengroup.com::beb704be-54c9-450d-8ed3-1aa0a8747d78" providerId="AD" clId="Web-{1C9790AA-1FA6-BFEF-2E42-859A13EF0FE2}"/>
    <pc:docChg chg="modSld">
      <pc:chgData name="Shubh Sharma" userId="S::shubh.sharma@hertshtengroup.com::beb704be-54c9-450d-8ed3-1aa0a8747d78" providerId="AD" clId="Web-{1C9790AA-1FA6-BFEF-2E42-859A13EF0FE2}" dt="2026-06-04T01:51:01.065" v="1" actId="1076"/>
      <pc:docMkLst>
        <pc:docMk/>
      </pc:docMkLst>
      <pc:sldChg chg="modSp">
        <pc:chgData name="Shubh Sharma" userId="S::shubh.sharma@hertshtengroup.com::beb704be-54c9-450d-8ed3-1aa0a8747d78" providerId="AD" clId="Web-{1C9790AA-1FA6-BFEF-2E42-859A13EF0FE2}" dt="2026-06-04T01:51:01.065" v="1" actId="1076"/>
        <pc:sldMkLst>
          <pc:docMk/>
          <pc:sldMk cId="0" sldId="258"/>
        </pc:sldMkLst>
        <pc:spChg chg="mod">
          <ac:chgData name="Shubh Sharma" userId="S::shubh.sharma@hertshtengroup.com::beb704be-54c9-450d-8ed3-1aa0a8747d78" providerId="AD" clId="Web-{1C9790AA-1FA6-BFEF-2E42-859A13EF0FE2}" dt="2026-06-04T01:51:01.065" v="1" actId="1076"/>
          <ac:spMkLst>
            <pc:docMk/>
            <pc:sldMk cId="0" sldId="258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29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66FDE-DA3E-770B-FBE0-139DDB635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540E13-52EC-AFF5-FB87-16A788FA4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05494-4B38-BFBE-C168-FA975D9AC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609FC-FE68-C945-57AA-D49A1C2ACD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72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2A1F2-CD41-FD45-DFBD-9FD639103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D470A1-6593-F3CE-9727-0735F3F67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ABC11-34E9-8910-501B-BCD85275B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046C5-D58D-B441-DFD4-59E0FC4BBF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65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93776" y="991829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400">
                <a:solidFill>
                  <a:srgbClr val="F0A500"/>
                </a:solidFill>
              </a:rPr>
              <a:t>REGRESSION ANALYSIS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1148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A8C7FA"/>
                </a:solidFill>
              </a:rPr>
              <a:t>Linear · Multiple · Polynomial · Ridge · Lasso · Logistic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0A500"/>
                </a:solidFill>
              </a:rPr>
              <a:t>Topics Covered: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CBD5E1"/>
                </a:solidFill>
              </a:rPr>
              <a:t>▸  When to trust Beta and when not to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CBD5E1"/>
                </a:solidFill>
              </a:rPr>
              <a:t>▸  What R² really means for your models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CBD5E1"/>
                </a:solidFill>
              </a:rPr>
              <a:t>▸  How the Intercept changes your Beta interpretation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CBD5E1"/>
                </a:solidFill>
              </a:rPr>
              <a:t>▸  Fair value of spread using regression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CBD5E1"/>
                </a:solidFill>
              </a:rPr>
              <a:t>▸  Assumptions, mistakes, and which model to use when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Simple Linear Regression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ŷ = α + βX   |   One predictor, one outcome</a:t>
            </a:r>
            <a:endParaRPr lang="en-US" sz="105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420624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005840"/>
            <a:ext cx="43891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10515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</a:rPr>
              <a:t>The Equation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320040" y="13441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B6CA8"/>
                </a:solidFill>
              </a:rPr>
              <a:t>ŷ  =  α  +  β · X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320040" y="175564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0A500"/>
                </a:solidFill>
              </a:rPr>
              <a:t>α (Alpha/Intercept): </a:t>
            </a:r>
            <a:r>
              <a:rPr lang="en-US" sz="1100">
                <a:solidFill>
                  <a:srgbClr val="64748B"/>
                </a:solidFill>
              </a:rPr>
              <a:t>value of Y when X = 0
</a:t>
            </a:r>
            <a:r>
              <a:rPr lang="en-US" sz="1100" b="1">
                <a:solidFill>
                  <a:srgbClr val="1B6CA8"/>
                </a:solidFill>
              </a:rPr>
              <a:t>β (Beta/Slope): </a:t>
            </a:r>
            <a:r>
              <a:rPr lang="en-US" sz="1100">
                <a:solidFill>
                  <a:srgbClr val="64748B"/>
                </a:solidFill>
              </a:rPr>
              <a:t>change in Y per unit change in X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182880" y="2514600"/>
            <a:ext cx="43891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0040" y="2560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</a:rPr>
              <a:t>Example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320040" y="2852928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</a:rPr>
              <a:t>Brent Crude = </a:t>
            </a:r>
            <a:r>
              <a:rPr lang="en-US" sz="1150" b="1">
                <a:solidFill>
                  <a:srgbClr val="F0A500"/>
                </a:solidFill>
              </a:rPr>
              <a:t>2.3 </a:t>
            </a:r>
            <a:r>
              <a:rPr lang="en-US" sz="1150">
                <a:solidFill>
                  <a:srgbClr val="64748B"/>
                </a:solidFill>
              </a:rPr>
              <a:t>+ </a:t>
            </a:r>
            <a:r>
              <a:rPr lang="en-US" sz="1150" b="1">
                <a:solidFill>
                  <a:srgbClr val="1B6CA8"/>
                </a:solidFill>
              </a:rPr>
              <a:t>0.85</a:t>
            </a:r>
            <a:r>
              <a:rPr lang="en-US" sz="1150">
                <a:solidFill>
                  <a:srgbClr val="64748B"/>
                </a:solidFill>
              </a:rPr>
              <a:t> × WTI</a:t>
            </a:r>
            <a:r>
              <a:rPr lang="en-US" sz="1150">
                <a:solidFill>
                  <a:srgbClr val="000000"/>
                </a:solidFill>
              </a:rPr>
              <a:t>
</a:t>
            </a:r>
            <a:r>
              <a:rPr lang="en-US" sz="1150" b="1">
                <a:solidFill>
                  <a:srgbClr val="1B6CA8"/>
                </a:solidFill>
              </a:rPr>
              <a:t>β = 0.85: </a:t>
            </a:r>
            <a:r>
              <a:rPr lang="en-US" sz="1100">
                <a:solidFill>
                  <a:srgbClr val="64748B"/>
                </a:solidFill>
              </a:rPr>
              <a:t>For every $1 move in WTI, Brent moves $0.85
</a:t>
            </a:r>
            <a:r>
              <a:rPr lang="en-US" sz="1150" b="1">
                <a:solidFill>
                  <a:srgbClr val="F0A500"/>
                </a:solidFill>
              </a:rPr>
              <a:t>α = 2.3: </a:t>
            </a:r>
            <a:r>
              <a:rPr lang="en-US" sz="1100">
                <a:solidFill>
                  <a:srgbClr val="64748B"/>
                </a:solidFill>
              </a:rPr>
              <a:t>Structural Brent premium above WTI</a:t>
            </a:r>
            <a:endParaRPr lang="en-US" sz="1150"/>
          </a:p>
        </p:txBody>
      </p:sp>
      <p:sp>
        <p:nvSpPr>
          <p:cNvPr id="14" name="Shape 11"/>
          <p:cNvSpPr/>
          <p:nvPr/>
        </p:nvSpPr>
        <p:spPr>
          <a:xfrm>
            <a:off x="182880" y="3950208"/>
            <a:ext cx="877824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0040" y="39959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/>
          </a:p>
        </p:txBody>
      </p:sp>
      <p:sp>
        <p:nvSpPr>
          <p:cNvPr id="16" name="Text 13"/>
          <p:cNvSpPr/>
          <p:nvPr/>
        </p:nvSpPr>
        <p:spPr>
          <a:xfrm>
            <a:off x="822960" y="3986784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To find the best fit line, we use a method called ,Ordinary Least Squares , minimizes the sum of squared residuals — the vertical distance between each point and the line. It finds the β and α that make prediction errors as small as possible.</a:t>
            </a:r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R² — Coefficient of Determination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R² does NOT mean your model is correct. It measures explained variance.</a:t>
            </a:r>
            <a:endParaRPr lang="en-US" sz="105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05840"/>
            <a:ext cx="530352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005840"/>
            <a:ext cx="3291840" cy="1143000"/>
          </a:xfrm>
          <a:prstGeom prst="rect">
            <a:avLst/>
          </a:prstGeom>
          <a:solidFill>
            <a:srgbClr val="EFF6FF"/>
          </a:solidFill>
          <a:ln w="15240">
            <a:solidFill>
              <a:srgbClr val="1B6C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06440" y="1051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The Formula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580644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B6CA8"/>
                </a:solidFill>
              </a:rPr>
              <a:t>R² = 1 − (SS_res / SS_tot)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5806440" y="16642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SS_res = sum of squared residuals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SS_tot = total variance in Y</a:t>
            </a:r>
            <a:endParaRPr lang="en-US" sz="1000"/>
          </a:p>
        </p:txBody>
      </p:sp>
      <p:sp>
        <p:nvSpPr>
          <p:cNvPr id="11" name="Shape 8"/>
          <p:cNvSpPr/>
          <p:nvPr/>
        </p:nvSpPr>
        <p:spPr>
          <a:xfrm>
            <a:off x="5669280" y="2240280"/>
            <a:ext cx="329184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2DC65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69280" y="2240280"/>
            <a:ext cx="91440" cy="7132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33872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</a:rPr>
              <a:t>R² = 0.90+</a:t>
            </a:r>
            <a:endParaRPr lang="en-US" sz="1150"/>
          </a:p>
        </p:txBody>
      </p:sp>
      <p:sp>
        <p:nvSpPr>
          <p:cNvPr id="14" name="Text 11"/>
          <p:cNvSpPr/>
          <p:nvPr/>
        </p:nvSpPr>
        <p:spPr>
          <a:xfrm>
            <a:off x="5833872" y="25603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Strong: 90%+ variance explained. Good for liquid pairs.</a:t>
            </a:r>
            <a:endParaRPr lang="en-US" sz="1000"/>
          </a:p>
        </p:txBody>
      </p:sp>
      <p:sp>
        <p:nvSpPr>
          <p:cNvPr id="15" name="Shape 12"/>
          <p:cNvSpPr/>
          <p:nvPr/>
        </p:nvSpPr>
        <p:spPr>
          <a:xfrm>
            <a:off x="5669280" y="3017520"/>
            <a:ext cx="329184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F0A5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669280" y="3017520"/>
            <a:ext cx="91440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33872" y="3063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</a:rPr>
              <a:t>R² = 0.60–0.89</a:t>
            </a:r>
            <a:endParaRPr lang="en-US" sz="1150"/>
          </a:p>
        </p:txBody>
      </p:sp>
      <p:sp>
        <p:nvSpPr>
          <p:cNvPr id="18" name="Text 15"/>
          <p:cNvSpPr/>
          <p:nvPr/>
        </p:nvSpPr>
        <p:spPr>
          <a:xfrm>
            <a:off x="5833872" y="33375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Moderate: Meaningful relationship. Use with caution.</a:t>
            </a:r>
            <a:endParaRPr lang="en-US" sz="1000"/>
          </a:p>
        </p:txBody>
      </p:sp>
      <p:sp>
        <p:nvSpPr>
          <p:cNvPr id="19" name="Shape 16"/>
          <p:cNvSpPr/>
          <p:nvPr/>
        </p:nvSpPr>
        <p:spPr>
          <a:xfrm>
            <a:off x="5669280" y="3794760"/>
            <a:ext cx="329184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669280" y="3794760"/>
            <a:ext cx="91440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833872" y="3840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</a:rPr>
              <a:t>R² &lt; 0.30</a:t>
            </a:r>
            <a:endParaRPr lang="en-US" sz="1150"/>
          </a:p>
        </p:txBody>
      </p:sp>
      <p:sp>
        <p:nvSpPr>
          <p:cNvPr id="22" name="Text 19"/>
          <p:cNvSpPr/>
          <p:nvPr/>
        </p:nvSpPr>
        <p:spPr>
          <a:xfrm>
            <a:off x="5833872" y="41148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Weak: Model explains little. Add factors or reconsider.</a:t>
            </a:r>
            <a:endParaRPr lang="en-US" sz="1000"/>
          </a:p>
        </p:txBody>
      </p:sp>
      <p:sp>
        <p:nvSpPr>
          <p:cNvPr id="23" name="Shape 20"/>
          <p:cNvSpPr/>
          <p:nvPr/>
        </p:nvSpPr>
        <p:spPr>
          <a:xfrm>
            <a:off x="182880" y="3657600"/>
            <a:ext cx="8778240" cy="1188720"/>
          </a:xfrm>
          <a:prstGeom prst="rect">
            <a:avLst/>
          </a:prstGeom>
          <a:solidFill>
            <a:srgbClr val="FFF3CD"/>
          </a:solidFill>
          <a:ln w="254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65760" y="3703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C8860A"/>
                </a:solidFill>
              </a:rPr>
              <a:t>⚠️  CRITICAL MISTAKES WITH R²</a:t>
            </a:r>
            <a:endParaRPr lang="en-US" sz="1150"/>
          </a:p>
        </p:txBody>
      </p:sp>
      <p:sp>
        <p:nvSpPr>
          <p:cNvPr id="25" name="Text 22"/>
          <p:cNvSpPr/>
          <p:nvPr/>
        </p:nvSpPr>
        <p:spPr>
          <a:xfrm>
            <a:off x="365760" y="4005072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1. High R² ≠ Good model:  </a:t>
            </a:r>
            <a:r>
              <a:rPr lang="en-US" sz="1050">
                <a:solidFill>
                  <a:srgbClr val="64748B"/>
                </a:solidFill>
              </a:rPr>
              <a:t>You can get R²=0.98 by just adding useless variables (that's what Adjusted R² fixes).  </a:t>
            </a:r>
            <a:r>
              <a:rPr lang="en-US" sz="1050" b="1">
                <a:solidFill>
                  <a:srgbClr val="0D1B2A"/>
                </a:solidFill>
              </a:rPr>
              <a:t>2. In-sample vs Out-of-sample:  </a:t>
            </a:r>
            <a:r>
              <a:rPr lang="en-US" sz="1050">
                <a:solidFill>
                  <a:srgbClr val="64748B"/>
                </a:solidFill>
              </a:rPr>
              <a:t>Always test on unseen data. Futures models with in-sample R²=0.99 can be pure noise.  </a:t>
            </a:r>
            <a:r>
              <a:rPr lang="en-US" sz="1050" b="1">
                <a:solidFill>
                  <a:srgbClr val="0D1B2A"/>
                </a:solidFill>
              </a:rPr>
              <a:t>3. R² ignores direction of errors.</a:t>
            </a:r>
            <a:endParaRPr lang="en-US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When to Trust Beta — and When to Ignore It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A statistically significant Beta ≠ a large Beta. Understand p-values and standard errors.</a:t>
            </a:r>
            <a:endParaRPr lang="en-US" sz="1050"/>
          </a:p>
        </p:txBody>
      </p:sp>
      <p:sp>
        <p:nvSpPr>
          <p:cNvPr id="7" name="Shape 4"/>
          <p:cNvSpPr/>
          <p:nvPr/>
        </p:nvSpPr>
        <p:spPr>
          <a:xfrm>
            <a:off x="91440" y="1045956"/>
            <a:ext cx="4480560" cy="2651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10058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</a:rPr>
              <a:t>The Trust Framework</a:t>
            </a:r>
            <a:endParaRPr lang="en-US" sz="1300"/>
          </a:p>
        </p:txBody>
      </p:sp>
      <p:sp>
        <p:nvSpPr>
          <p:cNvPr id="9" name="Shape 6"/>
          <p:cNvSpPr/>
          <p:nvPr/>
        </p:nvSpPr>
        <p:spPr>
          <a:xfrm>
            <a:off x="274320" y="1371600"/>
            <a:ext cx="1005840" cy="38404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4320" y="13716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p &lt; 0.01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1371600" y="138988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High Confidence</a:t>
            </a:r>
            <a:endParaRPr lang="en-US" sz="1050"/>
          </a:p>
        </p:txBody>
      </p:sp>
      <p:sp>
        <p:nvSpPr>
          <p:cNvPr id="12" name="Text 9"/>
          <p:cNvSpPr/>
          <p:nvPr/>
        </p:nvSpPr>
        <p:spPr>
          <a:xfrm>
            <a:off x="1371600" y="155448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Trade on it. Beta is statistically very robust.</a:t>
            </a:r>
            <a:endParaRPr lang="en-US" sz="950"/>
          </a:p>
        </p:txBody>
      </p:sp>
      <p:sp>
        <p:nvSpPr>
          <p:cNvPr id="13" name="Shape 10"/>
          <p:cNvSpPr/>
          <p:nvPr/>
        </p:nvSpPr>
        <p:spPr>
          <a:xfrm>
            <a:off x="274320" y="1892808"/>
            <a:ext cx="1005840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4320" y="1892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p &lt; 0.05</a:t>
            </a:r>
            <a:endParaRPr lang="en-US" sz="1000"/>
          </a:p>
        </p:txBody>
      </p:sp>
      <p:sp>
        <p:nvSpPr>
          <p:cNvPr id="15" name="Text 12"/>
          <p:cNvSpPr/>
          <p:nvPr/>
        </p:nvSpPr>
        <p:spPr>
          <a:xfrm>
            <a:off x="1371600" y="19110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Standard</a:t>
            </a:r>
            <a:endParaRPr lang="en-US" sz="1050"/>
          </a:p>
        </p:txBody>
      </p:sp>
      <p:sp>
        <p:nvSpPr>
          <p:cNvPr id="16" name="Text 13"/>
          <p:cNvSpPr/>
          <p:nvPr/>
        </p:nvSpPr>
        <p:spPr>
          <a:xfrm>
            <a:off x="1371600" y="207568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Acceptable threshold. Monitor for regime changes.</a:t>
            </a:r>
            <a:endParaRPr lang="en-US" sz="950"/>
          </a:p>
        </p:txBody>
      </p:sp>
      <p:sp>
        <p:nvSpPr>
          <p:cNvPr id="17" name="Shape 14"/>
          <p:cNvSpPr/>
          <p:nvPr/>
        </p:nvSpPr>
        <p:spPr>
          <a:xfrm>
            <a:off x="274320" y="2414016"/>
            <a:ext cx="1005840" cy="38404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74320" y="24140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p &lt; 0.10</a:t>
            </a:r>
            <a:endParaRPr lang="en-US" sz="1000"/>
          </a:p>
        </p:txBody>
      </p:sp>
      <p:sp>
        <p:nvSpPr>
          <p:cNvPr id="19" name="Text 16"/>
          <p:cNvSpPr/>
          <p:nvPr/>
        </p:nvSpPr>
        <p:spPr>
          <a:xfrm>
            <a:off x="1371600" y="243230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Weak Signal</a:t>
            </a:r>
            <a:endParaRPr lang="en-US" sz="1050"/>
          </a:p>
        </p:txBody>
      </p:sp>
      <p:sp>
        <p:nvSpPr>
          <p:cNvPr id="20" name="Text 17"/>
          <p:cNvSpPr/>
          <p:nvPr/>
        </p:nvSpPr>
        <p:spPr>
          <a:xfrm>
            <a:off x="1371600" y="259689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Use only with strong fundamental backing.</a:t>
            </a:r>
            <a:endParaRPr lang="en-US" sz="950"/>
          </a:p>
        </p:txBody>
      </p:sp>
      <p:sp>
        <p:nvSpPr>
          <p:cNvPr id="21" name="Shape 18"/>
          <p:cNvSpPr/>
          <p:nvPr/>
        </p:nvSpPr>
        <p:spPr>
          <a:xfrm>
            <a:off x="274320" y="2935224"/>
            <a:ext cx="100584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74320" y="29352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p &gt; 0.10</a:t>
            </a:r>
            <a:endParaRPr lang="en-US" sz="1000"/>
          </a:p>
        </p:txBody>
      </p:sp>
      <p:sp>
        <p:nvSpPr>
          <p:cNvPr id="23" name="Text 20"/>
          <p:cNvSpPr/>
          <p:nvPr/>
        </p:nvSpPr>
        <p:spPr>
          <a:xfrm>
            <a:off x="1371600" y="29535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❌ Ignore</a:t>
            </a:r>
            <a:endParaRPr lang="en-US" sz="1050"/>
          </a:p>
        </p:txBody>
      </p:sp>
      <p:sp>
        <p:nvSpPr>
          <p:cNvPr id="24" name="Text 21"/>
          <p:cNvSpPr/>
          <p:nvPr/>
        </p:nvSpPr>
        <p:spPr>
          <a:xfrm>
            <a:off x="1371600" y="311810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Beta is noise. Do NOT use as hedge ratio or signal.</a:t>
            </a:r>
            <a:endParaRPr lang="en-US" sz="950"/>
          </a:p>
        </p:txBody>
      </p:sp>
      <p:sp>
        <p:nvSpPr>
          <p:cNvPr id="25" name="Shape 22"/>
          <p:cNvSpPr/>
          <p:nvPr/>
        </p:nvSpPr>
        <p:spPr>
          <a:xfrm>
            <a:off x="182880" y="3749040"/>
            <a:ext cx="8778240" cy="1097280"/>
          </a:xfrm>
          <a:prstGeom prst="rect">
            <a:avLst/>
          </a:prstGeom>
          <a:solidFill>
            <a:srgbClr val="FEF2F2"/>
          </a:solidFill>
          <a:ln w="25400">
            <a:solidFill>
              <a:srgbClr val="E6394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20040" y="37947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27" name="Text 24"/>
          <p:cNvSpPr/>
          <p:nvPr/>
        </p:nvSpPr>
        <p:spPr>
          <a:xfrm>
            <a:off x="320040" y="409651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Multicollinearity: </a:t>
            </a:r>
            <a:r>
              <a:rPr lang="en-US" sz="1050">
                <a:solidFill>
                  <a:srgbClr val="64748B"/>
                </a:solidFill>
              </a:rPr>
              <a:t>When X variables are correlated, individual Betas become unreliable even with high R². The sign can flip! </a:t>
            </a:r>
          </a:p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b="1">
                <a:solidFill>
                  <a:srgbClr val="0D1B2A"/>
                </a:solidFill>
              </a:rPr>
              <a:t>Non-stationarity: </a:t>
            </a:r>
            <a:r>
              <a:rPr lang="en-US" sz="1050">
                <a:solidFill>
                  <a:srgbClr val="64748B"/>
                </a:solidFill>
              </a:rPr>
              <a:t>In futures, relationships shift with term structure, carry, and regime. A Beta from 2019 may be of no use in 2024</a:t>
            </a:r>
          </a:p>
          <a:p>
            <a:pPr marL="0" indent="0">
              <a:buNone/>
            </a:pPr>
            <a:endParaRPr lang="en-US" sz="10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3C99D6-CE74-8565-4136-1057946BA6B0}"/>
              </a:ext>
            </a:extLst>
          </p:cNvPr>
          <p:cNvSpPr txBox="1"/>
          <p:nvPr/>
        </p:nvSpPr>
        <p:spPr>
          <a:xfrm>
            <a:off x="4815348" y="1507386"/>
            <a:ext cx="39171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You should check:</a:t>
            </a:r>
          </a:p>
          <a:p>
            <a:pPr>
              <a:buFont typeface="+mj-lt"/>
              <a:buAutoNum type="arabicPeriod"/>
            </a:pPr>
            <a:r>
              <a:rPr lang="en-US"/>
              <a:t>Is it statistically significant? (p-value) </a:t>
            </a:r>
          </a:p>
          <a:p>
            <a:pPr>
              <a:buFont typeface="+mj-lt"/>
              <a:buAutoNum type="arabicPeriod"/>
            </a:pPr>
            <a:r>
              <a:rPr lang="en-US"/>
              <a:t>Is it stable? (multicollinearity?) </a:t>
            </a:r>
          </a:p>
          <a:p>
            <a:pPr>
              <a:buFont typeface="+mj-lt"/>
              <a:buAutoNum type="arabicPeriod"/>
            </a:pPr>
            <a:r>
              <a:rPr lang="en-US"/>
              <a:t>Is it meaningful in size? (β magnitude) </a:t>
            </a:r>
          </a:p>
          <a:p>
            <a:pPr>
              <a:buFont typeface="+mj-lt"/>
              <a:buAutoNum type="arabicPeriod"/>
            </a:pPr>
            <a:r>
              <a:rPr lang="en-US"/>
              <a:t>Does the model explain enough? (R²)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The Intercept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Ignoring the intercept forces your model through zero — and warps your Beta.</a:t>
            </a:r>
            <a:endParaRPr lang="en-US" sz="105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87552"/>
            <a:ext cx="521208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987552"/>
            <a:ext cx="3383280" cy="1280160"/>
          </a:xfrm>
          <a:prstGeom prst="rect">
            <a:avLst/>
          </a:prstGeom>
          <a:solidFill>
            <a:srgbClr val="EFF6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15000" y="10332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What the Intercept IS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5715000" y="13258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The intercept (α) captures the baseline level of Y when ALL predictors = 0. In trading: it is the structural premium or discount that exists independently of the factor.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5577840" y="2331720"/>
            <a:ext cx="3383280" cy="1417320"/>
          </a:xfrm>
          <a:prstGeom prst="rect">
            <a:avLst/>
          </a:prstGeom>
          <a:solidFill>
            <a:srgbClr val="FFFBEB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15000" y="2377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8860A"/>
                </a:solidFill>
              </a:rPr>
              <a:t>The Intercept Trap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5715000" y="267004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If you suppress the intercept (force α=0), the model compensates by inflating or deflating β. You'll get a wrong hedge ratio and wrong fair value for your spread.</a:t>
            </a:r>
            <a:endParaRPr lang="en-US" sz="1050"/>
          </a:p>
        </p:txBody>
      </p:sp>
      <p:sp>
        <p:nvSpPr>
          <p:cNvPr id="13" name="Shape 10"/>
          <p:cNvSpPr/>
          <p:nvPr/>
        </p:nvSpPr>
        <p:spPr>
          <a:xfrm>
            <a:off x="182880" y="3794760"/>
            <a:ext cx="8778240" cy="1097280"/>
          </a:xfrm>
          <a:prstGeom prst="rect">
            <a:avLst/>
          </a:prstGeom>
          <a:solidFill>
            <a:srgbClr val="F0FDF4"/>
          </a:solidFill>
          <a:ln w="25400">
            <a:solidFill>
              <a:srgbClr val="2DC65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0040" y="38404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DC653"/>
                </a:solidFill>
              </a:rPr>
              <a:t>✅  Practical Rule for Spread Trading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320040" y="413308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Always include intercept. </a:t>
            </a:r>
            <a:r>
              <a:rPr lang="en-US" sz="1050">
                <a:solidFill>
                  <a:srgbClr val="64748B"/>
                </a:solidFill>
              </a:rPr>
              <a:t>Example: Brent–WTI spread.  If you regress Brent on WTI WITHOUT intercept, β absorbs the quality premium. Your hedge ratio becomes too high.  With intercept: α = quality premium (stable), β = co-movement sensitivity (your real hedge ratio).  Alpha IS the fair spread. If observed spread &gt;&gt; α, it's rich; if &lt;&lt; α, it's cheap.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Fair Value of Spread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Regression gives you the theoretical fair value.</a:t>
            </a:r>
            <a:endParaRPr lang="en-US" sz="105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87552"/>
            <a:ext cx="585216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987552"/>
            <a:ext cx="2788920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91072" y="1033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The Framework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6291072" y="1389888"/>
            <a:ext cx="292608" cy="29260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91072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</a:rPr>
              <a:t>1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6656832" y="139903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Regress Spread on Factor</a:t>
            </a:r>
            <a:endParaRPr lang="en-US" sz="1050"/>
          </a:p>
        </p:txBody>
      </p:sp>
      <p:sp>
        <p:nvSpPr>
          <p:cNvPr id="12" name="Text 9"/>
          <p:cNvSpPr/>
          <p:nvPr/>
        </p:nvSpPr>
        <p:spPr>
          <a:xfrm>
            <a:off x="6656832" y="15727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</a:rPr>
              <a:t>Spread = α + β·Factor + ε</a:t>
            </a:r>
            <a:endParaRPr lang="en-US" sz="950"/>
          </a:p>
        </p:txBody>
      </p:sp>
      <p:sp>
        <p:nvSpPr>
          <p:cNvPr id="13" name="Shape 10"/>
          <p:cNvSpPr/>
          <p:nvPr/>
        </p:nvSpPr>
        <p:spPr>
          <a:xfrm>
            <a:off x="6291072" y="1984248"/>
            <a:ext cx="292608" cy="29260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291072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</a:rPr>
              <a:t>2</a:t>
            </a:r>
            <a:endParaRPr lang="en-US" sz="1000"/>
          </a:p>
        </p:txBody>
      </p:sp>
      <p:sp>
        <p:nvSpPr>
          <p:cNvPr id="15" name="Text 12"/>
          <p:cNvSpPr/>
          <p:nvPr/>
        </p:nvSpPr>
        <p:spPr>
          <a:xfrm>
            <a:off x="6656832" y="199339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Compute Fair Value</a:t>
            </a:r>
            <a:endParaRPr lang="en-US" sz="1050"/>
          </a:p>
        </p:txBody>
      </p:sp>
      <p:sp>
        <p:nvSpPr>
          <p:cNvPr id="16" name="Text 13"/>
          <p:cNvSpPr/>
          <p:nvPr/>
        </p:nvSpPr>
        <p:spPr>
          <a:xfrm>
            <a:off x="6656832" y="21671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</a:rPr>
              <a:t>FV = α̂ + β̂·Factor (in-sample fitted line)</a:t>
            </a:r>
            <a:endParaRPr lang="en-US" sz="950"/>
          </a:p>
        </p:txBody>
      </p:sp>
      <p:sp>
        <p:nvSpPr>
          <p:cNvPr id="17" name="Shape 14"/>
          <p:cNvSpPr/>
          <p:nvPr/>
        </p:nvSpPr>
        <p:spPr>
          <a:xfrm>
            <a:off x="6291072" y="2578608"/>
            <a:ext cx="292608" cy="29260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91072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</a:rPr>
              <a:t>3</a:t>
            </a:r>
            <a:endParaRPr lang="en-US" sz="1000"/>
          </a:p>
        </p:txBody>
      </p:sp>
      <p:sp>
        <p:nvSpPr>
          <p:cNvPr id="19" name="Text 16"/>
          <p:cNvSpPr/>
          <p:nvPr/>
        </p:nvSpPr>
        <p:spPr>
          <a:xfrm>
            <a:off x="6656832" y="258775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Compute Residual</a:t>
            </a:r>
            <a:endParaRPr lang="en-US" sz="1050"/>
          </a:p>
        </p:txBody>
      </p:sp>
      <p:sp>
        <p:nvSpPr>
          <p:cNvPr id="20" name="Text 17"/>
          <p:cNvSpPr/>
          <p:nvPr/>
        </p:nvSpPr>
        <p:spPr>
          <a:xfrm>
            <a:off x="6656832" y="27614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</a:rPr>
              <a:t>Residual = Spread − Fair Value = ε</a:t>
            </a:r>
            <a:endParaRPr lang="en-US" sz="950"/>
          </a:p>
        </p:txBody>
      </p:sp>
      <p:sp>
        <p:nvSpPr>
          <p:cNvPr id="21" name="Shape 18"/>
          <p:cNvSpPr/>
          <p:nvPr/>
        </p:nvSpPr>
        <p:spPr>
          <a:xfrm>
            <a:off x="6291072" y="3172968"/>
            <a:ext cx="292608" cy="29260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291072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</a:rPr>
              <a:t>4</a:t>
            </a:r>
            <a:endParaRPr lang="en-US" sz="1000"/>
          </a:p>
        </p:txBody>
      </p:sp>
      <p:sp>
        <p:nvSpPr>
          <p:cNvPr id="23" name="Text 20"/>
          <p:cNvSpPr/>
          <p:nvPr/>
        </p:nvSpPr>
        <p:spPr>
          <a:xfrm>
            <a:off x="6656832" y="318211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Trade the Mean Reversion</a:t>
            </a:r>
            <a:endParaRPr lang="en-US" sz="1050"/>
          </a:p>
        </p:txBody>
      </p:sp>
      <p:sp>
        <p:nvSpPr>
          <p:cNvPr id="24" name="Text 21"/>
          <p:cNvSpPr/>
          <p:nvPr/>
        </p:nvSpPr>
        <p:spPr>
          <a:xfrm>
            <a:off x="6656832" y="33558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</a:rPr>
              <a:t>Long when ε &lt;&lt; 0, Short when ε &gt;&gt; 0</a:t>
            </a:r>
            <a:endParaRPr lang="en-US" sz="950"/>
          </a:p>
        </p:txBody>
      </p:sp>
      <p:sp>
        <p:nvSpPr>
          <p:cNvPr id="25" name="Shape 22"/>
          <p:cNvSpPr/>
          <p:nvPr/>
        </p:nvSpPr>
        <p:spPr>
          <a:xfrm>
            <a:off x="182880" y="3801544"/>
            <a:ext cx="8778240" cy="1005840"/>
          </a:xfrm>
          <a:prstGeom prst="rect">
            <a:avLst/>
          </a:prstGeom>
          <a:solidFill>
            <a:srgbClr val="EFF6FF"/>
          </a:solidFill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03209" y="41148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B6CA8"/>
                </a:solidFill>
              </a:rPr>
              <a:t>  Key Insight:</a:t>
            </a:r>
            <a:endParaRPr lang="en-US" sz="1050"/>
          </a:p>
        </p:txBody>
      </p:sp>
      <p:sp>
        <p:nvSpPr>
          <p:cNvPr id="27" name="Text 24"/>
          <p:cNvSpPr/>
          <p:nvPr/>
        </p:nvSpPr>
        <p:spPr>
          <a:xfrm>
            <a:off x="1554480" y="3913632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β gives the hedge ratio (how much of Asset B to short against Asset A). α gives the fair spread level. The residual (ε) is your signal. Z-score the residuals over a rolling window to normalize entry/exit thresholds. Entry: z &gt; ±2. Exit: z → 0. Stop: z &gt; ±3 (model may have broken).</a:t>
            </a:r>
            <a:endParaRPr lang="en-US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OLS Assumptions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Regression is powerful when assumptions hold. 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429768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0292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1005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>
                <a:solidFill>
                  <a:srgbClr val="F0A500"/>
                </a:solidFill>
              </a:rPr>
              <a:t>1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1828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777240" y="1051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Linearity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777240" y="13441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66534"/>
                </a:solidFill>
              </a:rPr>
              <a:t>✅ Y truly has a linear relationship with X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777240" y="160934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63946"/>
                </a:solidFill>
              </a:rPr>
              <a:t>❌ Non-linear relationship → use polynomial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29768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50292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005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>
                <a:solidFill>
                  <a:srgbClr val="F0A500"/>
                </a:solidFill>
              </a:rPr>
              <a:t>2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46634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5257800" y="1051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No Autocorrelation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257800" y="13441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>
                <a:solidFill>
                  <a:srgbClr val="166534"/>
                </a:solidFill>
              </a:rPr>
              <a:t>✅ </a:t>
            </a:r>
            <a:r>
              <a:rPr lang="en-US" sz="900"/>
              <a:t>Errors shouldn't show repeating patterns, especially in time-based data.</a:t>
            </a:r>
          </a:p>
        </p:txBody>
      </p:sp>
      <p:sp>
        <p:nvSpPr>
          <p:cNvPr id="19" name="Text 17"/>
          <p:cNvSpPr/>
          <p:nvPr/>
        </p:nvSpPr>
        <p:spPr>
          <a:xfrm>
            <a:off x="5257800" y="160934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182880" y="2267712"/>
            <a:ext cx="429768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82880" y="2267712"/>
            <a:ext cx="50292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2880" y="2267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>
                <a:solidFill>
                  <a:srgbClr val="F0A500"/>
                </a:solidFill>
              </a:rPr>
              <a:t>3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182880" y="2724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777240" y="2313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Homoscedasticity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77240" y="2606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66534"/>
                </a:solidFill>
              </a:rPr>
              <a:t>✅ Residual variance is constant across all X values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777240" y="287121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4663440" y="2267712"/>
            <a:ext cx="429768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2267712"/>
            <a:ext cx="50292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2267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>
                <a:solidFill>
                  <a:srgbClr val="F0A500"/>
                </a:solidFill>
              </a:rPr>
              <a:t>4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4663440" y="2724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5257800" y="2313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Normality of Errors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5257800" y="2606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66534"/>
                </a:solidFill>
              </a:rPr>
              <a:t>✅ Residuals are normally distributed</a:t>
            </a:r>
            <a:endParaRPr lang="en-US" sz="950"/>
          </a:p>
        </p:txBody>
      </p:sp>
      <p:sp>
        <p:nvSpPr>
          <p:cNvPr id="33" name="Text 31"/>
          <p:cNvSpPr/>
          <p:nvPr/>
        </p:nvSpPr>
        <p:spPr>
          <a:xfrm>
            <a:off x="5257800" y="287121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182880" y="3529584"/>
            <a:ext cx="429768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82880" y="3529584"/>
            <a:ext cx="50292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82880" y="35295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>
                <a:solidFill>
                  <a:srgbClr val="F0A500"/>
                </a:solidFill>
              </a:rPr>
              <a:t>5</a:t>
            </a:r>
            <a:endParaRPr lang="en-US" sz="1400"/>
          </a:p>
        </p:txBody>
      </p:sp>
      <p:sp>
        <p:nvSpPr>
          <p:cNvPr id="37" name="Text 35"/>
          <p:cNvSpPr/>
          <p:nvPr/>
        </p:nvSpPr>
        <p:spPr>
          <a:xfrm>
            <a:off x="18288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/>
          </a:p>
        </p:txBody>
      </p:sp>
      <p:sp>
        <p:nvSpPr>
          <p:cNvPr id="38" name="Text 36"/>
          <p:cNvSpPr/>
          <p:nvPr/>
        </p:nvSpPr>
        <p:spPr>
          <a:xfrm>
            <a:off x="777240" y="3575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No Multicollinearity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777240" y="38679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66534"/>
                </a:solidFill>
              </a:rPr>
              <a:t> X variables are not highly correlated</a:t>
            </a:r>
            <a:endParaRPr lang="en-US" sz="950"/>
          </a:p>
        </p:txBody>
      </p:sp>
      <p:sp>
        <p:nvSpPr>
          <p:cNvPr id="40" name="Text 38"/>
          <p:cNvSpPr/>
          <p:nvPr/>
        </p:nvSpPr>
        <p:spPr>
          <a:xfrm>
            <a:off x="777240" y="41330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4663440" y="3529584"/>
            <a:ext cx="429768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63440" y="3529584"/>
            <a:ext cx="50292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63440" y="35295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>
                <a:solidFill>
                  <a:srgbClr val="F0A500"/>
                </a:solidFill>
              </a:rPr>
              <a:t>6</a:t>
            </a:r>
            <a:endParaRPr lang="en-US" sz="1400"/>
          </a:p>
        </p:txBody>
      </p:sp>
      <p:sp>
        <p:nvSpPr>
          <p:cNvPr id="44" name="Text 42"/>
          <p:cNvSpPr/>
          <p:nvPr/>
        </p:nvSpPr>
        <p:spPr>
          <a:xfrm>
            <a:off x="466344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↔️</a:t>
            </a:r>
            <a:endParaRPr lang="en-US" sz="1600"/>
          </a:p>
        </p:txBody>
      </p:sp>
      <p:sp>
        <p:nvSpPr>
          <p:cNvPr id="45" name="Text 43"/>
          <p:cNvSpPr/>
          <p:nvPr/>
        </p:nvSpPr>
        <p:spPr>
          <a:xfrm>
            <a:off x="5257800" y="3575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No Endogeneity</a:t>
            </a:r>
            <a:endParaRPr lang="en-US" sz="1200"/>
          </a:p>
        </p:txBody>
      </p:sp>
      <p:sp>
        <p:nvSpPr>
          <p:cNvPr id="46" name="Text 44"/>
          <p:cNvSpPr/>
          <p:nvPr/>
        </p:nvSpPr>
        <p:spPr>
          <a:xfrm>
            <a:off x="5257800" y="38679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66534"/>
                </a:solidFill>
              </a:rPr>
              <a:t> X is not correlated with the error term</a:t>
            </a:r>
            <a:endParaRPr lang="en-US" sz="950"/>
          </a:p>
        </p:txBody>
      </p:sp>
      <p:sp>
        <p:nvSpPr>
          <p:cNvPr id="47" name="Text 45"/>
          <p:cNvSpPr/>
          <p:nvPr/>
        </p:nvSpPr>
        <p:spPr>
          <a:xfrm>
            <a:off x="5257800" y="41330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63946"/>
                </a:solidFill>
              </a:rPr>
              <a:t> Causation is reverse or bidirectional → instrumental variables</a:t>
            </a:r>
            <a:endParaRPr lang="en-US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236615-E25B-8C5E-F208-B7FAF0490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36D6BF-0B55-D9FF-B0AF-D60C54EF5F3F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79718A-2E80-258E-FC50-D26826A72345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1. Linearity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20F2B2B-4DBD-354A-8623-1EBE458D4421}"/>
              </a:ext>
            </a:extLst>
          </p:cNvPr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724AEDC-0D1D-A9F9-1F9C-F5895B2DC994}"/>
              </a:ext>
            </a:extLst>
          </p:cNvPr>
          <p:cNvSpPr/>
          <p:nvPr/>
        </p:nvSpPr>
        <p:spPr>
          <a:xfrm>
            <a:off x="6236208" y="138988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4CC9FAA-B430-2EBE-509A-BA84C0EFB615}"/>
              </a:ext>
            </a:extLst>
          </p:cNvPr>
          <p:cNvSpPr/>
          <p:nvPr/>
        </p:nvSpPr>
        <p:spPr>
          <a:xfrm>
            <a:off x="6236208" y="162763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0566879-790B-A6B4-3C33-6C012000331D}"/>
              </a:ext>
            </a:extLst>
          </p:cNvPr>
          <p:cNvSpPr/>
          <p:nvPr/>
        </p:nvSpPr>
        <p:spPr>
          <a:xfrm>
            <a:off x="5943600" y="1984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!</a:t>
            </a:r>
            <a:endParaRPr lang="en-US" sz="11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CAB8ACD-6ADB-19F2-39F7-5F5995575870}"/>
              </a:ext>
            </a:extLst>
          </p:cNvPr>
          <p:cNvSpPr/>
          <p:nvPr/>
        </p:nvSpPr>
        <p:spPr>
          <a:xfrm>
            <a:off x="6236208" y="198424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ECC1615-CA41-BF2D-9B97-E934E6CCE172}"/>
              </a:ext>
            </a:extLst>
          </p:cNvPr>
          <p:cNvSpPr/>
          <p:nvPr/>
        </p:nvSpPr>
        <p:spPr>
          <a:xfrm>
            <a:off x="6236208" y="222199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4FAC549-40DB-0C8F-1913-41F03D392A15}"/>
              </a:ext>
            </a:extLst>
          </p:cNvPr>
          <p:cNvSpPr/>
          <p:nvPr/>
        </p:nvSpPr>
        <p:spPr>
          <a:xfrm>
            <a:off x="5943600" y="2578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2BA825F-A598-0D6A-C3F1-246785152F6A}"/>
              </a:ext>
            </a:extLst>
          </p:cNvPr>
          <p:cNvSpPr/>
          <p:nvPr/>
        </p:nvSpPr>
        <p:spPr>
          <a:xfrm>
            <a:off x="6236208" y="257860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F604C82-5DD7-4744-0AC8-E17218AAC177}"/>
              </a:ext>
            </a:extLst>
          </p:cNvPr>
          <p:cNvSpPr/>
          <p:nvPr/>
        </p:nvSpPr>
        <p:spPr>
          <a:xfrm>
            <a:off x="6236208" y="281635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C4723DA-48C2-0341-183D-AFCC2F9E37BC}"/>
              </a:ext>
            </a:extLst>
          </p:cNvPr>
          <p:cNvSpPr/>
          <p:nvPr/>
        </p:nvSpPr>
        <p:spPr>
          <a:xfrm>
            <a:off x="5943600" y="3172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826BE37-DA2A-8A4C-A530-C5474DD2C49D}"/>
              </a:ext>
            </a:extLst>
          </p:cNvPr>
          <p:cNvSpPr/>
          <p:nvPr/>
        </p:nvSpPr>
        <p:spPr>
          <a:xfrm>
            <a:off x="6236208" y="317296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A17E4F0-CDAD-EBF3-1DB1-44577F2C857B}"/>
              </a:ext>
            </a:extLst>
          </p:cNvPr>
          <p:cNvSpPr/>
          <p:nvPr/>
        </p:nvSpPr>
        <p:spPr>
          <a:xfrm>
            <a:off x="6236208" y="341071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F51FA53-8493-70F7-E8D3-431ED54C2102}"/>
              </a:ext>
            </a:extLst>
          </p:cNvPr>
          <p:cNvSpPr/>
          <p:nvPr/>
        </p:nvSpPr>
        <p:spPr>
          <a:xfrm>
            <a:off x="320040" y="395935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FEE67CD-6DA4-F00F-C06E-5736BAE8DEFA}"/>
              </a:ext>
            </a:extLst>
          </p:cNvPr>
          <p:cNvSpPr/>
          <p:nvPr/>
        </p:nvSpPr>
        <p:spPr>
          <a:xfrm>
            <a:off x="320040" y="423367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442452-5F11-9190-0B85-2F71AD867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76" y="1371600"/>
            <a:ext cx="3526446" cy="30528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965FC6-B934-A747-5BF1-A017277F8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864" y="1268361"/>
            <a:ext cx="4906060" cy="296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107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7354D-51FF-C624-D014-ACA8AC28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044319-374C-1768-ADAA-48753E0854B3}"/>
              </a:ext>
            </a:extLst>
          </p:cNvPr>
          <p:cNvSpPr/>
          <p:nvPr/>
        </p:nvSpPr>
        <p:spPr>
          <a:xfrm>
            <a:off x="0" y="9144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711203-0AED-5551-293B-D2C2A2A4CBE8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chemeClr val="bg1"/>
                </a:solidFill>
              </a:rPr>
              <a:t>2. </a:t>
            </a:r>
            <a:r>
              <a:rPr lang="en-US" b="1">
                <a:solidFill>
                  <a:schemeClr val="bg1"/>
                </a:solidFill>
              </a:rPr>
              <a:t>Constant Variance (Homoscedasticity):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0D0F31-A16D-C802-C484-778755712BB7}"/>
              </a:ext>
            </a:extLst>
          </p:cNvPr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2F7EE92-28F3-26E6-C57A-1B669500EA4B}"/>
              </a:ext>
            </a:extLst>
          </p:cNvPr>
          <p:cNvSpPr/>
          <p:nvPr/>
        </p:nvSpPr>
        <p:spPr>
          <a:xfrm>
            <a:off x="6236208" y="138988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9DD2D9-A76B-0CF3-4AA2-78A865B7ADD4}"/>
              </a:ext>
            </a:extLst>
          </p:cNvPr>
          <p:cNvSpPr/>
          <p:nvPr/>
        </p:nvSpPr>
        <p:spPr>
          <a:xfrm>
            <a:off x="6236208" y="162763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1C23FB4-AA58-452A-38A2-13A489F5F019}"/>
              </a:ext>
            </a:extLst>
          </p:cNvPr>
          <p:cNvSpPr/>
          <p:nvPr/>
        </p:nvSpPr>
        <p:spPr>
          <a:xfrm>
            <a:off x="5943600" y="1984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!</a:t>
            </a:r>
            <a:endParaRPr lang="en-US" sz="11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D3BDE13-F3FF-61F9-A072-65972F229BC4}"/>
              </a:ext>
            </a:extLst>
          </p:cNvPr>
          <p:cNvSpPr/>
          <p:nvPr/>
        </p:nvSpPr>
        <p:spPr>
          <a:xfrm>
            <a:off x="6236208" y="198424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CD6A756-D438-C9E2-D866-34C75428B22B}"/>
              </a:ext>
            </a:extLst>
          </p:cNvPr>
          <p:cNvSpPr/>
          <p:nvPr/>
        </p:nvSpPr>
        <p:spPr>
          <a:xfrm>
            <a:off x="6236208" y="222199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64CBDCF-D307-521D-A10A-F641C8D1B665}"/>
              </a:ext>
            </a:extLst>
          </p:cNvPr>
          <p:cNvSpPr/>
          <p:nvPr/>
        </p:nvSpPr>
        <p:spPr>
          <a:xfrm>
            <a:off x="5943600" y="2578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0C1C15A-FFA8-C52B-C4D3-6BE490DA6413}"/>
              </a:ext>
            </a:extLst>
          </p:cNvPr>
          <p:cNvSpPr/>
          <p:nvPr/>
        </p:nvSpPr>
        <p:spPr>
          <a:xfrm>
            <a:off x="6236208" y="257860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85030F7-B060-9E4A-400C-719FD7F3BD5E}"/>
              </a:ext>
            </a:extLst>
          </p:cNvPr>
          <p:cNvSpPr/>
          <p:nvPr/>
        </p:nvSpPr>
        <p:spPr>
          <a:xfrm>
            <a:off x="6236208" y="281635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A469262F-9A7A-92BA-DA84-4425F3DD5B27}"/>
              </a:ext>
            </a:extLst>
          </p:cNvPr>
          <p:cNvSpPr/>
          <p:nvPr/>
        </p:nvSpPr>
        <p:spPr>
          <a:xfrm>
            <a:off x="5943600" y="3172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F0DBDD6-FC90-B058-7BAE-5380550C499E}"/>
              </a:ext>
            </a:extLst>
          </p:cNvPr>
          <p:cNvSpPr/>
          <p:nvPr/>
        </p:nvSpPr>
        <p:spPr>
          <a:xfrm>
            <a:off x="6236208" y="317296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966C8A51-58F6-07FD-3159-42626F3EA208}"/>
              </a:ext>
            </a:extLst>
          </p:cNvPr>
          <p:cNvSpPr/>
          <p:nvPr/>
        </p:nvSpPr>
        <p:spPr>
          <a:xfrm>
            <a:off x="6236208" y="341071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6903C5D-285E-A0CC-9E80-3580DFFDED66}"/>
              </a:ext>
            </a:extLst>
          </p:cNvPr>
          <p:cNvSpPr/>
          <p:nvPr/>
        </p:nvSpPr>
        <p:spPr>
          <a:xfrm>
            <a:off x="320040" y="395935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598E7F90-ADDD-036B-6DD2-C504E22CCAB6}"/>
              </a:ext>
            </a:extLst>
          </p:cNvPr>
          <p:cNvSpPr/>
          <p:nvPr/>
        </p:nvSpPr>
        <p:spPr>
          <a:xfrm>
            <a:off x="320040" y="423367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5A48D0-B47F-4F20-DB93-668705208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010633"/>
            <a:ext cx="2895056" cy="39223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807E45-F0E6-C2D2-3868-C90E4B0A1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492" y="1010633"/>
            <a:ext cx="5727128" cy="392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634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Multiple Linear Regression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ŷ = α + β₁X₁ + β₂X₂ + … + βₙXₙ   |   More factors, more complexity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41295" y="969264"/>
            <a:ext cx="7952331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5007" y="11018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</a:rPr>
              <a:t>The Model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2007993" y="1495339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B6CA8"/>
                </a:solidFill>
              </a:rPr>
              <a:t>ŷ = α + β₁X₁ + β₂X₂ + … + βₙXₙ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320039" y="1783080"/>
            <a:ext cx="717214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</a:rPr>
              <a:t>Each β is a PARTIAL coefficient — the effect of Xᵢ on Y, holding all other X variables constant. This is crucial: β₁ in multiple regression is NOT the same as β in simple regression if X₁ is correlated with other Xs.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502920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5029200" y="13898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sp>
        <p:nvSpPr>
          <p:cNvPr id="14" name="Shape 11"/>
          <p:cNvSpPr/>
          <p:nvPr/>
        </p:nvSpPr>
        <p:spPr>
          <a:xfrm>
            <a:off x="182880" y="3337560"/>
            <a:ext cx="2834640" cy="1463040"/>
          </a:xfrm>
          <a:prstGeom prst="rect">
            <a:avLst/>
          </a:prstGeom>
          <a:solidFill>
            <a:srgbClr val="EFF6FF"/>
          </a:solidFill>
          <a:ln w="15240">
            <a:solidFill>
              <a:srgbClr val="1B6C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82880" y="3337560"/>
            <a:ext cx="283464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74320" y="3447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</a:rPr>
              <a:t>Adjusted R²</a:t>
            </a:r>
            <a:endParaRPr lang="en-US" sz="1150"/>
          </a:p>
        </p:txBody>
      </p:sp>
      <p:sp>
        <p:nvSpPr>
          <p:cNvPr id="17" name="Text 14"/>
          <p:cNvSpPr/>
          <p:nvPr/>
        </p:nvSpPr>
        <p:spPr>
          <a:xfrm>
            <a:off x="274320" y="3749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Use this instead of R². Adding variables always increases R² but Adj-R² penalizes for each added predictor.</a:t>
            </a:r>
            <a:endParaRPr lang="en-US" sz="1050"/>
          </a:p>
        </p:txBody>
      </p:sp>
      <p:sp>
        <p:nvSpPr>
          <p:cNvPr id="18" name="Shape 15"/>
          <p:cNvSpPr/>
          <p:nvPr/>
        </p:nvSpPr>
        <p:spPr>
          <a:xfrm>
            <a:off x="3172968" y="3337560"/>
            <a:ext cx="2834640" cy="1463040"/>
          </a:xfrm>
          <a:prstGeom prst="rect">
            <a:avLst/>
          </a:prstGeom>
          <a:solidFill>
            <a:srgbClr val="EFF6FF"/>
          </a:solidFill>
          <a:ln w="15240">
            <a:solidFill>
              <a:srgbClr val="1B6C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172968" y="3337560"/>
            <a:ext cx="283464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264408" y="3447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</a:rPr>
              <a:t>Multicollinearity</a:t>
            </a:r>
            <a:endParaRPr lang="en-US" sz="1150"/>
          </a:p>
        </p:txBody>
      </p:sp>
      <p:sp>
        <p:nvSpPr>
          <p:cNvPr id="21" name="Text 18"/>
          <p:cNvSpPr/>
          <p:nvPr/>
        </p:nvSpPr>
        <p:spPr>
          <a:xfrm>
            <a:off x="3264408" y="3749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Compute VIF (Variance Inflation Factor). VIF &gt; 10 = danger. Correlated factors make individual Betas meaningless.</a:t>
            </a:r>
            <a:endParaRPr lang="en-US" sz="1050"/>
          </a:p>
        </p:txBody>
      </p:sp>
      <p:sp>
        <p:nvSpPr>
          <p:cNvPr id="25" name="Text 22"/>
          <p:cNvSpPr/>
          <p:nvPr/>
        </p:nvSpPr>
        <p:spPr>
          <a:xfrm>
            <a:off x="6254496" y="3749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Polynomial Regression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ŷ = α + β₁X + β₂X² + β₃X³   |   Non-linear relationships, linear estimation</a:t>
            </a:r>
            <a:endParaRPr lang="en-US" sz="105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87552"/>
            <a:ext cx="539496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987552"/>
            <a:ext cx="32461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52160" y="10332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D1B2A"/>
                </a:solidFill>
              </a:rPr>
              <a:t>Why Use It?</a:t>
            </a:r>
            <a:endParaRPr lang="en-US" sz="1250"/>
          </a:p>
        </p:txBody>
      </p:sp>
      <p:sp>
        <p:nvSpPr>
          <p:cNvPr id="9" name="Text 6"/>
          <p:cNvSpPr/>
          <p:nvPr/>
        </p:nvSpPr>
        <p:spPr>
          <a:xfrm>
            <a:off x="5852160" y="1325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Many relationships in derivatives and commodities are non-linear: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• Carry vs term structure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• Option delta vs money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• Price impact (concave curve)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5715000" y="2423160"/>
            <a:ext cx="32461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5216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D1B2A"/>
                </a:solidFill>
              </a:rPr>
              <a:t>Degree Selection</a:t>
            </a:r>
            <a:endParaRPr lang="en-US" sz="1250"/>
          </a:p>
        </p:txBody>
      </p:sp>
      <p:sp>
        <p:nvSpPr>
          <p:cNvPr id="12" name="Text 9"/>
          <p:cNvSpPr/>
          <p:nvPr/>
        </p:nvSpPr>
        <p:spPr>
          <a:xfrm>
            <a:off x="5852160" y="276148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0000"/>
                </a:solidFill>
              </a:rPr>
              <a:t>Degree 1: </a:t>
            </a:r>
            <a:r>
              <a:rPr lang="en-US" sz="1050">
                <a:solidFill>
                  <a:srgbClr val="64748B"/>
                </a:solidFill>
              </a:rPr>
              <a:t>Linear baseline
</a:t>
            </a:r>
            <a:r>
              <a:rPr lang="en-US" sz="1050" b="1">
                <a:solidFill>
                  <a:srgbClr val="000000"/>
                </a:solidFill>
              </a:rPr>
              <a:t>Degree 2: Quadratic, </a:t>
            </a:r>
            <a:r>
              <a:rPr lang="en-US" sz="1050">
                <a:solidFill>
                  <a:srgbClr val="64748B"/>
                </a:solidFill>
              </a:rPr>
              <a:t>U-shape, vol surface
</a:t>
            </a:r>
            <a:r>
              <a:rPr lang="en-US" sz="1050" b="1">
                <a:solidFill>
                  <a:srgbClr val="000000"/>
                </a:solidFill>
              </a:rPr>
              <a:t>Degree 3: Cubic, </a:t>
            </a:r>
            <a:r>
              <a:rPr lang="en-US" sz="1050">
                <a:solidFill>
                  <a:srgbClr val="64748B"/>
                </a:solidFill>
              </a:rPr>
              <a:t>S-curves, yield shapes
</a:t>
            </a:r>
            <a:r>
              <a:rPr lang="en-US" sz="1050" b="1">
                <a:solidFill>
                  <a:srgbClr val="E63946"/>
                </a:solidFill>
              </a:rPr>
              <a:t>Degree 5+: </a:t>
            </a:r>
            <a:r>
              <a:rPr lang="en-US" sz="1050">
                <a:solidFill>
                  <a:srgbClr val="E63946"/>
                </a:solidFill>
              </a:rPr>
              <a:t>Likely overfitting!</a:t>
            </a:r>
            <a:endParaRPr lang="en-US" sz="1050"/>
          </a:p>
        </p:txBody>
      </p:sp>
      <p:sp>
        <p:nvSpPr>
          <p:cNvPr id="13" name="Shape 10"/>
          <p:cNvSpPr/>
          <p:nvPr/>
        </p:nvSpPr>
        <p:spPr>
          <a:xfrm>
            <a:off x="182880" y="3858768"/>
            <a:ext cx="8778240" cy="1005840"/>
          </a:xfrm>
          <a:prstGeom prst="rect">
            <a:avLst/>
          </a:prstGeom>
          <a:solidFill>
            <a:srgbClr val="FEF2F2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0040" y="3904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15" name="Text 12"/>
          <p:cNvSpPr/>
          <p:nvPr/>
        </p:nvSpPr>
        <p:spPr>
          <a:xfrm>
            <a:off x="320040" y="4053447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Polynomial regression is still LINEAR in parameters (it uses X, X², X³ as separate features). The danger is overfitting — high degree polynomials wiggle through training data but blow up on new data. Always use cross-validation to pick degree. For derivatives vol surfaces, prefer cubic splines.</a:t>
            </a:r>
            <a:endParaRPr lang="en-US"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F96A67-B660-198E-D591-EEB5429AD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381888"/>
            <a:ext cx="8127437" cy="457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133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FFFFFF"/>
                </a:solidFill>
              </a:rPr>
              <a:t>Overfitting: </a:t>
            </a:r>
            <a:r>
              <a:rPr lang="en-US" sz="2000">
                <a:solidFill>
                  <a:schemeClr val="bg1"/>
                </a:solidFill>
              </a:rPr>
              <a:t>memorizing training data instead of learning pattern</a:t>
            </a:r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32" y="877824"/>
            <a:ext cx="6501089" cy="29626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36208" y="138988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2" name="Text 9"/>
          <p:cNvSpPr/>
          <p:nvPr/>
        </p:nvSpPr>
        <p:spPr>
          <a:xfrm>
            <a:off x="6236208" y="162763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4" name="Text 11"/>
          <p:cNvSpPr/>
          <p:nvPr/>
        </p:nvSpPr>
        <p:spPr>
          <a:xfrm>
            <a:off x="5943600" y="1984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!</a:t>
            </a:r>
            <a:endParaRPr lang="en-US" sz="1100"/>
          </a:p>
        </p:txBody>
      </p:sp>
      <p:sp>
        <p:nvSpPr>
          <p:cNvPr id="15" name="Text 12"/>
          <p:cNvSpPr/>
          <p:nvPr/>
        </p:nvSpPr>
        <p:spPr>
          <a:xfrm>
            <a:off x="6236208" y="198424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6" name="Text 13"/>
          <p:cNvSpPr/>
          <p:nvPr/>
        </p:nvSpPr>
        <p:spPr>
          <a:xfrm>
            <a:off x="6236208" y="222199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8" name="Text 15"/>
          <p:cNvSpPr/>
          <p:nvPr/>
        </p:nvSpPr>
        <p:spPr>
          <a:xfrm>
            <a:off x="5943600" y="2578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19" name="Text 16"/>
          <p:cNvSpPr/>
          <p:nvPr/>
        </p:nvSpPr>
        <p:spPr>
          <a:xfrm>
            <a:off x="6236208" y="257860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0" name="Text 17"/>
          <p:cNvSpPr/>
          <p:nvPr/>
        </p:nvSpPr>
        <p:spPr>
          <a:xfrm>
            <a:off x="6236208" y="281635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2" name="Text 19"/>
          <p:cNvSpPr/>
          <p:nvPr/>
        </p:nvSpPr>
        <p:spPr>
          <a:xfrm>
            <a:off x="5943600" y="3172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23" name="Text 20"/>
          <p:cNvSpPr/>
          <p:nvPr/>
        </p:nvSpPr>
        <p:spPr>
          <a:xfrm>
            <a:off x="6236208" y="317296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4" name="Text 21"/>
          <p:cNvSpPr/>
          <p:nvPr/>
        </p:nvSpPr>
        <p:spPr>
          <a:xfrm>
            <a:off x="6236208" y="341071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5" name="Shape 22"/>
          <p:cNvSpPr/>
          <p:nvPr/>
        </p:nvSpPr>
        <p:spPr>
          <a:xfrm>
            <a:off x="182880" y="3913632"/>
            <a:ext cx="8778240" cy="960120"/>
          </a:xfrm>
          <a:prstGeom prst="rect">
            <a:avLst/>
          </a:prstGeom>
          <a:solidFill>
            <a:srgbClr val="FEF2F2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20040" y="395935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63946"/>
                </a:solidFill>
              </a:rPr>
              <a:t>The Validation Framework</a:t>
            </a:r>
            <a:endParaRPr lang="en-US" sz="1150"/>
          </a:p>
        </p:txBody>
      </p:sp>
      <p:sp>
        <p:nvSpPr>
          <p:cNvPr id="27" name="Text 24"/>
          <p:cNvSpPr/>
          <p:nvPr/>
        </p:nvSpPr>
        <p:spPr>
          <a:xfrm>
            <a:off x="320040" y="423367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Train (60%): </a:t>
            </a:r>
            <a:r>
              <a:rPr lang="en-US" sz="1050">
                <a:solidFill>
                  <a:srgbClr val="64748B"/>
                </a:solidFill>
              </a:rPr>
              <a:t>Fit model  →  </a:t>
            </a:r>
            <a:r>
              <a:rPr lang="en-US" sz="1050" b="1">
                <a:solidFill>
                  <a:srgbClr val="0D1B2A"/>
                </a:solidFill>
              </a:rPr>
              <a:t>Validate (20%): </a:t>
            </a:r>
            <a:r>
              <a:rPr lang="en-US" sz="1050">
                <a:solidFill>
                  <a:srgbClr val="64748B"/>
                </a:solidFill>
              </a:rPr>
              <a:t>Tune hyperparameters (λ for Ridge/Lasso, degree for Poly)  →  </a:t>
            </a:r>
            <a:r>
              <a:rPr lang="en-US" sz="1050" b="1">
                <a:solidFill>
                  <a:srgbClr val="0D1B2A"/>
                </a:solidFill>
              </a:rPr>
              <a:t>Test (20%)</a:t>
            </a:r>
            <a:r>
              <a:rPr lang="en-US" sz="1050">
                <a:solidFill>
                  <a:srgbClr val="64748B"/>
                </a:solidFill>
              </a:rPr>
              <a:t>. Final performance. If bad here, throw the model away. Never retune after seeing test performance.</a:t>
            </a:r>
            <a:endParaRPr lang="en-US"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Logistic Regression — Predicting Direction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685800"/>
            <a:ext cx="90201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/>
              <a:t> </a:t>
            </a:r>
            <a:r>
              <a:rPr lang="en-US" sz="900"/>
              <a:t>Unlike linear regression, which predicts continuous values it predicts the probability that an input belongs to a specific class.</a:t>
            </a:r>
            <a:r>
              <a:rPr lang="en-US" sz="900" b="1">
                <a:solidFill>
                  <a:srgbClr val="0D1B2A"/>
                </a:solidFill>
              </a:rPr>
              <a:t> </a:t>
            </a:r>
            <a:r>
              <a:rPr lang="en-US" sz="800" b="1">
                <a:solidFill>
                  <a:srgbClr val="0D1B2A"/>
                </a:solidFill>
              </a:rPr>
              <a:t>For probability of UP vs DOWN, LONG vs SHORT, or EVENT vs NO EVENT.</a:t>
            </a:r>
            <a:endParaRPr lang="en-US" sz="8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05840"/>
            <a:ext cx="54864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005840"/>
            <a:ext cx="3154680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</a:rPr>
              <a:t>Key Concepts</a:t>
            </a:r>
            <a:endParaRPr lang="en-US" sz="1300"/>
          </a:p>
        </p:txBody>
      </p:sp>
      <p:sp>
        <p:nvSpPr>
          <p:cNvPr id="9" name="Shape 6"/>
          <p:cNvSpPr/>
          <p:nvPr/>
        </p:nvSpPr>
        <p:spPr>
          <a:xfrm>
            <a:off x="5943600" y="1417320"/>
            <a:ext cx="36576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80760" y="14173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Sigmoid Output</a:t>
            </a:r>
            <a:endParaRPr lang="en-US" sz="1050"/>
          </a:p>
        </p:txBody>
      </p:sp>
      <p:sp>
        <p:nvSpPr>
          <p:cNvPr id="11" name="Text 8"/>
          <p:cNvSpPr/>
          <p:nvPr/>
        </p:nvSpPr>
        <p:spPr>
          <a:xfrm>
            <a:off x="6080760" y="16184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P(Y=1) = 1/(1+e^−z). Always between 0 and 1. Interpret as probability.</a:t>
            </a:r>
            <a:endParaRPr lang="en-US" sz="950"/>
          </a:p>
        </p:txBody>
      </p:sp>
      <p:sp>
        <p:nvSpPr>
          <p:cNvPr id="12" name="Shape 9"/>
          <p:cNvSpPr/>
          <p:nvPr/>
        </p:nvSpPr>
        <p:spPr>
          <a:xfrm>
            <a:off x="5943600" y="1984248"/>
            <a:ext cx="36576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80760" y="19842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Log-Odds (Logit)</a:t>
            </a:r>
            <a:endParaRPr lang="en-US" sz="1050"/>
          </a:p>
        </p:txBody>
      </p:sp>
      <p:sp>
        <p:nvSpPr>
          <p:cNvPr id="14" name="Text 11"/>
          <p:cNvSpPr/>
          <p:nvPr/>
        </p:nvSpPr>
        <p:spPr>
          <a:xfrm>
            <a:off x="6080760" y="21854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log(p/1−p) = α + β₁X₁ + … Linear in log-odds, non-linear in probability.</a:t>
            </a:r>
            <a:endParaRPr lang="en-US" sz="950"/>
          </a:p>
        </p:txBody>
      </p:sp>
      <p:sp>
        <p:nvSpPr>
          <p:cNvPr id="15" name="Shape 12"/>
          <p:cNvSpPr/>
          <p:nvPr/>
        </p:nvSpPr>
        <p:spPr>
          <a:xfrm>
            <a:off x="5943600" y="2551176"/>
            <a:ext cx="36576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80760" y="255117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Coefficient Interpretation</a:t>
            </a:r>
            <a:endParaRPr lang="en-US" sz="1050"/>
          </a:p>
        </p:txBody>
      </p:sp>
      <p:sp>
        <p:nvSpPr>
          <p:cNvPr id="17" name="Text 14"/>
          <p:cNvSpPr/>
          <p:nvPr/>
        </p:nvSpPr>
        <p:spPr>
          <a:xfrm>
            <a:off x="6080760" y="27523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e^β = odds ratio. β=0.5 → factor multiplies odds of UP by e^0.5=1.65x.</a:t>
            </a:r>
            <a:endParaRPr lang="en-US" sz="950"/>
          </a:p>
        </p:txBody>
      </p:sp>
      <p:sp>
        <p:nvSpPr>
          <p:cNvPr id="18" name="Shape 15"/>
          <p:cNvSpPr/>
          <p:nvPr/>
        </p:nvSpPr>
        <p:spPr>
          <a:xfrm>
            <a:off x="5943600" y="3118104"/>
            <a:ext cx="36576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80760" y="31181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Threshold</a:t>
            </a:r>
            <a:endParaRPr lang="en-US" sz="1050"/>
          </a:p>
        </p:txBody>
      </p:sp>
      <p:sp>
        <p:nvSpPr>
          <p:cNvPr id="20" name="Text 17"/>
          <p:cNvSpPr/>
          <p:nvPr/>
        </p:nvSpPr>
        <p:spPr>
          <a:xfrm>
            <a:off x="6080760" y="33192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Default p&gt;0.5 → Long. Adjust threshold based on cost of false signals.</a:t>
            </a:r>
            <a:endParaRPr lang="en-US" sz="950"/>
          </a:p>
        </p:txBody>
      </p:sp>
      <p:sp>
        <p:nvSpPr>
          <p:cNvPr id="21" name="Shape 18"/>
          <p:cNvSpPr/>
          <p:nvPr/>
        </p:nvSpPr>
        <p:spPr>
          <a:xfrm>
            <a:off x="182880" y="3840480"/>
            <a:ext cx="8778240" cy="1005840"/>
          </a:xfrm>
          <a:prstGeom prst="rect">
            <a:avLst/>
          </a:prstGeom>
          <a:solidFill>
            <a:srgbClr val="EFF6FF"/>
          </a:solidFill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20040" y="3886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6CA8"/>
                </a:solidFill>
              </a:rPr>
              <a:t>Trading Applications of Logistic Regression</a:t>
            </a:r>
            <a:endParaRPr lang="en-US" sz="1150"/>
          </a:p>
        </p:txBody>
      </p:sp>
      <p:sp>
        <p:nvSpPr>
          <p:cNvPr id="23" name="Text 20"/>
          <p:cNvSpPr/>
          <p:nvPr/>
        </p:nvSpPr>
        <p:spPr>
          <a:xfrm>
            <a:off x="320040" y="4160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rgbClr val="0D1B2A"/>
                </a:solidFill>
              </a:rPr>
              <a:t>Direction signal: </a:t>
            </a:r>
            <a:r>
              <a:rPr lang="en-US" sz="1050">
                <a:solidFill>
                  <a:srgbClr val="64748B"/>
                </a:solidFill>
              </a:rPr>
              <a:t>P(next-day return &gt; 0 | carry, momentum, basis signals) </a:t>
            </a:r>
          </a:p>
          <a:p>
            <a:r>
              <a:rPr lang="en-US" sz="1050">
                <a:solidFill>
                  <a:srgbClr val="64748B"/>
                </a:solidFill>
              </a:rPr>
              <a:t>•  </a:t>
            </a:r>
            <a:r>
              <a:rPr lang="en-US" sz="1050" b="1">
                <a:solidFill>
                  <a:srgbClr val="0D1B2A"/>
                </a:solidFill>
              </a:rPr>
              <a:t>Regime: </a:t>
            </a:r>
            <a:r>
              <a:rPr lang="en-US" sz="1050">
                <a:solidFill>
                  <a:srgbClr val="64748B"/>
                </a:solidFill>
              </a:rPr>
              <a:t>P(contango vs backwardation regime) to switch carry strategy on/off.</a:t>
            </a:r>
            <a:endParaRPr lang="en-US" sz="10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Ridge Regression (L2 Regularization)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Minimize: Σ(y − ŷ)² + λΣβᵢ²   |   Shrinks all coefficients toward zero, but never to exactly zero</a:t>
            </a:r>
            <a:endParaRPr lang="en-US" sz="105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05840"/>
            <a:ext cx="8778240" cy="2423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3520440"/>
            <a:ext cx="20574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C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82880" y="3520440"/>
            <a:ext cx="205740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36393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</a:rPr>
              <a:t>What it solves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274320" y="393192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Multicollinearity. When factors are correlated, OLS Betas are huge and unstable. Ridge shrinks them all proportionally, stabilizing estimates.</a:t>
            </a:r>
            <a:endParaRPr lang="en-US" sz="950"/>
          </a:p>
        </p:txBody>
      </p:sp>
      <p:sp>
        <p:nvSpPr>
          <p:cNvPr id="11" name="Shape 8"/>
          <p:cNvSpPr/>
          <p:nvPr/>
        </p:nvSpPr>
        <p:spPr>
          <a:xfrm>
            <a:off x="2395728" y="3520440"/>
            <a:ext cx="20574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0A5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395728" y="3520440"/>
            <a:ext cx="20574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487168" y="36393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</a:rPr>
              <a:t>The λ (lambda)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2487168" y="393192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λ=0 is pure OLS. As λ→∞, all Betas→0. Cross-validate to find optimal λ on out-of-sample data.</a:t>
            </a:r>
            <a:endParaRPr lang="en-US" sz="950"/>
          </a:p>
        </p:txBody>
      </p:sp>
      <p:sp>
        <p:nvSpPr>
          <p:cNvPr id="15" name="Shape 12"/>
          <p:cNvSpPr/>
          <p:nvPr/>
        </p:nvSpPr>
        <p:spPr>
          <a:xfrm>
            <a:off x="4608576" y="3520440"/>
            <a:ext cx="20574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C65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08576" y="3520440"/>
            <a:ext cx="2057400" cy="7315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00016" y="36393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</a:rPr>
              <a:t>In Practice</a:t>
            </a:r>
            <a:endParaRPr lang="en-US" sz="1100"/>
          </a:p>
        </p:txBody>
      </p:sp>
      <p:sp>
        <p:nvSpPr>
          <p:cNvPr id="18" name="Text 15"/>
          <p:cNvSpPr/>
          <p:nvPr/>
        </p:nvSpPr>
        <p:spPr>
          <a:xfrm>
            <a:off x="4700016" y="393192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Use when you have many factors (macro indicators, technical signals) that overlap. All variables stay in the model. Good when you believe all features contribute.</a:t>
            </a:r>
            <a:endParaRPr lang="en-US" sz="950"/>
          </a:p>
        </p:txBody>
      </p:sp>
      <p:sp>
        <p:nvSpPr>
          <p:cNvPr id="19" name="Shape 16"/>
          <p:cNvSpPr/>
          <p:nvPr/>
        </p:nvSpPr>
        <p:spPr>
          <a:xfrm>
            <a:off x="6821424" y="3520440"/>
            <a:ext cx="20574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821424" y="3520440"/>
            <a:ext cx="20574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912864" y="36393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</a:rPr>
              <a:t>Limitation</a:t>
            </a:r>
            <a:endParaRPr lang="en-US" sz="1100"/>
          </a:p>
        </p:txBody>
      </p:sp>
      <p:sp>
        <p:nvSpPr>
          <p:cNvPr id="22" name="Text 19"/>
          <p:cNvSpPr/>
          <p:nvPr/>
        </p:nvSpPr>
        <p:spPr>
          <a:xfrm>
            <a:off x="6912864" y="393192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Ridge never zeroes out a coefficient — no automatic variable selection. If you want sparsity, use Lasso. No interpretable feature elimination.</a:t>
            </a:r>
            <a:endParaRPr lang="en-US" sz="9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Lasso Regression (L1 Regularization)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Minimize: Σ(y − ŷ)² + λΣ|βᵢ|   |   Forces some coefficients to exactly zero — automatic variable selection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4343400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</a:rPr>
              <a:t>Why Lasso is Special for Trading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36576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</a:rPr>
              <a:t>Sparse Signals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Out of 50 macro variables, maybe 5 actually predict futures returns. Lasso finds them and zeroes the rest out — Ridge cannot do this.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320040" y="2148840"/>
            <a:ext cx="36576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</a:rPr>
              <a:t>Factor Selection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Run Lasso on your signal universe (momentum, carry, value, basis, skew...). Surviving factors with non-zero Beta are your active predictors.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36576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</a:rPr>
              <a:t>Interpretability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You end up with a lean model: e.g. β_carry=0.31, β_momentum=0.19, everything else=0. Easy to explain to PM or risk committee.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320040" y="3611880"/>
            <a:ext cx="36576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</a:rPr>
              <a:t>Regime-Robust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Fewer parameters = less overfitting. Lasso models tend to generalize better across market regimes than kitchen-sink OLS.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4251960" cy="1645920"/>
          </a:xfrm>
          <a:prstGeom prst="rect">
            <a:avLst/>
          </a:prstGeom>
          <a:solidFill>
            <a:srgbClr val="FFFBEB"/>
          </a:solidFill>
          <a:ln w="15240">
            <a:solidFill>
              <a:srgbClr val="E8F0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Ridge vs Lasso Decision Guide</a:t>
            </a:r>
            <a:endParaRPr lang="en-US" sz="120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4023360" cy="1219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D1B2A"/>
                          </a:solidFill>
                        </a:rPr>
                        <a:t>Ridge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D1B2A"/>
                          </a:solidFill>
                        </a:rPr>
                        <a:t>Lasso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D1B2A"/>
                          </a:solidFill>
                        </a:rPr>
                        <a:t>Variable selection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D1B2A"/>
                          </a:solidFill>
                        </a:rPr>
                        <a:t>❌ No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D1B2A"/>
                          </a:solidFill>
                        </a:rPr>
                        <a:t>✅ Yes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D1B2A"/>
                          </a:solidFill>
                        </a:rPr>
                        <a:t>Correlated factors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D1B2A"/>
                          </a:solidFill>
                        </a:rPr>
                        <a:t>✅ Better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D1B2A"/>
                          </a:solidFill>
                        </a:rPr>
                        <a:t>❌ Picks one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D1B2A"/>
                          </a:solidFill>
                        </a:rPr>
                        <a:t>Sparse true model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D1B2A"/>
                          </a:solidFill>
                        </a:rPr>
                        <a:t>❌ Worse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D1B2A"/>
                          </a:solidFill>
                        </a:rPr>
                        <a:t>✅ Better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D1B2A"/>
                          </a:solidFill>
                        </a:rPr>
                        <a:t>Interpretability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D1B2A"/>
                          </a:solidFill>
                        </a:rPr>
                        <a:t>Moderate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D1B2A"/>
                          </a:solidFill>
                        </a:rPr>
                        <a:t>✅ High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709160" y="2743200"/>
            <a:ext cx="4251960" cy="1737360"/>
          </a:xfrm>
          <a:prstGeom prst="rect">
            <a:avLst/>
          </a:prstGeom>
          <a:solidFill>
            <a:srgbClr val="F0FDF4"/>
          </a:solidFill>
          <a:ln w="15240">
            <a:solidFill>
              <a:srgbClr val="2DC65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46320" y="2788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DC653"/>
                </a:solidFill>
              </a:rPr>
              <a:t>Elastic Net — Best of Both</a:t>
            </a:r>
            <a:endParaRPr lang="en-US" sz="1200"/>
          </a:p>
        </p:txBody>
      </p:sp>
      <p:sp>
        <p:nvSpPr>
          <p:cNvPr id="25" name="Text 22"/>
          <p:cNvSpPr/>
          <p:nvPr/>
        </p:nvSpPr>
        <p:spPr>
          <a:xfrm>
            <a:off x="4846320" y="3090672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Penalty = λ₁Σ|βᵢ| + λ₂Σβᵢ²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Combines L1 and L2. Handles correlated groups of features better than Lasso alone (Lasso arbitrarily picks one from a correlated group). The go-to for large macro factor models.</a:t>
            </a:r>
            <a:endParaRPr lang="en-US" sz="1050"/>
          </a:p>
        </p:txBody>
      </p:sp>
      <p:sp>
        <p:nvSpPr>
          <p:cNvPr id="26" name="Shape 23"/>
          <p:cNvSpPr/>
          <p:nvPr/>
        </p:nvSpPr>
        <p:spPr>
          <a:xfrm>
            <a:off x="182880" y="4572000"/>
            <a:ext cx="8778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20040" y="4572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</a:rPr>
              <a:t> Use Lasso when you believe only a few factors matter. Ridge when most factors contribute but are correlated. Elastic Net when both might be true.</a:t>
            </a:r>
            <a:endParaRPr lang="en-US" sz="10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Which Regression Model to Use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124511"/>
              </p:ext>
            </p:extLst>
          </p:nvPr>
        </p:nvGraphicFramePr>
        <p:xfrm>
          <a:off x="182880" y="938882"/>
          <a:ext cx="8778240" cy="343814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0000"/>
                          </a:solidFill>
                        </a:rPr>
                        <a:t>Situation / Use Case</a:t>
                      </a: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FF0000"/>
                          </a:solidFill>
                        </a:rPr>
                        <a:t>Recommended Model</a:t>
                      </a: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FF0000"/>
                          </a:solidFill>
                        </a:rPr>
                        <a:t>Why?</a:t>
                      </a: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1 factor, stable relationship (Brent vs WTI)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Simple Linear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Clean, interpretable, easy to monitor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Multiple macro factors, all likely relevant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Multiple OLS + Ridge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Ridge handles correlated macro vars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Large signal universe (50+ features)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Lasso or Elastic Net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Auto-selects relevant signals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Non-linear relationship (vol smile, carry curve)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Polynomial or Spline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Captures curvature in data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Predict direction (Long/Short signal)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Logistic Regression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Output is probability [0,1]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Many correlated factors, sparse true model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Elastic Net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Combines L1 sparsity + L2 stability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Price-based regression (non-stationary)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Cointegration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D1B2A"/>
                          </a:solidFill>
                        </a:rPr>
                        <a:t>Avoid spurious regression — CRITICAL</a:t>
                      </a:r>
                      <a:endParaRPr lang="en-US" sz="1050"/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Analysis for Futures Traders</dc:title>
  <dc:subject>PptxGenJS Presentation</dc:subject>
  <dc:creator>PptxGenJS</dc:creator>
  <cp:revision>1</cp:revision>
  <dcterms:created xsi:type="dcterms:W3CDTF">2026-05-19T10:51:45Z</dcterms:created>
  <dcterms:modified xsi:type="dcterms:W3CDTF">2026-06-04T01:51:43Z</dcterms:modified>
</cp:coreProperties>
</file>