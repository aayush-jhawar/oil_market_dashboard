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954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framework converts a specific geopolitical headline into a probabilistic distribution for Brent calendar spreads. The methodology combines historical event studies, scenario analysis, and Monte Carlo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Calendar spreads are the primary lens through which energy traders assess geopolitical supply risk. They decouple the duration and severity of disruption from the absolute price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Strait of Hormuz is the single most important chokepoint for global energy markets. There is no real alternative routing for most Gulf producers.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 events are used to set the anchor points for each scenario's spread delta. Abqaiq 2019 is the most directly comparable event to the current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scenario probabilities are calibrated against: (1) historical base rates for each escalation level, (2) current military posture, (3) Iranian strategic doctrine. S2 is modal because Iran's measured response strategy is well-documented.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ratio between M1-M2 and M1-M6 is informative. In a genuine Hormuz disruption, M1-M6 should move 3-4x more than M1-M2 due to the market pricing in extended disruption.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distributions are generated by mixture-of-Gaussians Monte Carlo. Each scenario's contribution is weighted by probability. The multi-modal shape visible in M1-M6 reflects the bimodal world of 'closure' vs 'no closure'.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headline numbers. EV for M1-M6 is +$2.66 with a wide 90% CI of [$0.23, $8.50], reflecting genuine uncertainty. The wide band is not a weakness — it is the correct quantification of this event's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forward curve shape is the visual fingerprint of market fear. A steep backwardation in M1-M6 tells you the market believes the disruption is real and near-term. The back of the curve stays anchored because OPEC+ and SPR can eventually fill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message: in an Israel-Iran escalation with Hormuz threat, the expected move in Brent M1-M6 is around +$2.66/bbl with a 90% CI of $0.23 to $8.50. This is asymmetric to the upside, justifying long M1-M6 positions with defined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CALENDAR SPREAD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1719072"/>
            <a:ext cx="274320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1A0A0A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"Israel launches strikes on Iranian energy infrastructure.</a:t>
            </a:r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threatens closure of the Strait of Hormuz."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probability distributions for M1–M2 | M2–M4 | M1–M6  over a 1-week horizon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Spreads Analysed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3566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4133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Scenarios Modelled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566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653"/>
                </a:solidFill>
              </a:rPr>
              <a:t>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4133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Historical Events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3566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DE5"/>
                </a:solidFill>
              </a:rPr>
              <a:t>100K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4133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Monte Carlo Paths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CALENDAR SPREADS?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pricing encodes market beliefs about future supply tightness more precisely than flat price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719072"/>
          </a:xfrm>
          <a:prstGeom prst="roundRect">
            <a:avLst>
              <a:gd name="adj" fmla="val 4255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Backwardation = Supply Fear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M1 &gt; M2 &gt; M6, the curve is in backwardation. This signals the market believes near-term supply is scarcer than future supply. Geopolitical shocks almost always push spreads into backwardation.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719072"/>
          </a:xfrm>
          <a:prstGeom prst="roundRect">
            <a:avLst>
              <a:gd name="adj" fmla="val 4255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Noise, More Signal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27048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Brent price is driven by macro, demand, FX, and positioning. Calendar spreads isolate the physical supply/demand balance in specific delivery windows — cleaner signal for supply shocks.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719072"/>
          </a:xfrm>
          <a:prstGeom prst="roundRect">
            <a:avLst>
              <a:gd name="adj" fmla="val 4255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81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Tenor = Duration of Disruption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M1–M2 captures immediate 30-day disruption. M2–M4 reflects medium-term expectations. M1–M6 encodes total forward-looking supply fear. Together they map the 'disruption decay curve'.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114800" cy="1719072"/>
          </a:xfrm>
          <a:prstGeom prst="roundRect">
            <a:avLst>
              <a:gd name="adj" fmla="val 4255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3081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&amp; Liquid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447288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calendar spreads (ICE) trade tightly with 1–2 cent bid/ask. They are standard instruments for refiners hedging crack margins and producers managing revenue risk.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STRAIT OF HORMUZ — WHY MARKETS FEAR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critical oil chokepoint — 20–21 mb/d flows through a 33km wide navigable channel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</a:rPr>
              <a:t>~21%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5910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of global oil supply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~20–21 mb/d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0058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41448" y="10515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17%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41448" y="15910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of global LNG trade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41448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Qatar + UAE exports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62856" y="10058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62856" y="10515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33 km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62856" y="15910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navigable width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2856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2-lane shipping lanes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84264" y="10058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84264" y="10515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DE5"/>
                </a:solidFill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84264" y="15910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viable bypass routes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84264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for most Arab Gulf producers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487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HORMUZ CLOSURE TRANSLATES TO SPREAD MECHANICS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28529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physical shortage: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1455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refiners face spot supply gaps within days. They bid up near-term barrels aggressively — M1 spikes.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529584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351129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curve inverts: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38039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&gt; M2 &gt; M3 as market prices in recovery/SPR release over months. The longer the perceived disruption, the more the curve flattens back further out.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41696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M1–M6 captures total risk premium: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4462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steepness of M1–M6 encodes how long markets think the disruption will last and how quickly alternatives can be mobilised.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EVENT STUDIES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our priors using documented market reactions to prior supply-shock events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KEY CALIBRATION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4572000"/>
            <a:ext cx="73152" cy="10972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" y="454456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Direct MENA infrastructure attacks (Abqaiq 2019) → M1–M6 moves +$2.1. Our S2/S3 scenarios are calibrated to this.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4754880"/>
            <a:ext cx="73152" cy="10972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" y="47274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Indirect threats (Houthi shipping, Iran nuclear) → M1–M6 typically +$0.3–$0.7. Baseline for S1 scenario.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4937760"/>
            <a:ext cx="73152" cy="10972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" y="490282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Full-scale conflicts (Russia-Ukraine 2022) → up to +$3.5 M1–M6. S4 (full closure) references this extreme.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PROBABILITY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mutually exclusive, collectively exhaustive scenarios spanning the credible outcome space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" cy="320040"/>
          </a:xfrm>
          <a:prstGeom prst="roundRect">
            <a:avLst>
              <a:gd name="adj" fmla="val 22857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078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S1: Rhetorical Escalation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3350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Limited physical damage. Iran issues threats but does not disrupt shipping. OPEC+ reassures markets.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M1–M2: +$0.25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84848" y="10972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M2–M4: +$0.15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10972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</a:rPr>
              <a:t>M1–M6: +$0.60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IDF strikes limited to IRGC assets, not oil terminals. US 5th Fleet signals deterrence.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97510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066544"/>
            <a:ext cx="566928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06654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Moderate Escalation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3042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Some tanker harassment, Iranian mines laid near Hormuz approaches. 5–10% flow disruption.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20665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M1–M2: +$0.65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84848" y="20665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M2–M4: +$0.40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73568" y="20665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M1–M6: +$1.80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340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Iran retaliates asymmetrically. Insurance rates spike. Some rerouting begins.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35808"/>
            <a:ext cx="566928" cy="320040"/>
          </a:xfrm>
          <a:prstGeom prst="roundRect">
            <a:avLst>
              <a:gd name="adj" fmla="val 2285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0358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Severe Disruption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8992" y="327355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Iran blocks 20–30% of Hormuz flow. Saudi &amp; UAE exports disrupted. IEA SPR release triggered.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30358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M1–M2: +$1.50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4848" y="30358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M2–M4: +$0.90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73568" y="30358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</a:rPr>
              <a:t>M1–M6: +$4.00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Conflict escalates. Kharg Island attacked. US intervenes diplomatically.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4005072"/>
            <a:ext cx="566928" cy="320040"/>
          </a:xfrm>
          <a:prstGeom prst="roundRect">
            <a:avLst>
              <a:gd name="adj" fmla="val 22857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0050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" y="39867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S4: Full Closure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78992" y="424281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Full military blockade of Hormuz. 20–21 mb/d offline. Demand destruction begins immediately.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0" y="40050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M1–M2: +$3.50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84848" y="40050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M2–M4: +$2.00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73568" y="4005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M1–M6: +$8.50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Rare tail event. Historical precedent: none (Iran-Iraq tanker war approached this).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0" y="804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M1–M2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84848" y="804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M2–M4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73568" y="80467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M1–M6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DELTAS ACROSS SCENARIOS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M1–M2 always moves less than M1–M6, the curve pricing in disruption duration, not just magnitude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315968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4370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M1–M2: Immediacy premium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9768" y="46268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CCDD"/>
                </a:solidFill>
              </a:rPr>
              <a:t>Captures spot supply panic. Highest in S4 but reverts fastest once alternative flows emerge.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72968" y="4315968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82696" y="4370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M2–M4: Persistence signal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82696" y="46268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CCDD"/>
                </a:solidFill>
              </a:rPr>
              <a:t>Moderate but sustained. Pricing in 60–120 day supply gap. SPR &amp; OPEC+ capacity constrains upside.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25896" y="4315968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35624" y="4370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</a:rPr>
              <a:t>M1–M6: Total disruption risk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35624" y="46268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CCDD"/>
                </a:solidFill>
              </a:rPr>
              <a:t>Most informative tenor. Anchors the entire curve inversion. 8:1 ratio vs M1–M2 in extreme scenario.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(100,000 paths): Each scenario contributes proportional to its probability weight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40690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40416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Each scenario contributes N = prob × 100,000 draws from Normal(μ_scenario, σ_scenario) distribution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4315968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42885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Volatility σ is scaled by scenario severity: baseline 12¢/bbl (M1–M2) × 1.5× to 4× multiplier per scenario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4562856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45354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Resulting mixed Gaussian distribution captures the fat left-tails and right-skew characteristic of geopolitical shocks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4809744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4782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The bimodal shape in M1–M6 reflects the discrete jump between 'no closure' and 'partial/full closure' worlds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SUMMARY — KEY OUTPUTS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values, confidence intervals, and actionable trading conclusions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143000" cy="347472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SPREAD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960120"/>
            <a:ext cx="1234440" cy="347472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EV ($/bbl)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960120"/>
            <a:ext cx="1828800" cy="347472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50% CI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1554480" cy="347472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90% CI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960120"/>
            <a:ext cx="2331720" cy="347472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9875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37160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4813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M1–M2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148132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+$1.03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14813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[+$0.33, +$1.40]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481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[+$0.05, +$3.50]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1481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Immediate spot backwardation. Strong signal if &gt;$0.5.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12140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A2D4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23113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M2–M4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23113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+$0.61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22311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[+$0.20, +$0.84]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2311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[+$0.02, +$2.00]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2311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Medium tenor. Persistence of 60 to 120 day supply gap.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871216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298094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M1–M6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298094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+$2.66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926080" y="29809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[+$0.86, +$3.78]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9809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[+$0.23, +$8.50]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298094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Primary risk barometer. Widest range = highest optionality.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675888"/>
            <a:ext cx="850392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767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SCENARIO WEIGHTING SUMMARY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041648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407822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C653"/>
                </a:solidFill>
              </a:rPr>
              <a:t>30%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0040" y="4443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</a:rPr>
              <a:t>S1: Rhetorical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68880" y="4041648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68880" y="407822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35%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68880" y="4443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</a:rPr>
              <a:t>S2: Moderate Escalation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4041648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407822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</a:rPr>
              <a:t>25%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617720" y="4443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</a:rPr>
              <a:t>S3: Severe Disruption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4041648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66560" y="407822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DE5"/>
                </a:solidFill>
              </a:rPr>
              <a:t>10%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766560" y="4443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</a:rPr>
              <a:t>S4: Full Closure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CURVE: BASELINE vs SCENARIO PATHS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scenario reshapes the Brent forward curve from mild contango to extreme backwardation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51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READING THE CURVES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4553712"/>
            <a:ext cx="7315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" y="45171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Steeper inversion (M1 &gt;&gt; M6) = longer/more severe disruption priced in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4736592"/>
            <a:ext cx="7315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" y="47000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S3/S4 curves show non-linear M1 spike — storage premium at prompt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4919472"/>
            <a:ext cx="7315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" y="49011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Back end (M5–M6) stays relatively anchored: market expects eventual resolution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CONTANGO → BACKWARDATION: THE MECHANICS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4553712"/>
            <a:ext cx="73152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36592" y="45171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Contango: M1 &lt; M6. Storage profitable. Normal state of a well-supplied market.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4736592"/>
            <a:ext cx="73152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36592" y="470001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Backwardation: M1 &gt; M6. Immediate supply fear. Refiners bid up spot aggressively.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4919472"/>
            <a:ext cx="73152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36592" y="4901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Degree of inversion scales directly with perceived disruption severity and duration.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TRADING IMPLICATIONS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framework tells a trader about risk, opportunity, and where to watch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24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M1–M2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EV: +$1.03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50% CI: [+$0.33, +$1.40]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90% CI: [+$0.05, +$3.50]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82696" y="1024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</a:rPr>
              <a:t>M2–M4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82696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EV: +$0.61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1591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50% CI: [+$0.20, +$0.84]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82696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90% CI: [+$0.02, +$2.00]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5896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35624" y="1024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M1–M6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35624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EV: +$2.66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1591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50% CI: [+$0.86, +$3.78]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90% CI: [+$0.23, +$8.50]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850392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359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FRAMEWORK CONCLUSIONS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715768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EV strongly bullish for backwardation across all tenors: pure price-taking long spread positions have positive expected value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M1–M6 offers highest convexity: $8.50 upside in tail scenario vs $0.23 downside: right-skewed payoff profile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410712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M2–M4 is the quietest tenor: priced for moderate persistence but insulated from pure immediate panic bids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758184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3504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Conditional on S3/S4 realising, M1–M6 could reach levels not seen since Gulf War I (1990/91)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2359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KEY RISKS TO THE FRAMEWORK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2715768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9744" y="2688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SPR releases from IEA/US at scale could compress M1–M2 even in S3/S4 scenarios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063240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9744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OPEC+ emergency production hike (Saudi spare: ~2 mb/d) limits backwardation duration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410712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9744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Demand destruction in Asia at Brent &gt;$100 dampens spread amplification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3758184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9744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</a:rPr>
              <a:t>Ceasefire or diplomatic resolution is a rapid mean-reversion catalyst, time decay is your enemy in long spread positions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4039</TotalTime>
  <Words>1809</Words>
  <Application>Microsoft Office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Brent Calendar Spread Probability Framework</dc:title>
  <dc:subject>PptxGenJS Presentation</dc:subject>
  <dc:creator>PptxGenJS</dc:creator>
  <cp:lastModifiedBy>Aayush Jhawar</cp:lastModifiedBy>
  <cp:revision>3</cp:revision>
  <dcterms:created xsi:type="dcterms:W3CDTF">2026-06-12T05:09:44Z</dcterms:created>
  <dcterms:modified xsi:type="dcterms:W3CDTF">2026-06-15T00:49:24Z</dcterms:modified>
</cp:coreProperties>
</file>